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8" r:id="rId2"/>
    <p:sldMasterId id="2147483687" r:id="rId3"/>
  </p:sldMasterIdLst>
  <p:notesMasterIdLst>
    <p:notesMasterId r:id="rId24"/>
  </p:notesMasterIdLst>
  <p:sldIdLst>
    <p:sldId id="314" r:id="rId4"/>
    <p:sldId id="312" r:id="rId5"/>
    <p:sldId id="256" r:id="rId6"/>
    <p:sldId id="331" r:id="rId7"/>
    <p:sldId id="332" r:id="rId8"/>
    <p:sldId id="334" r:id="rId9"/>
    <p:sldId id="335" r:id="rId10"/>
    <p:sldId id="336" r:id="rId11"/>
    <p:sldId id="337" r:id="rId12"/>
    <p:sldId id="338" r:id="rId13"/>
    <p:sldId id="339" r:id="rId14"/>
    <p:sldId id="352" r:id="rId15"/>
    <p:sldId id="347" r:id="rId16"/>
    <p:sldId id="324" r:id="rId17"/>
    <p:sldId id="354" r:id="rId18"/>
    <p:sldId id="343" r:id="rId19"/>
    <p:sldId id="348" r:id="rId20"/>
    <p:sldId id="349" r:id="rId21"/>
    <p:sldId id="351" r:id="rId22"/>
    <p:sldId id="311"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951"/>
    <a:srgbClr val="385D8A"/>
    <a:srgbClr val="6EA56C"/>
    <a:srgbClr val="FBA91E"/>
    <a:srgbClr val="F15F47"/>
    <a:srgbClr val="D7E4BD"/>
    <a:srgbClr val="FDEADA"/>
    <a:srgbClr val="C0504D"/>
    <a:srgbClr val="A9C1DF"/>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1" autoAdjust="0"/>
    <p:restoredTop sz="96404" autoAdjust="0"/>
  </p:normalViewPr>
  <p:slideViewPr>
    <p:cSldViewPr snapToGrid="0">
      <p:cViewPr varScale="1">
        <p:scale>
          <a:sx n="111" d="100"/>
          <a:sy n="111" d="100"/>
        </p:scale>
        <p:origin x="510" y="96"/>
      </p:cViewPr>
      <p:guideLst/>
    </p:cSldViewPr>
  </p:slideViewPr>
  <p:notesTextViewPr>
    <p:cViewPr>
      <p:scale>
        <a:sx n="1" d="1"/>
        <a:sy n="1" d="1"/>
      </p:scale>
      <p:origin x="0" y="0"/>
    </p:cViewPr>
  </p:notesTextViewPr>
  <p:sorterViewPr>
    <p:cViewPr varScale="1">
      <p:scale>
        <a:sx n="1" d="1"/>
        <a:sy n="1" d="1"/>
      </p:scale>
      <p:origin x="0" y="0"/>
    </p:cViewPr>
  </p:sorterViewPr>
  <p:notesViewPr>
    <p:cSldViewPr>
      <p:cViewPr>
        <p:scale>
          <a:sx n="66" d="100"/>
          <a:sy n="66" d="100"/>
        </p:scale>
        <p:origin x="0" y="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2025/8/19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from: https://www.freeppt7.com</a:t>
            </a:r>
          </a:p>
          <a:p>
            <a:endParaRPr lang="zh-CN" altLang="en-US" dirty="0"/>
          </a:p>
        </p:txBody>
      </p:sp>
    </p:spTree>
    <p:extLst>
      <p:ext uri="{BB962C8B-B14F-4D97-AF65-F5344CB8AC3E}">
        <p14:creationId xmlns:p14="http://schemas.microsoft.com/office/powerpoint/2010/main" val="2008490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81417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9811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17437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94420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50136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73921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21777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76706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89417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79968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from: https://www.freeppt7.com</a:t>
            </a:r>
          </a:p>
          <a:p>
            <a:endParaRPr lang="zh-CN" altLang="en-US" dirty="0"/>
          </a:p>
        </p:txBody>
      </p:sp>
    </p:spTree>
    <p:extLst>
      <p:ext uri="{BB962C8B-B14F-4D97-AF65-F5344CB8AC3E}">
        <p14:creationId xmlns:p14="http://schemas.microsoft.com/office/powerpoint/2010/main" val="1389461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7271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03056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91036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25129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1046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www.1ppt.com/hangye/"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1912685" y="0"/>
            <a:ext cx="4702526" cy="6858000"/>
          </a:xfrm>
          <a:custGeom>
            <a:avLst/>
            <a:gdLst>
              <a:gd name="connsiteX0" fmla="*/ 0 w 4702526"/>
              <a:gd name="connsiteY0" fmla="*/ 0 h 6858000"/>
              <a:gd name="connsiteX1" fmla="*/ 1845553 w 4702526"/>
              <a:gd name="connsiteY1" fmla="*/ 0 h 6858000"/>
              <a:gd name="connsiteX2" fmla="*/ 2019300 w 4702526"/>
              <a:gd name="connsiteY2" fmla="*/ 0 h 6858000"/>
              <a:gd name="connsiteX3" fmla="*/ 2157723 w 4702526"/>
              <a:gd name="connsiteY3" fmla="*/ 0 h 6858000"/>
              <a:gd name="connsiteX4" fmla="*/ 4077302 w 4702526"/>
              <a:gd name="connsiteY4" fmla="*/ 1919580 h 6858000"/>
              <a:gd name="connsiteX5" fmla="*/ 4077302 w 4702526"/>
              <a:gd name="connsiteY5" fmla="*/ 4938422 h 6858000"/>
              <a:gd name="connsiteX6" fmla="*/ 2157725 w 4702526"/>
              <a:gd name="connsiteY6" fmla="*/ 6858000 h 6858000"/>
              <a:gd name="connsiteX7" fmla="*/ 2019300 w 4702526"/>
              <a:gd name="connsiteY7" fmla="*/ 6858000 h 6858000"/>
              <a:gd name="connsiteX8" fmla="*/ 1845552 w 4702526"/>
              <a:gd name="connsiteY8" fmla="*/ 6858000 h 6858000"/>
              <a:gd name="connsiteX9" fmla="*/ 0 w 4702526"/>
              <a:gd name="connsiteY9" fmla="*/ 6858000 h 6858000"/>
              <a:gd name="connsiteX10" fmla="*/ 0 w 4702526"/>
              <a:gd name="connsiteY10" fmla="*/ 5012449 h 6858000"/>
              <a:gd name="connsiteX11" fmla="*/ 0 w 4702526"/>
              <a:gd name="connsiteY11" fmla="*/ 18455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0" y="0"/>
                </a:moveTo>
                <a:lnTo>
                  <a:pt x="1845553" y="0"/>
                </a:lnTo>
                <a:lnTo>
                  <a:pt x="2019300" y="0"/>
                </a:lnTo>
                <a:lnTo>
                  <a:pt x="2157723" y="0"/>
                </a:lnTo>
                <a:lnTo>
                  <a:pt x="4077302" y="1919580"/>
                </a:lnTo>
                <a:cubicBezTo>
                  <a:pt x="4910934" y="2753212"/>
                  <a:pt x="4910934" y="4104789"/>
                  <a:pt x="4077302" y="4938422"/>
                </a:cubicBezTo>
                <a:lnTo>
                  <a:pt x="2157725" y="6858000"/>
                </a:lnTo>
                <a:lnTo>
                  <a:pt x="2019300" y="6858000"/>
                </a:lnTo>
                <a:lnTo>
                  <a:pt x="1845552" y="6858000"/>
                </a:lnTo>
                <a:lnTo>
                  <a:pt x="0" y="6858000"/>
                </a:lnTo>
                <a:lnTo>
                  <a:pt x="0" y="5012449"/>
                </a:lnTo>
                <a:lnTo>
                  <a:pt x="0" y="1845553"/>
                </a:lnTo>
                <a:close/>
              </a:path>
            </a:pathLst>
          </a:custGeom>
          <a:solidFill>
            <a:schemeClr val="accent6">
              <a:lumMod val="60000"/>
              <a:lumOff val="40000"/>
            </a:schemeClr>
          </a:solidFill>
        </p:spPr>
        <p:txBody>
          <a:bodyPr wrap="square" anchor="ctr">
            <a:noAutofit/>
          </a:bodyPr>
          <a:lstStyle>
            <a:lvl1pPr marL="0" indent="0" algn="ctr">
              <a:buNone/>
              <a:defRPr sz="1600">
                <a:solidFill>
                  <a:schemeClr val="bg2"/>
                </a:solidFill>
              </a:defRPr>
            </a:lvl1pPr>
          </a:lstStyle>
          <a:p>
            <a:endParaRPr lang="en-US"/>
          </a:p>
        </p:txBody>
      </p:sp>
      <p:sp>
        <p:nvSpPr>
          <p:cNvPr id="8" name="Picture Placeholder 7"/>
          <p:cNvSpPr>
            <a:spLocks noGrp="1"/>
          </p:cNvSpPr>
          <p:nvPr>
            <p:ph type="pic" sz="quarter" idx="10"/>
          </p:nvPr>
        </p:nvSpPr>
        <p:spPr>
          <a:xfrm>
            <a:off x="0" y="0"/>
            <a:ext cx="4702526" cy="6858000"/>
          </a:xfrm>
          <a:custGeom>
            <a:avLst/>
            <a:gdLst>
              <a:gd name="connsiteX0" fmla="*/ 0 w 4702526"/>
              <a:gd name="connsiteY0" fmla="*/ 0 h 6858000"/>
              <a:gd name="connsiteX1" fmla="*/ 1845553 w 4702526"/>
              <a:gd name="connsiteY1" fmla="*/ 0 h 6858000"/>
              <a:gd name="connsiteX2" fmla="*/ 2019300 w 4702526"/>
              <a:gd name="connsiteY2" fmla="*/ 0 h 6858000"/>
              <a:gd name="connsiteX3" fmla="*/ 2157723 w 4702526"/>
              <a:gd name="connsiteY3" fmla="*/ 0 h 6858000"/>
              <a:gd name="connsiteX4" fmla="*/ 4077302 w 4702526"/>
              <a:gd name="connsiteY4" fmla="*/ 1919580 h 6858000"/>
              <a:gd name="connsiteX5" fmla="*/ 4077302 w 4702526"/>
              <a:gd name="connsiteY5" fmla="*/ 4938422 h 6858000"/>
              <a:gd name="connsiteX6" fmla="*/ 2157725 w 4702526"/>
              <a:gd name="connsiteY6" fmla="*/ 6858000 h 6858000"/>
              <a:gd name="connsiteX7" fmla="*/ 2019300 w 4702526"/>
              <a:gd name="connsiteY7" fmla="*/ 6858000 h 6858000"/>
              <a:gd name="connsiteX8" fmla="*/ 1845552 w 4702526"/>
              <a:gd name="connsiteY8" fmla="*/ 6858000 h 6858000"/>
              <a:gd name="connsiteX9" fmla="*/ 0 w 4702526"/>
              <a:gd name="connsiteY9" fmla="*/ 6858000 h 6858000"/>
              <a:gd name="connsiteX10" fmla="*/ 0 w 4702526"/>
              <a:gd name="connsiteY10" fmla="*/ 5012449 h 6858000"/>
              <a:gd name="connsiteX11" fmla="*/ 0 w 4702526"/>
              <a:gd name="connsiteY11" fmla="*/ 18455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0" y="0"/>
                </a:moveTo>
                <a:lnTo>
                  <a:pt x="1845553" y="0"/>
                </a:lnTo>
                <a:lnTo>
                  <a:pt x="2019300" y="0"/>
                </a:lnTo>
                <a:lnTo>
                  <a:pt x="2157723" y="0"/>
                </a:lnTo>
                <a:lnTo>
                  <a:pt x="4077302" y="1919580"/>
                </a:lnTo>
                <a:cubicBezTo>
                  <a:pt x="4910934" y="2753212"/>
                  <a:pt x="4910934" y="4104789"/>
                  <a:pt x="4077302" y="4938422"/>
                </a:cubicBezTo>
                <a:lnTo>
                  <a:pt x="2157725" y="6858000"/>
                </a:lnTo>
                <a:lnTo>
                  <a:pt x="2019300" y="6858000"/>
                </a:lnTo>
                <a:lnTo>
                  <a:pt x="1845552" y="6858000"/>
                </a:lnTo>
                <a:lnTo>
                  <a:pt x="0" y="6858000"/>
                </a:lnTo>
                <a:lnTo>
                  <a:pt x="0" y="5012449"/>
                </a:lnTo>
                <a:lnTo>
                  <a:pt x="0" y="1845553"/>
                </a:lnTo>
                <a:close/>
              </a:path>
            </a:pathLst>
          </a:custGeom>
          <a:solidFill>
            <a:schemeClr val="accent6"/>
          </a:solidFill>
          <a:ln>
            <a:noFill/>
          </a:ln>
          <a:effectLst>
            <a:outerShdw blurRad="508000" dist="38100" dir="10800000" algn="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marL="0" indent="0">
              <a:buNone/>
              <a:defRPr lang="en-US" sz="1600">
                <a:solidFill>
                  <a:schemeClr val="lt1"/>
                </a:solidFill>
              </a:defRPr>
            </a:lvl1pPr>
          </a:lstStyle>
          <a:p>
            <a:pPr marL="0" lvl="0" algn="ctr"/>
            <a:endParaRPr 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11" name="Picture Placeholder 10"/>
          <p:cNvSpPr>
            <a:spLocks noGrp="1"/>
          </p:cNvSpPr>
          <p:nvPr>
            <p:ph type="pic" sz="quarter" idx="11"/>
          </p:nvPr>
        </p:nvSpPr>
        <p:spPr>
          <a:xfrm>
            <a:off x="5576789" y="0"/>
            <a:ext cx="4702526" cy="6858000"/>
          </a:xfrm>
          <a:custGeom>
            <a:avLst/>
            <a:gdLst>
              <a:gd name="connsiteX0" fmla="*/ 2544803 w 4702526"/>
              <a:gd name="connsiteY0" fmla="*/ 0 h 6858000"/>
              <a:gd name="connsiteX1" fmla="*/ 2683226 w 4702526"/>
              <a:gd name="connsiteY1" fmla="*/ 0 h 6858000"/>
              <a:gd name="connsiteX2" fmla="*/ 2856973 w 4702526"/>
              <a:gd name="connsiteY2" fmla="*/ 0 h 6858000"/>
              <a:gd name="connsiteX3" fmla="*/ 4702526 w 4702526"/>
              <a:gd name="connsiteY3" fmla="*/ 0 h 6858000"/>
              <a:gd name="connsiteX4" fmla="*/ 4702526 w 4702526"/>
              <a:gd name="connsiteY4" fmla="*/ 1845553 h 6858000"/>
              <a:gd name="connsiteX5" fmla="*/ 4702526 w 4702526"/>
              <a:gd name="connsiteY5" fmla="*/ 5012449 h 6858000"/>
              <a:gd name="connsiteX6" fmla="*/ 4702526 w 4702526"/>
              <a:gd name="connsiteY6" fmla="*/ 6858000 h 6858000"/>
              <a:gd name="connsiteX7" fmla="*/ 2856974 w 4702526"/>
              <a:gd name="connsiteY7" fmla="*/ 6858000 h 6858000"/>
              <a:gd name="connsiteX8" fmla="*/ 2683226 w 4702526"/>
              <a:gd name="connsiteY8" fmla="*/ 6858000 h 6858000"/>
              <a:gd name="connsiteX9" fmla="*/ 2544801 w 4702526"/>
              <a:gd name="connsiteY9" fmla="*/ 6858000 h 6858000"/>
              <a:gd name="connsiteX10" fmla="*/ 625224 w 4702526"/>
              <a:gd name="connsiteY10" fmla="*/ 4938422 h 6858000"/>
              <a:gd name="connsiteX11" fmla="*/ 625224 w 4702526"/>
              <a:gd name="connsiteY11" fmla="*/ 19195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2544803" y="0"/>
                </a:moveTo>
                <a:lnTo>
                  <a:pt x="2683226" y="0"/>
                </a:lnTo>
                <a:lnTo>
                  <a:pt x="2856973" y="0"/>
                </a:lnTo>
                <a:lnTo>
                  <a:pt x="4702526" y="0"/>
                </a:lnTo>
                <a:lnTo>
                  <a:pt x="4702526" y="1845553"/>
                </a:lnTo>
                <a:lnTo>
                  <a:pt x="4702526" y="5012449"/>
                </a:lnTo>
                <a:lnTo>
                  <a:pt x="4702526" y="6858000"/>
                </a:lnTo>
                <a:lnTo>
                  <a:pt x="2856974" y="6858000"/>
                </a:lnTo>
                <a:lnTo>
                  <a:pt x="2683226" y="6858000"/>
                </a:lnTo>
                <a:lnTo>
                  <a:pt x="2544801" y="6858000"/>
                </a:lnTo>
                <a:lnTo>
                  <a:pt x="625224" y="4938422"/>
                </a:lnTo>
                <a:cubicBezTo>
                  <a:pt x="-208408" y="4104789"/>
                  <a:pt x="-208408" y="2753212"/>
                  <a:pt x="625224" y="1919580"/>
                </a:cubicBezTo>
                <a:close/>
              </a:path>
            </a:pathLst>
          </a:custGeom>
          <a:solidFill>
            <a:schemeClr val="accent6">
              <a:lumMod val="60000"/>
              <a:lumOff val="40000"/>
            </a:schemeClr>
          </a:solidFill>
        </p:spPr>
        <p:txBody>
          <a:bodyPr wrap="square" anchor="ctr">
            <a:noAutofit/>
          </a:bodyPr>
          <a:lstStyle>
            <a:lvl1pPr marL="0" indent="0" algn="ctr">
              <a:buNone/>
              <a:defRPr sz="1600">
                <a:solidFill>
                  <a:schemeClr val="bg2"/>
                </a:solidFill>
              </a:defRPr>
            </a:lvl1pPr>
          </a:lstStyle>
          <a:p>
            <a:endParaRPr lang="en-US"/>
          </a:p>
        </p:txBody>
      </p:sp>
      <p:sp>
        <p:nvSpPr>
          <p:cNvPr id="8" name="Picture Placeholder 7"/>
          <p:cNvSpPr>
            <a:spLocks noGrp="1"/>
          </p:cNvSpPr>
          <p:nvPr>
            <p:ph type="pic" sz="quarter" idx="10"/>
          </p:nvPr>
        </p:nvSpPr>
        <p:spPr>
          <a:xfrm>
            <a:off x="7489474" y="0"/>
            <a:ext cx="4702526" cy="6858000"/>
          </a:xfrm>
          <a:custGeom>
            <a:avLst/>
            <a:gdLst>
              <a:gd name="connsiteX0" fmla="*/ 2544803 w 4702526"/>
              <a:gd name="connsiteY0" fmla="*/ 0 h 6858000"/>
              <a:gd name="connsiteX1" fmla="*/ 2683226 w 4702526"/>
              <a:gd name="connsiteY1" fmla="*/ 0 h 6858000"/>
              <a:gd name="connsiteX2" fmla="*/ 2856973 w 4702526"/>
              <a:gd name="connsiteY2" fmla="*/ 0 h 6858000"/>
              <a:gd name="connsiteX3" fmla="*/ 4702526 w 4702526"/>
              <a:gd name="connsiteY3" fmla="*/ 0 h 6858000"/>
              <a:gd name="connsiteX4" fmla="*/ 4702526 w 4702526"/>
              <a:gd name="connsiteY4" fmla="*/ 1845553 h 6858000"/>
              <a:gd name="connsiteX5" fmla="*/ 4702526 w 4702526"/>
              <a:gd name="connsiteY5" fmla="*/ 5012449 h 6858000"/>
              <a:gd name="connsiteX6" fmla="*/ 4702526 w 4702526"/>
              <a:gd name="connsiteY6" fmla="*/ 6858000 h 6858000"/>
              <a:gd name="connsiteX7" fmla="*/ 2856974 w 4702526"/>
              <a:gd name="connsiteY7" fmla="*/ 6858000 h 6858000"/>
              <a:gd name="connsiteX8" fmla="*/ 2683226 w 4702526"/>
              <a:gd name="connsiteY8" fmla="*/ 6858000 h 6858000"/>
              <a:gd name="connsiteX9" fmla="*/ 2544801 w 4702526"/>
              <a:gd name="connsiteY9" fmla="*/ 6858000 h 6858000"/>
              <a:gd name="connsiteX10" fmla="*/ 625224 w 4702526"/>
              <a:gd name="connsiteY10" fmla="*/ 4938422 h 6858000"/>
              <a:gd name="connsiteX11" fmla="*/ 625224 w 4702526"/>
              <a:gd name="connsiteY11" fmla="*/ 19195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2544803" y="0"/>
                </a:moveTo>
                <a:lnTo>
                  <a:pt x="2683226" y="0"/>
                </a:lnTo>
                <a:lnTo>
                  <a:pt x="2856973" y="0"/>
                </a:lnTo>
                <a:lnTo>
                  <a:pt x="4702526" y="0"/>
                </a:lnTo>
                <a:lnTo>
                  <a:pt x="4702526" y="1845553"/>
                </a:lnTo>
                <a:lnTo>
                  <a:pt x="4702526" y="5012449"/>
                </a:lnTo>
                <a:lnTo>
                  <a:pt x="4702526" y="6858000"/>
                </a:lnTo>
                <a:lnTo>
                  <a:pt x="2856974" y="6858000"/>
                </a:lnTo>
                <a:lnTo>
                  <a:pt x="2683226" y="6858000"/>
                </a:lnTo>
                <a:lnTo>
                  <a:pt x="2544801" y="6858000"/>
                </a:lnTo>
                <a:lnTo>
                  <a:pt x="625224" y="4938422"/>
                </a:lnTo>
                <a:cubicBezTo>
                  <a:pt x="-208408" y="4104789"/>
                  <a:pt x="-208408" y="2753212"/>
                  <a:pt x="625224" y="1919580"/>
                </a:cubicBezTo>
                <a:close/>
              </a:path>
            </a:pathLst>
          </a:custGeom>
          <a:solidFill>
            <a:schemeClr val="accent6"/>
          </a:solidFill>
          <a:ln>
            <a:noFill/>
          </a:ln>
          <a:effectLst>
            <a:outerShdw blurRad="508000" dist="38100" dir="10800000" algn="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lvl1pPr marL="0" indent="0">
              <a:buNone/>
              <a:defRPr lang="en-US" sz="1600">
                <a:solidFill>
                  <a:schemeClr val="lt1"/>
                </a:solidFill>
              </a:defRPr>
            </a:lvl1pPr>
          </a:lstStyle>
          <a:p>
            <a:pPr marL="0" lvl="0" algn="ctr"/>
            <a:endParaRPr lang="en-US"/>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309504" y="1514977"/>
            <a:ext cx="4137317" cy="4137317"/>
          </a:xfrm>
          <a:custGeom>
            <a:avLst/>
            <a:gdLst>
              <a:gd name="connsiteX0" fmla="*/ 1741926 w 4137317"/>
              <a:gd name="connsiteY0" fmla="*/ 0 h 4137317"/>
              <a:gd name="connsiteX1" fmla="*/ 4137317 w 4137317"/>
              <a:gd name="connsiteY1" fmla="*/ 0 h 4137317"/>
              <a:gd name="connsiteX2" fmla="*/ 4137317 w 4137317"/>
              <a:gd name="connsiteY2" fmla="*/ 4137317 h 4137317"/>
              <a:gd name="connsiteX3" fmla="*/ 0 w 4137317"/>
              <a:gd name="connsiteY3" fmla="*/ 4137317 h 4137317"/>
              <a:gd name="connsiteX4" fmla="*/ 0 w 4137317"/>
              <a:gd name="connsiteY4" fmla="*/ 1741926 h 4137317"/>
              <a:gd name="connsiteX5" fmla="*/ 1741926 w 4137317"/>
              <a:gd name="connsiteY5" fmla="*/ 0 h 4137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7317" h="4137317">
                <a:moveTo>
                  <a:pt x="1741926" y="0"/>
                </a:moveTo>
                <a:lnTo>
                  <a:pt x="4137317" y="0"/>
                </a:lnTo>
                <a:lnTo>
                  <a:pt x="4137317" y="4137317"/>
                </a:lnTo>
                <a:lnTo>
                  <a:pt x="0" y="4137317"/>
                </a:lnTo>
                <a:lnTo>
                  <a:pt x="0" y="1741926"/>
                </a:lnTo>
                <a:cubicBezTo>
                  <a:pt x="0" y="779884"/>
                  <a:pt x="779884" y="0"/>
                  <a:pt x="1741926" y="0"/>
                </a:cubicBezTo>
                <a:close/>
              </a:path>
            </a:pathLst>
          </a:custGeom>
          <a:solidFill>
            <a:schemeClr val="accent6"/>
          </a:solidFill>
        </p:spPr>
        <p:txBody>
          <a:bodyPr wrap="square" anchor="ctr">
            <a:noAutofit/>
          </a:bodyPr>
          <a:lstStyle>
            <a:lvl1pPr marL="0" indent="0" algn="ctr">
              <a:buNone/>
              <a:defRPr sz="1600">
                <a:solidFill>
                  <a:schemeClr val="bg2"/>
                </a:solidFill>
              </a:defRPr>
            </a:lvl1pPr>
          </a:lstStyle>
          <a:p>
            <a:endParaRPr lang="en-US"/>
          </a:p>
        </p:txBody>
      </p:sp>
    </p:spTree>
  </p:cSld>
  <p:clrMapOvr>
    <a:masterClrMapping/>
  </p:clrMapOvr>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683419" y="-1"/>
            <a:ext cx="3889761" cy="6219826"/>
          </a:xfrm>
          <a:custGeom>
            <a:avLst/>
            <a:gdLst>
              <a:gd name="connsiteX0" fmla="*/ 0 w 3889761"/>
              <a:gd name="connsiteY0" fmla="*/ 0 h 6219826"/>
              <a:gd name="connsiteX1" fmla="*/ 3889761 w 3889761"/>
              <a:gd name="connsiteY1" fmla="*/ 0 h 6219826"/>
              <a:gd name="connsiteX2" fmla="*/ 3889761 w 3889761"/>
              <a:gd name="connsiteY2" fmla="*/ 4269039 h 6219826"/>
              <a:gd name="connsiteX3" fmla="*/ 1938974 w 3889761"/>
              <a:gd name="connsiteY3" fmla="*/ 6219826 h 6219826"/>
              <a:gd name="connsiteX4" fmla="*/ 0 w 3889761"/>
              <a:gd name="connsiteY4" fmla="*/ 6219826 h 6219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9761" h="6219826">
                <a:moveTo>
                  <a:pt x="0" y="0"/>
                </a:moveTo>
                <a:lnTo>
                  <a:pt x="3889761" y="0"/>
                </a:lnTo>
                <a:lnTo>
                  <a:pt x="3889761" y="4269039"/>
                </a:lnTo>
                <a:cubicBezTo>
                  <a:pt x="3889761" y="5346508"/>
                  <a:pt x="3016295" y="6219826"/>
                  <a:pt x="1938974" y="6219826"/>
                </a:cubicBezTo>
                <a:lnTo>
                  <a:pt x="0" y="6219826"/>
                </a:lnTo>
                <a:close/>
              </a:path>
            </a:pathLst>
          </a:custGeom>
          <a:solidFill>
            <a:schemeClr val="accent6"/>
          </a:solidFill>
        </p:spPr>
        <p:txBody>
          <a:bodyPr wrap="square" anchor="ctr">
            <a:noAutofit/>
          </a:bodyPr>
          <a:lstStyle>
            <a:lvl1pPr>
              <a:defRPr lang="en-US" sz="1600">
                <a:solidFill>
                  <a:schemeClr val="bg2"/>
                </a:solidFill>
              </a:defRPr>
            </a:lvl1pPr>
          </a:lstStyle>
          <a:p>
            <a:pPr marL="0" lvl="0" indent="0" algn="ctr">
              <a:buNone/>
            </a:pPr>
            <a:endParaRPr lang="en-US"/>
          </a:p>
        </p:txBody>
      </p:sp>
    </p:spTree>
  </p:cSld>
  <p:clrMapOvr>
    <a:masterClrMapping/>
  </p:clrMapOvr>
  <p:transition/>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683418" y="638176"/>
            <a:ext cx="3889761" cy="6219827"/>
          </a:xfrm>
          <a:custGeom>
            <a:avLst/>
            <a:gdLst>
              <a:gd name="connsiteX0" fmla="*/ 0 w 3889761"/>
              <a:gd name="connsiteY0" fmla="*/ 0 h 6219827"/>
              <a:gd name="connsiteX1" fmla="*/ 1938974 w 3889761"/>
              <a:gd name="connsiteY1" fmla="*/ 0 h 6219827"/>
              <a:gd name="connsiteX2" fmla="*/ 3889761 w 3889761"/>
              <a:gd name="connsiteY2" fmla="*/ 1950787 h 6219827"/>
              <a:gd name="connsiteX3" fmla="*/ 3889761 w 3889761"/>
              <a:gd name="connsiteY3" fmla="*/ 6219827 h 6219827"/>
              <a:gd name="connsiteX4" fmla="*/ 0 w 3889761"/>
              <a:gd name="connsiteY4" fmla="*/ 6219827 h 6219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9761" h="6219827">
                <a:moveTo>
                  <a:pt x="0" y="0"/>
                </a:moveTo>
                <a:lnTo>
                  <a:pt x="1938974" y="0"/>
                </a:lnTo>
                <a:cubicBezTo>
                  <a:pt x="3016295" y="0"/>
                  <a:pt x="3889761" y="873318"/>
                  <a:pt x="3889761" y="1950787"/>
                </a:cubicBezTo>
                <a:lnTo>
                  <a:pt x="3889761" y="6219827"/>
                </a:lnTo>
                <a:lnTo>
                  <a:pt x="0" y="6219827"/>
                </a:lnTo>
                <a:close/>
              </a:path>
            </a:pathLst>
          </a:custGeom>
          <a:solidFill>
            <a:schemeClr val="accent6"/>
          </a:solidFill>
        </p:spPr>
        <p:txBody>
          <a:bodyPr wrap="square" anchor="ctr">
            <a:noAutofit/>
          </a:bodyPr>
          <a:lstStyle>
            <a:lvl1pPr>
              <a:defRPr lang="en-US" sz="1600">
                <a:solidFill>
                  <a:schemeClr val="bg2"/>
                </a:solidFill>
              </a:defRPr>
            </a:lvl1pPr>
          </a:lstStyle>
          <a:p>
            <a:pPr marL="0" lvl="0" indent="0" algn="ctr">
              <a:buNone/>
            </a:pPr>
            <a:endParaRPr lang="en-US"/>
          </a:p>
        </p:txBody>
      </p:sp>
    </p:spTree>
  </p:cSld>
  <p:clrMapOvr>
    <a:masterClrMapping/>
  </p:clrMapOvr>
  <p:transition/>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7489474" y="0"/>
            <a:ext cx="4702526" cy="6858000"/>
          </a:xfrm>
          <a:custGeom>
            <a:avLst/>
            <a:gdLst>
              <a:gd name="connsiteX0" fmla="*/ 2544803 w 4702526"/>
              <a:gd name="connsiteY0" fmla="*/ 0 h 6858000"/>
              <a:gd name="connsiteX1" fmla="*/ 2683226 w 4702526"/>
              <a:gd name="connsiteY1" fmla="*/ 0 h 6858000"/>
              <a:gd name="connsiteX2" fmla="*/ 2856973 w 4702526"/>
              <a:gd name="connsiteY2" fmla="*/ 0 h 6858000"/>
              <a:gd name="connsiteX3" fmla="*/ 4702526 w 4702526"/>
              <a:gd name="connsiteY3" fmla="*/ 0 h 6858000"/>
              <a:gd name="connsiteX4" fmla="*/ 4702526 w 4702526"/>
              <a:gd name="connsiteY4" fmla="*/ 1845553 h 6858000"/>
              <a:gd name="connsiteX5" fmla="*/ 4702526 w 4702526"/>
              <a:gd name="connsiteY5" fmla="*/ 5012449 h 6858000"/>
              <a:gd name="connsiteX6" fmla="*/ 4702526 w 4702526"/>
              <a:gd name="connsiteY6" fmla="*/ 6858000 h 6858000"/>
              <a:gd name="connsiteX7" fmla="*/ 2856974 w 4702526"/>
              <a:gd name="connsiteY7" fmla="*/ 6858000 h 6858000"/>
              <a:gd name="connsiteX8" fmla="*/ 2683226 w 4702526"/>
              <a:gd name="connsiteY8" fmla="*/ 6858000 h 6858000"/>
              <a:gd name="connsiteX9" fmla="*/ 2544801 w 4702526"/>
              <a:gd name="connsiteY9" fmla="*/ 6858000 h 6858000"/>
              <a:gd name="connsiteX10" fmla="*/ 625224 w 4702526"/>
              <a:gd name="connsiteY10" fmla="*/ 4938422 h 6858000"/>
              <a:gd name="connsiteX11" fmla="*/ 625224 w 4702526"/>
              <a:gd name="connsiteY11" fmla="*/ 19195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2544803" y="0"/>
                </a:moveTo>
                <a:lnTo>
                  <a:pt x="2683226" y="0"/>
                </a:lnTo>
                <a:lnTo>
                  <a:pt x="2856973" y="0"/>
                </a:lnTo>
                <a:lnTo>
                  <a:pt x="4702526" y="0"/>
                </a:lnTo>
                <a:lnTo>
                  <a:pt x="4702526" y="1845553"/>
                </a:lnTo>
                <a:lnTo>
                  <a:pt x="4702526" y="5012449"/>
                </a:lnTo>
                <a:lnTo>
                  <a:pt x="4702526" y="6858000"/>
                </a:lnTo>
                <a:lnTo>
                  <a:pt x="2856974" y="6858000"/>
                </a:lnTo>
                <a:lnTo>
                  <a:pt x="2683226" y="6858000"/>
                </a:lnTo>
                <a:lnTo>
                  <a:pt x="2544801" y="6858000"/>
                </a:lnTo>
                <a:lnTo>
                  <a:pt x="625224" y="4938422"/>
                </a:lnTo>
                <a:cubicBezTo>
                  <a:pt x="-208408" y="4104789"/>
                  <a:pt x="-208408" y="2753212"/>
                  <a:pt x="625224" y="1919580"/>
                </a:cubicBezTo>
                <a:close/>
              </a:path>
            </a:pathLst>
          </a:custGeom>
          <a:solidFill>
            <a:schemeClr val="accent6"/>
          </a:solidFill>
        </p:spPr>
        <p:txBody>
          <a:bodyPr wrap="square" anchor="ctr">
            <a:noAutofit/>
          </a:bodyPr>
          <a:lstStyle>
            <a:lvl1pPr>
              <a:defRPr lang="en-US" sz="1600">
                <a:solidFill>
                  <a:schemeClr val="bg2"/>
                </a:solidFill>
              </a:defRPr>
            </a:lvl1pPr>
          </a:lstStyle>
          <a:p>
            <a:pPr marL="0" lvl="0" indent="0" algn="ctr">
              <a:buNone/>
            </a:pPr>
            <a:endParaRPr lang="en-US"/>
          </a:p>
        </p:txBody>
      </p:sp>
    </p:spTree>
  </p:cSld>
  <p:clrMapOvr>
    <a:masterClrMapping/>
  </p:clrMapOvr>
  <p:transition/>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1047233" y="1839827"/>
            <a:ext cx="10097537" cy="2535039"/>
          </a:xfrm>
          <a:custGeom>
            <a:avLst/>
            <a:gdLst>
              <a:gd name="connsiteX0" fmla="*/ 0 w 10097537"/>
              <a:gd name="connsiteY0" fmla="*/ 0 h 2535039"/>
              <a:gd name="connsiteX1" fmla="*/ 1980231 w 10097537"/>
              <a:gd name="connsiteY1" fmla="*/ 0 h 2535039"/>
              <a:gd name="connsiteX2" fmla="*/ 2535039 w 10097537"/>
              <a:gd name="connsiteY2" fmla="*/ 0 h 2535039"/>
              <a:gd name="connsiteX3" fmla="*/ 10097537 w 10097537"/>
              <a:gd name="connsiteY3" fmla="*/ 0 h 2535039"/>
              <a:gd name="connsiteX4" fmla="*/ 10097537 w 10097537"/>
              <a:gd name="connsiteY4" fmla="*/ 2535039 h 2535039"/>
              <a:gd name="connsiteX5" fmla="*/ 2535039 w 10097537"/>
              <a:gd name="connsiteY5" fmla="*/ 2535039 h 2535039"/>
              <a:gd name="connsiteX6" fmla="*/ 1980231 w 10097537"/>
              <a:gd name="connsiteY6" fmla="*/ 2535039 h 2535039"/>
              <a:gd name="connsiteX7" fmla="*/ 1067322 w 10097537"/>
              <a:gd name="connsiteY7" fmla="*/ 2535039 h 2535039"/>
              <a:gd name="connsiteX8" fmla="*/ 0 w 10097537"/>
              <a:gd name="connsiteY8" fmla="*/ 1467717 h 253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7537" h="2535039">
                <a:moveTo>
                  <a:pt x="0" y="0"/>
                </a:moveTo>
                <a:lnTo>
                  <a:pt x="1980231" y="0"/>
                </a:lnTo>
                <a:lnTo>
                  <a:pt x="2535039" y="0"/>
                </a:lnTo>
                <a:lnTo>
                  <a:pt x="10097537" y="0"/>
                </a:lnTo>
                <a:lnTo>
                  <a:pt x="10097537" y="2535039"/>
                </a:lnTo>
                <a:lnTo>
                  <a:pt x="2535039" y="2535039"/>
                </a:lnTo>
                <a:lnTo>
                  <a:pt x="1980231" y="2535039"/>
                </a:lnTo>
                <a:lnTo>
                  <a:pt x="1067322" y="2535039"/>
                </a:lnTo>
                <a:cubicBezTo>
                  <a:pt x="477855" y="2535039"/>
                  <a:pt x="0" y="2057184"/>
                  <a:pt x="0" y="1467717"/>
                </a:cubicBezTo>
                <a:close/>
              </a:path>
            </a:pathLst>
          </a:custGeom>
          <a:solidFill>
            <a:schemeClr val="accent6"/>
          </a:solidFill>
        </p:spPr>
        <p:txBody>
          <a:bodyPr wrap="square" anchor="ctr">
            <a:noAutofit/>
          </a:bodyPr>
          <a:lstStyle>
            <a:lvl1pPr>
              <a:defRPr lang="en-US" sz="1600">
                <a:solidFill>
                  <a:schemeClr val="bg2"/>
                </a:solidFill>
              </a:defRPr>
            </a:lvl1pPr>
          </a:lstStyle>
          <a:p>
            <a:pPr marL="0" lvl="0" indent="0" algn="ctr">
              <a:buNone/>
            </a:pPr>
            <a:endParaRPr lang="en-US"/>
          </a:p>
        </p:txBody>
      </p:sp>
    </p:spTree>
  </p:cSld>
  <p:clrMapOvr>
    <a:masterClrMapping/>
  </p:clrMapOvr>
  <p:transition/>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7121925" y="1787924"/>
            <a:ext cx="5070077" cy="5070077"/>
          </a:xfrm>
          <a:custGeom>
            <a:avLst/>
            <a:gdLst>
              <a:gd name="connsiteX0" fmla="*/ 2134644 w 5070077"/>
              <a:gd name="connsiteY0" fmla="*/ 0 h 5070077"/>
              <a:gd name="connsiteX1" fmla="*/ 5070077 w 5070077"/>
              <a:gd name="connsiteY1" fmla="*/ 0 h 5070077"/>
              <a:gd name="connsiteX2" fmla="*/ 5070077 w 5070077"/>
              <a:gd name="connsiteY2" fmla="*/ 5070077 h 5070077"/>
              <a:gd name="connsiteX3" fmla="*/ 0 w 5070077"/>
              <a:gd name="connsiteY3" fmla="*/ 5070077 h 5070077"/>
              <a:gd name="connsiteX4" fmla="*/ 0 w 5070077"/>
              <a:gd name="connsiteY4" fmla="*/ 2134644 h 5070077"/>
              <a:gd name="connsiteX5" fmla="*/ 2134644 w 5070077"/>
              <a:gd name="connsiteY5" fmla="*/ 0 h 507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70077" h="5070077">
                <a:moveTo>
                  <a:pt x="2134644" y="0"/>
                </a:moveTo>
                <a:lnTo>
                  <a:pt x="5070077" y="0"/>
                </a:lnTo>
                <a:lnTo>
                  <a:pt x="5070077" y="5070077"/>
                </a:lnTo>
                <a:lnTo>
                  <a:pt x="0" y="5070077"/>
                </a:lnTo>
                <a:lnTo>
                  <a:pt x="0" y="2134644"/>
                </a:lnTo>
                <a:cubicBezTo>
                  <a:pt x="0" y="955710"/>
                  <a:pt x="955710" y="0"/>
                  <a:pt x="2134644" y="0"/>
                </a:cubicBezTo>
                <a:close/>
              </a:path>
            </a:pathLst>
          </a:custGeom>
          <a:solidFill>
            <a:schemeClr val="accent6"/>
          </a:solidFill>
        </p:spPr>
        <p:txBody>
          <a:bodyPr wrap="square" anchor="ctr">
            <a:noAutofit/>
          </a:bodyPr>
          <a:lstStyle>
            <a:lvl1pPr>
              <a:defRPr lang="en-US" sz="1600">
                <a:solidFill>
                  <a:schemeClr val="bg2"/>
                </a:solidFill>
              </a:defRPr>
            </a:lvl1pPr>
          </a:lstStyle>
          <a:p>
            <a:pPr marL="0" lvl="0" indent="0" algn="ctr">
              <a:buNone/>
            </a:pPr>
            <a:endParaRPr lang="en-US"/>
          </a:p>
        </p:txBody>
      </p:sp>
    </p:spTree>
  </p:cSld>
  <p:clrMapOvr>
    <a:masterClrMapping/>
  </p:clrMapOvr>
  <p:transition/>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858000"/>
          </a:xfrm>
          <a:prstGeom prst="rect">
            <a:avLst/>
          </a:prstGeom>
          <a:solidFill>
            <a:schemeClr val="accent6"/>
          </a:solidFill>
        </p:spPr>
        <p:txBody>
          <a:bodyPr wrap="square" anchor="ctr">
            <a:noAutofit/>
          </a:bodyPr>
          <a:lstStyle>
            <a:lvl1pPr>
              <a:defRPr lang="en-US" sz="1600">
                <a:solidFill>
                  <a:schemeClr val="bg2"/>
                </a:solidFill>
              </a:defRPr>
            </a:lvl1pPr>
          </a:lstStyle>
          <a:p>
            <a:pPr marL="0" lvl="0" indent="0" algn="ctr">
              <a:buNone/>
            </a:pPr>
            <a:endParaRPr lang="en-US"/>
          </a:p>
        </p:txBody>
      </p:sp>
    </p:spTree>
  </p:cSld>
  <p:clrMapOvr>
    <a:masterClrMapping/>
  </p:clrMapOvr>
  <p:transition/>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4702526" cy="6858000"/>
          </a:xfrm>
          <a:custGeom>
            <a:avLst/>
            <a:gdLst>
              <a:gd name="connsiteX0" fmla="*/ 0 w 4702526"/>
              <a:gd name="connsiteY0" fmla="*/ 0 h 6858000"/>
              <a:gd name="connsiteX1" fmla="*/ 1845553 w 4702526"/>
              <a:gd name="connsiteY1" fmla="*/ 0 h 6858000"/>
              <a:gd name="connsiteX2" fmla="*/ 2019300 w 4702526"/>
              <a:gd name="connsiteY2" fmla="*/ 0 h 6858000"/>
              <a:gd name="connsiteX3" fmla="*/ 2157723 w 4702526"/>
              <a:gd name="connsiteY3" fmla="*/ 0 h 6858000"/>
              <a:gd name="connsiteX4" fmla="*/ 4077302 w 4702526"/>
              <a:gd name="connsiteY4" fmla="*/ 1919580 h 6858000"/>
              <a:gd name="connsiteX5" fmla="*/ 4077302 w 4702526"/>
              <a:gd name="connsiteY5" fmla="*/ 4938422 h 6858000"/>
              <a:gd name="connsiteX6" fmla="*/ 2157725 w 4702526"/>
              <a:gd name="connsiteY6" fmla="*/ 6858000 h 6858000"/>
              <a:gd name="connsiteX7" fmla="*/ 2019300 w 4702526"/>
              <a:gd name="connsiteY7" fmla="*/ 6858000 h 6858000"/>
              <a:gd name="connsiteX8" fmla="*/ 1845552 w 4702526"/>
              <a:gd name="connsiteY8" fmla="*/ 6858000 h 6858000"/>
              <a:gd name="connsiteX9" fmla="*/ 0 w 4702526"/>
              <a:gd name="connsiteY9" fmla="*/ 6858000 h 6858000"/>
              <a:gd name="connsiteX10" fmla="*/ 0 w 4702526"/>
              <a:gd name="connsiteY10" fmla="*/ 5012449 h 6858000"/>
              <a:gd name="connsiteX11" fmla="*/ 0 w 4702526"/>
              <a:gd name="connsiteY11" fmla="*/ 18455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0" y="0"/>
                </a:moveTo>
                <a:lnTo>
                  <a:pt x="1845553" y="0"/>
                </a:lnTo>
                <a:lnTo>
                  <a:pt x="2019300" y="0"/>
                </a:lnTo>
                <a:lnTo>
                  <a:pt x="2157723" y="0"/>
                </a:lnTo>
                <a:lnTo>
                  <a:pt x="4077302" y="1919580"/>
                </a:lnTo>
                <a:cubicBezTo>
                  <a:pt x="4910934" y="2753212"/>
                  <a:pt x="4910934" y="4104789"/>
                  <a:pt x="4077302" y="4938422"/>
                </a:cubicBezTo>
                <a:lnTo>
                  <a:pt x="2157725" y="6858000"/>
                </a:lnTo>
                <a:lnTo>
                  <a:pt x="2019300" y="6858000"/>
                </a:lnTo>
                <a:lnTo>
                  <a:pt x="1845552" y="6858000"/>
                </a:lnTo>
                <a:lnTo>
                  <a:pt x="0" y="6858000"/>
                </a:lnTo>
                <a:lnTo>
                  <a:pt x="0" y="5012449"/>
                </a:lnTo>
                <a:lnTo>
                  <a:pt x="0" y="1845553"/>
                </a:lnTo>
                <a:close/>
              </a:path>
            </a:pathLst>
          </a:custGeom>
          <a:solidFill>
            <a:schemeClr val="accent6"/>
          </a:solidFill>
        </p:spPr>
        <p:txBody>
          <a:bodyPr wrap="square" anchor="ctr">
            <a:noAutofit/>
          </a:bodyPr>
          <a:lstStyle>
            <a:lvl1pPr>
              <a:defRPr lang="en-US" sz="1600">
                <a:solidFill>
                  <a:schemeClr val="bg2"/>
                </a:solidFill>
              </a:defRPr>
            </a:lvl1pPr>
          </a:lstStyle>
          <a:p>
            <a:pPr marL="0" lvl="0" indent="0" algn="ctr">
              <a:buNone/>
            </a:pPr>
            <a:endParaRPr lang="en-US"/>
          </a:p>
        </p:txBody>
      </p:sp>
    </p:spTree>
  </p:cSld>
  <p:clrMapOvr>
    <a:masterClrMapping/>
  </p:clrMapOvr>
  <p:transition/>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7_Blank">
    <p:spTree>
      <p:nvGrpSpPr>
        <p:cNvPr id="1" name=""/>
        <p:cNvGrpSpPr/>
        <p:nvPr/>
      </p:nvGrpSpPr>
      <p:grpSpPr>
        <a:xfrm>
          <a:off x="0" y="0"/>
          <a:ext cx="0" cy="0"/>
          <a:chOff x="0" y="0"/>
          <a:chExt cx="0" cy="0"/>
        </a:xfrm>
      </p:grpSpPr>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2" name="墨迹 6">
            <a:extLst>
              <a:ext uri="{FF2B5EF4-FFF2-40B4-BE49-F238E27FC236}">
                <a16:creationId xmlns:a16="http://schemas.microsoft.com/office/drawing/2014/main" id="{6EBBEC50-721B-9297-DE8C-65115C350AC0}"/>
              </a:ext>
            </a:extLst>
          </p:cNvPr>
          <p:cNvPicPr/>
          <p:nvPr/>
        </p:nvPicPr>
        <p:blipFill>
          <a:blip r:embed="rId2"/>
          <a:stretch>
            <a:fillRect/>
          </a:stretch>
        </p:blipFill>
        <p:spPr>
          <a:xfrm>
            <a:off x="-1286677" y="471795"/>
            <a:ext cx="36000" cy="162000"/>
          </a:xfrm>
          <a:prstGeom prst="rect">
            <a:avLst/>
          </a:prstGeom>
        </p:spPr>
      </p:pic>
      <p:sp>
        <p:nvSpPr>
          <p:cNvPr id="3" name="TextBox 4">
            <a:extLst>
              <a:ext uri="{FF2B5EF4-FFF2-40B4-BE49-F238E27FC236}">
                <a16:creationId xmlns:a16="http://schemas.microsoft.com/office/drawing/2014/main" id="{EB684C7E-20A7-9694-F2D4-694B922B40F4}"/>
              </a:ext>
            </a:extLst>
          </p:cNvPr>
          <p:cNvSpPr txBox="1"/>
          <p:nvPr/>
        </p:nvSpPr>
        <p:spPr>
          <a:xfrm>
            <a:off x="270030" y="494801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4" name="TextBox 8"/>
          <p:cNvSpPr txBox="1"/>
          <p:nvPr/>
        </p:nvSpPr>
        <p:spPr>
          <a:xfrm>
            <a:off x="8873970" y="0"/>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3"/>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3"/>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3"/>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2"/>
            <a:ext cx="10972800" cy="452596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3AAC11-D570-4EA9-AFC0-30FB72BA45EB}" type="datetimeFigureOut">
              <a:rPr lang="zh-CN" altLang="en-US" smtClean="0">
                <a:solidFill>
                  <a:prstClr val="black"/>
                </a:solidFill>
              </a:rPr>
              <a:t>2025/8/19</a:t>
            </a:fld>
            <a:endParaRPr lang="zh-CN" altLang="en-US">
              <a:solidFill>
                <a:prstClr val="black"/>
              </a:solidFill>
            </a:endParaRPr>
          </a:p>
        </p:txBody>
      </p:sp>
      <p:sp>
        <p:nvSpPr>
          <p:cNvPr id="5" name="页脚占位符 4"/>
          <p:cNvSpPr>
            <a:spLocks noGrp="1"/>
          </p:cNvSpPr>
          <p:nvPr>
            <p:ph type="ftr" sz="quarter" idx="11"/>
          </p:nvPr>
        </p:nvSpPr>
        <p:spPr>
          <a:xfrm>
            <a:off x="4165600" y="6356352"/>
            <a:ext cx="3860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6"/>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3AAC11-D570-4EA9-AFC0-30FB72BA45EB}" type="datetimeFigureOut">
              <a:rPr lang="zh-CN" altLang="en-US" smtClean="0">
                <a:solidFill>
                  <a:prstClr val="black"/>
                </a:solidFill>
              </a:rPr>
              <a:t>2025/8/19</a:t>
            </a:fld>
            <a:endParaRPr lang="zh-CN" altLang="en-US">
              <a:solidFill>
                <a:prstClr val="black"/>
              </a:solidFill>
            </a:endParaRPr>
          </a:p>
        </p:txBody>
      </p:sp>
      <p:sp>
        <p:nvSpPr>
          <p:cNvPr id="5" name="页脚占位符 4"/>
          <p:cNvSpPr>
            <a:spLocks noGrp="1"/>
          </p:cNvSpPr>
          <p:nvPr>
            <p:ph type="ftr" sz="quarter" idx="11"/>
          </p:nvPr>
        </p:nvSpPr>
        <p:spPr>
          <a:xfrm>
            <a:off x="4165600" y="6356352"/>
            <a:ext cx="3860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14516039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26144539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30331168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30800730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3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14994347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3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38539060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3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42926467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16500064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3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11524809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2402533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3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1550084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571487" y="574337"/>
            <a:ext cx="133376" cy="127675"/>
            <a:chOff x="571487" y="531019"/>
            <a:chExt cx="133376" cy="127675"/>
          </a:xfrm>
          <a:solidFill>
            <a:schemeClr val="accent6"/>
          </a:solidFill>
        </p:grpSpPr>
        <p:sp>
          <p:nvSpPr>
            <p:cNvPr id="8" name="Rectangle 7"/>
            <p:cNvSpPr/>
            <p:nvPr/>
          </p:nvSpPr>
          <p:spPr>
            <a:xfrm>
              <a:off x="571487" y="531019"/>
              <a:ext cx="133376" cy="4103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71487" y="617656"/>
              <a:ext cx="133376" cy="4103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Graphic 11"/>
          <p:cNvSpPr/>
          <p:nvPr userDrawn="1"/>
        </p:nvSpPr>
        <p:spPr>
          <a:xfrm>
            <a:off x="11470481" y="6136481"/>
            <a:ext cx="81757" cy="81757"/>
          </a:xfrm>
          <a:custGeom>
            <a:avLst/>
            <a:gdLst>
              <a:gd name="connsiteX0" fmla="*/ 601608 w 1203216"/>
              <a:gd name="connsiteY0" fmla="*/ 0 h 1203216"/>
              <a:gd name="connsiteX1" fmla="*/ 1203217 w 1203216"/>
              <a:gd name="connsiteY1" fmla="*/ 0 h 1203216"/>
              <a:gd name="connsiteX2" fmla="*/ 1203217 w 1203216"/>
              <a:gd name="connsiteY2" fmla="*/ 1203217 h 1203216"/>
              <a:gd name="connsiteX3" fmla="*/ 0 w 1203216"/>
              <a:gd name="connsiteY3" fmla="*/ 1203217 h 1203216"/>
              <a:gd name="connsiteX4" fmla="*/ 0 w 1203216"/>
              <a:gd name="connsiteY4" fmla="*/ 601608 h 1203216"/>
              <a:gd name="connsiteX5" fmla="*/ 601608 w 1203216"/>
              <a:gd name="connsiteY5" fmla="*/ 0 h 1203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3216" h="1203216">
                <a:moveTo>
                  <a:pt x="601608" y="0"/>
                </a:moveTo>
                <a:lnTo>
                  <a:pt x="1203217" y="0"/>
                </a:lnTo>
                <a:lnTo>
                  <a:pt x="1203217" y="1203217"/>
                </a:lnTo>
                <a:lnTo>
                  <a:pt x="0" y="1203217"/>
                </a:lnTo>
                <a:lnTo>
                  <a:pt x="0" y="601608"/>
                </a:lnTo>
                <a:cubicBezTo>
                  <a:pt x="0" y="269510"/>
                  <a:pt x="269510" y="0"/>
                  <a:pt x="601608" y="0"/>
                </a:cubicBezTo>
                <a:close/>
              </a:path>
            </a:pathLst>
          </a:custGeom>
          <a:solidFill>
            <a:schemeClr val="accent2"/>
          </a:solidFill>
          <a:ln w="63667" cap="flat">
            <a:noFill/>
            <a:prstDash val="solid"/>
            <a:miter/>
          </a:ln>
        </p:spPr>
        <p:txBody>
          <a:bodyPr rtlCol="0" anchor="ctr"/>
          <a:lstStyle/>
          <a:p>
            <a:endParaRPr lang="en-US"/>
          </a:p>
        </p:txBody>
      </p:sp>
      <p:sp>
        <p:nvSpPr>
          <p:cNvPr id="11" name="Graphic 11"/>
          <p:cNvSpPr/>
          <p:nvPr userDrawn="1"/>
        </p:nvSpPr>
        <p:spPr>
          <a:xfrm flipH="1" flipV="1">
            <a:off x="11552238" y="6218238"/>
            <a:ext cx="189706" cy="189706"/>
          </a:xfrm>
          <a:custGeom>
            <a:avLst/>
            <a:gdLst>
              <a:gd name="connsiteX0" fmla="*/ 601608 w 1203216"/>
              <a:gd name="connsiteY0" fmla="*/ 0 h 1203216"/>
              <a:gd name="connsiteX1" fmla="*/ 1203217 w 1203216"/>
              <a:gd name="connsiteY1" fmla="*/ 0 h 1203216"/>
              <a:gd name="connsiteX2" fmla="*/ 1203217 w 1203216"/>
              <a:gd name="connsiteY2" fmla="*/ 1203217 h 1203216"/>
              <a:gd name="connsiteX3" fmla="*/ 0 w 1203216"/>
              <a:gd name="connsiteY3" fmla="*/ 1203217 h 1203216"/>
              <a:gd name="connsiteX4" fmla="*/ 0 w 1203216"/>
              <a:gd name="connsiteY4" fmla="*/ 601608 h 1203216"/>
              <a:gd name="connsiteX5" fmla="*/ 601608 w 1203216"/>
              <a:gd name="connsiteY5" fmla="*/ 0 h 1203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3216" h="1203216">
                <a:moveTo>
                  <a:pt x="601608" y="0"/>
                </a:moveTo>
                <a:lnTo>
                  <a:pt x="1203217" y="0"/>
                </a:lnTo>
                <a:lnTo>
                  <a:pt x="1203217" y="1203217"/>
                </a:lnTo>
                <a:lnTo>
                  <a:pt x="0" y="1203217"/>
                </a:lnTo>
                <a:lnTo>
                  <a:pt x="0" y="601608"/>
                </a:lnTo>
                <a:cubicBezTo>
                  <a:pt x="0" y="269510"/>
                  <a:pt x="269510" y="0"/>
                  <a:pt x="601608" y="0"/>
                </a:cubicBezTo>
                <a:close/>
              </a:path>
            </a:pathLst>
          </a:custGeom>
          <a:solidFill>
            <a:schemeClr val="accent6"/>
          </a:solidFill>
          <a:ln w="63667" cap="flat">
            <a:noFill/>
            <a:prstDash val="solid"/>
            <a:miter/>
          </a:ln>
        </p:spPr>
        <p:txBody>
          <a:bodyPr rtlCol="0" anchor="ctr"/>
          <a:lstStyle/>
          <a:p>
            <a:endParaRPr lang="en-US"/>
          </a:p>
        </p:txBody>
      </p:sp>
      <p:sp>
        <p:nvSpPr>
          <p:cNvPr id="12" name="Slide Number Placeholder 5"/>
          <p:cNvSpPr txBox="1"/>
          <p:nvPr userDrawn="1"/>
        </p:nvSpPr>
        <p:spPr>
          <a:xfrm>
            <a:off x="11487943" y="5944393"/>
            <a:ext cx="4175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3E056A6-AECD-4492-B219-85DE58BEDE49}" type="slidenum">
              <a:rPr lang="en-US" sz="1000" smtClean="0">
                <a:solidFill>
                  <a:schemeClr val="bg2">
                    <a:lumMod val="65000"/>
                  </a:schemeClr>
                </a:solidFill>
                <a:latin typeface="+mj-lt"/>
              </a:rPr>
              <a:t>‹#›</a:t>
            </a:fld>
            <a:endParaRPr lang="en-US" sz="1000">
              <a:solidFill>
                <a:schemeClr val="bg2">
                  <a:lumMod val="65000"/>
                </a:schemeClr>
              </a:solidFill>
              <a:latin typeface="+mj-lt"/>
            </a:endParaRPr>
          </a:p>
        </p:txBody>
      </p:sp>
      <p:grpSp>
        <p:nvGrpSpPr>
          <p:cNvPr id="13" name="Group 12"/>
          <p:cNvGrpSpPr/>
          <p:nvPr userDrawn="1"/>
        </p:nvGrpSpPr>
        <p:grpSpPr>
          <a:xfrm>
            <a:off x="1" y="5054600"/>
            <a:ext cx="1803399" cy="1803399"/>
            <a:chOff x="0" y="4114805"/>
            <a:chExt cx="2743195" cy="2743195"/>
          </a:xfrm>
        </p:grpSpPr>
        <p:sp>
          <p:nvSpPr>
            <p:cNvPr id="14" name="Graphic 3"/>
            <p:cNvSpPr/>
            <p:nvPr/>
          </p:nvSpPr>
          <p:spPr>
            <a:xfrm flipH="1" flipV="1">
              <a:off x="0" y="4114805"/>
              <a:ext cx="2743195" cy="274319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adFill>
              <a:gsLst>
                <a:gs pos="0">
                  <a:schemeClr val="tx2">
                    <a:lumMod val="75000"/>
                    <a:lumOff val="25000"/>
                    <a:alpha val="30000"/>
                  </a:schemeClr>
                </a:gs>
                <a:gs pos="100000">
                  <a:schemeClr val="tx2">
                    <a:lumMod val="75000"/>
                    <a:lumOff val="25000"/>
                    <a:alpha val="0"/>
                  </a:schemeClr>
                </a:gs>
              </a:gsLst>
              <a:lin ang="6600000" scaled="0"/>
            </a:gradFill>
            <a:ln w="6350" cap="flat">
              <a:noFill/>
              <a:prstDash val="solid"/>
              <a:miter/>
            </a:ln>
          </p:spPr>
          <p:txBody>
            <a:bodyPr rtlCol="0" anchor="ctr"/>
            <a:lstStyle/>
            <a:p>
              <a:endParaRPr lang="en-US"/>
            </a:p>
          </p:txBody>
        </p:sp>
        <p:sp>
          <p:nvSpPr>
            <p:cNvPr id="15" name="Graphic 3"/>
            <p:cNvSpPr/>
            <p:nvPr/>
          </p:nvSpPr>
          <p:spPr>
            <a:xfrm flipH="1" flipV="1">
              <a:off x="0" y="4320545"/>
              <a:ext cx="2537455" cy="253745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noFill/>
            <a:ln w="19050" cap="flat">
              <a:solidFill>
                <a:schemeClr val="bg2">
                  <a:lumMod val="75000"/>
                  <a:alpha val="20000"/>
                </a:schemeClr>
              </a:solidFill>
              <a:prstDash val="solid"/>
              <a:miter/>
            </a:ln>
          </p:spPr>
          <p:txBody>
            <a:bodyPr rtlCol="0" anchor="ctr"/>
            <a:lstStyle/>
            <a:p>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6" r:id="rId12"/>
    <p:sldLayoutId id="2147483685" r:id="rId13"/>
    <p:sldLayoutId id="2147483684" r:id="rId14"/>
    <p:sldLayoutId id="2147483683" r:id="rId15"/>
    <p:sldLayoutId id="2147483682" r:id="rId16"/>
    <p:sldLayoutId id="2147483681" r:id="rId17"/>
    <p:sldLayoutId id="2147483680" r:id="rId18"/>
    <p:sldLayoutId id="2147483679" r:id="rId19"/>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 id="2147483676" r:id="rId2"/>
    <p:sldLayoutId id="2147483677" r:id="rId3"/>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9Slide.vn - 2019">
            <a:extLst>
              <a:ext uri="{FF2B5EF4-FFF2-40B4-BE49-F238E27FC236}">
                <a16:creationId xmlns:a16="http://schemas.microsoft.com/office/drawing/2014/main" id="{2F1E5035-F65E-4760-997D-D0B630D109BB}"/>
              </a:ext>
            </a:extLst>
          </p:cNvPr>
          <p:cNvSpPr txBox="1"/>
          <p:nvPr userDrawn="1"/>
        </p:nvSpPr>
        <p:spPr>
          <a:xfrm>
            <a:off x="0" y="-3478887"/>
            <a:ext cx="12192000" cy="461665"/>
          </a:xfrm>
          <a:prstGeom prst="rect">
            <a:avLst/>
          </a:prstGeom>
          <a:noFill/>
        </p:spPr>
        <p:txBody>
          <a:bodyPr vert="horz" rtlCol="0">
            <a:spAutoFit/>
          </a:bodyP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D8D8D8"/>
                </a:solidFill>
                <a:effectLst/>
                <a:uLnTx/>
                <a:uFillTx/>
                <a:latin typeface="Calibri"/>
                <a:ea typeface="+mn-ea"/>
                <a:cs typeface="+mn-cs"/>
              </a:rPr>
              <a:t>www.9slide.vn</a:t>
            </a:r>
          </a:p>
        </p:txBody>
      </p:sp>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30"/>
            <a:fld id="{1D8BD707-D9CF-40AE-B4C6-C98DA3205C09}" type="datetimeFigureOut">
              <a:rPr lang="en-US" smtClean="0">
                <a:solidFill>
                  <a:prstClr val="black">
                    <a:tint val="75000"/>
                  </a:prstClr>
                </a:solidFill>
              </a:rPr>
              <a:pPr defTabSz="609630"/>
              <a:t>2025-08-19</a:t>
            </a:fld>
            <a:endParaRPr lang="en-US">
              <a:solidFill>
                <a:prstClr val="black">
                  <a:tint val="75000"/>
                </a:prstClr>
              </a:solidFill>
            </a:endParaRPr>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30"/>
            <a:endParaRPr lang="en-US">
              <a:solidFill>
                <a:prstClr val="black">
                  <a:tint val="75000"/>
                </a:prstClr>
              </a:solidFill>
            </a:endParaRPr>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30"/>
            <a:fld id="{B6F15528-21DE-4FAA-801E-634DDDAF4B2B}" type="slidenum">
              <a:rPr lang="en-US" smtClean="0">
                <a:solidFill>
                  <a:prstClr val="black">
                    <a:tint val="75000"/>
                  </a:prstClr>
                </a:solidFill>
              </a:rPr>
              <a:pPr defTabSz="609630"/>
              <a:t>‹#›</a:t>
            </a:fld>
            <a:endParaRPr lang="en-US">
              <a:solidFill>
                <a:prstClr val="black">
                  <a:tint val="75000"/>
                </a:prstClr>
              </a:solidFill>
            </a:endParaRPr>
          </a:p>
        </p:txBody>
      </p:sp>
    </p:spTree>
    <p:extLst>
      <p:ext uri="{BB962C8B-B14F-4D97-AF65-F5344CB8AC3E}">
        <p14:creationId xmlns:p14="http://schemas.microsoft.com/office/powerpoint/2010/main" val="79684517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9.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9.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9.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9.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png"/><Relationship Id="rId2" Type="http://schemas.openxmlformats.org/officeDocument/2006/relationships/notesSlide" Target="../notesSlides/notesSlide11.xml"/><Relationship Id="rId16" Type="http://schemas.openxmlformats.org/officeDocument/2006/relationships/image" Target="../media/image34.svg"/><Relationship Id="rId1" Type="http://schemas.openxmlformats.org/officeDocument/2006/relationships/slideLayout" Target="../slideLayouts/slideLayout29.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jpg"/><Relationship Id="rId7" Type="http://schemas.openxmlformats.org/officeDocument/2006/relationships/image" Target="../media/image42.jpg"/><Relationship Id="rId2" Type="http://schemas.openxmlformats.org/officeDocument/2006/relationships/notesSlide" Target="../notesSlides/notesSlide15.xml"/><Relationship Id="rId1" Type="http://schemas.openxmlformats.org/officeDocument/2006/relationships/slideLayout" Target="../slideLayouts/slideLayout29.xml"/><Relationship Id="rId6" Type="http://schemas.openxmlformats.org/officeDocument/2006/relationships/image" Target="../media/image41.png"/><Relationship Id="rId5" Type="http://schemas.openxmlformats.org/officeDocument/2006/relationships/image" Target="../media/image40.jpg"/><Relationship Id="rId4" Type="http://schemas.openxmlformats.org/officeDocument/2006/relationships/image" Target="../media/image39.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29.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reeform: Shape 5"/>
          <p:cNvSpPr/>
          <p:nvPr/>
        </p:nvSpPr>
        <p:spPr>
          <a:xfrm flipH="1">
            <a:off x="0" y="0"/>
            <a:ext cx="4702526" cy="6858000"/>
          </a:xfrm>
          <a:custGeom>
            <a:avLst/>
            <a:gdLst>
              <a:gd name="connsiteX0" fmla="*/ 2544803 w 4702526"/>
              <a:gd name="connsiteY0" fmla="*/ 0 h 6858000"/>
              <a:gd name="connsiteX1" fmla="*/ 2683226 w 4702526"/>
              <a:gd name="connsiteY1" fmla="*/ 0 h 6858000"/>
              <a:gd name="connsiteX2" fmla="*/ 2856973 w 4702526"/>
              <a:gd name="connsiteY2" fmla="*/ 0 h 6858000"/>
              <a:gd name="connsiteX3" fmla="*/ 4702526 w 4702526"/>
              <a:gd name="connsiteY3" fmla="*/ 0 h 6858000"/>
              <a:gd name="connsiteX4" fmla="*/ 4702526 w 4702526"/>
              <a:gd name="connsiteY4" fmla="*/ 1845553 h 6858000"/>
              <a:gd name="connsiteX5" fmla="*/ 4702526 w 4702526"/>
              <a:gd name="connsiteY5" fmla="*/ 5012449 h 6858000"/>
              <a:gd name="connsiteX6" fmla="*/ 4702526 w 4702526"/>
              <a:gd name="connsiteY6" fmla="*/ 6858000 h 6858000"/>
              <a:gd name="connsiteX7" fmla="*/ 2856974 w 4702526"/>
              <a:gd name="connsiteY7" fmla="*/ 6858000 h 6858000"/>
              <a:gd name="connsiteX8" fmla="*/ 2683226 w 4702526"/>
              <a:gd name="connsiteY8" fmla="*/ 6858000 h 6858000"/>
              <a:gd name="connsiteX9" fmla="*/ 2544801 w 4702526"/>
              <a:gd name="connsiteY9" fmla="*/ 6858000 h 6858000"/>
              <a:gd name="connsiteX10" fmla="*/ 625224 w 4702526"/>
              <a:gd name="connsiteY10" fmla="*/ 4938422 h 6858000"/>
              <a:gd name="connsiteX11" fmla="*/ 625224 w 4702526"/>
              <a:gd name="connsiteY11" fmla="*/ 19195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2544803" y="0"/>
                </a:moveTo>
                <a:lnTo>
                  <a:pt x="2683226" y="0"/>
                </a:lnTo>
                <a:lnTo>
                  <a:pt x="2856973" y="0"/>
                </a:lnTo>
                <a:lnTo>
                  <a:pt x="4702526" y="0"/>
                </a:lnTo>
                <a:lnTo>
                  <a:pt x="4702526" y="1845553"/>
                </a:lnTo>
                <a:lnTo>
                  <a:pt x="4702526" y="5012449"/>
                </a:lnTo>
                <a:lnTo>
                  <a:pt x="4702526" y="6858000"/>
                </a:lnTo>
                <a:lnTo>
                  <a:pt x="2856974" y="6858000"/>
                </a:lnTo>
                <a:lnTo>
                  <a:pt x="2683226" y="6858000"/>
                </a:lnTo>
                <a:lnTo>
                  <a:pt x="2544801" y="6858000"/>
                </a:lnTo>
                <a:lnTo>
                  <a:pt x="625224" y="4938422"/>
                </a:lnTo>
                <a:cubicBezTo>
                  <a:pt x="-208408" y="4104789"/>
                  <a:pt x="-208408" y="2753212"/>
                  <a:pt x="625224" y="1919580"/>
                </a:cubicBezTo>
                <a:close/>
              </a:path>
            </a:pathLst>
          </a:custGeom>
          <a:gradFill>
            <a:gsLst>
              <a:gs pos="0">
                <a:schemeClr val="accent5">
                  <a:alpha val="88000"/>
                </a:schemeClr>
              </a:gs>
              <a:gs pos="100000">
                <a:schemeClr val="accent1">
                  <a:alpha val="88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5" name="Freeform: Shape 4"/>
          <p:cNvSpPr/>
          <p:nvPr/>
        </p:nvSpPr>
        <p:spPr>
          <a:xfrm flipH="1">
            <a:off x="190500" y="0"/>
            <a:ext cx="4953350" cy="6858000"/>
          </a:xfrm>
          <a:custGeom>
            <a:avLst/>
            <a:gdLst>
              <a:gd name="connsiteX0" fmla="*/ 2497642 w 4953350"/>
              <a:gd name="connsiteY0" fmla="*/ 0 h 6858000"/>
              <a:gd name="connsiteX1" fmla="*/ 4953350 w 4953350"/>
              <a:gd name="connsiteY1" fmla="*/ 0 h 6858000"/>
              <a:gd name="connsiteX2" fmla="*/ 4953350 w 4953350"/>
              <a:gd name="connsiteY2" fmla="*/ 1761095 h 6858000"/>
              <a:gd name="connsiteX3" fmla="*/ 4953350 w 4953350"/>
              <a:gd name="connsiteY3" fmla="*/ 5096907 h 6858000"/>
              <a:gd name="connsiteX4" fmla="*/ 4953350 w 4953350"/>
              <a:gd name="connsiteY4" fmla="*/ 6858000 h 6858000"/>
              <a:gd name="connsiteX5" fmla="*/ 2497640 w 4953350"/>
              <a:gd name="connsiteY5" fmla="*/ 6858000 h 6858000"/>
              <a:gd name="connsiteX6" fmla="*/ 658573 w 4953350"/>
              <a:gd name="connsiteY6" fmla="*/ 5018932 h 6858000"/>
              <a:gd name="connsiteX7" fmla="*/ 658573 w 4953350"/>
              <a:gd name="connsiteY7" fmla="*/ 18390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3350" h="6858000">
                <a:moveTo>
                  <a:pt x="2497642" y="0"/>
                </a:moveTo>
                <a:lnTo>
                  <a:pt x="4953350" y="0"/>
                </a:lnTo>
                <a:lnTo>
                  <a:pt x="4953350" y="1761095"/>
                </a:lnTo>
                <a:lnTo>
                  <a:pt x="4953350" y="5096907"/>
                </a:lnTo>
                <a:lnTo>
                  <a:pt x="4953350" y="6858000"/>
                </a:lnTo>
                <a:lnTo>
                  <a:pt x="2497640" y="6858000"/>
                </a:lnTo>
                <a:lnTo>
                  <a:pt x="658573" y="5018932"/>
                </a:lnTo>
                <a:cubicBezTo>
                  <a:pt x="-219524" y="4140834"/>
                  <a:pt x="-219524" y="2717167"/>
                  <a:pt x="658573" y="1839071"/>
                </a:cubicBezTo>
                <a:close/>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pic>
        <p:nvPicPr>
          <p:cNvPr id="22" name="图片占位符 21"/>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0" y="0"/>
            <a:ext cx="4702526" cy="6858000"/>
          </a:xfrm>
        </p:spPr>
      </p:pic>
      <p:grpSp>
        <p:nvGrpSpPr>
          <p:cNvPr id="30" name="Group 20"/>
          <p:cNvGrpSpPr/>
          <p:nvPr/>
        </p:nvGrpSpPr>
        <p:grpSpPr>
          <a:xfrm>
            <a:off x="6183476" y="4902715"/>
            <a:ext cx="5122842" cy="0"/>
            <a:chOff x="782404" y="2374232"/>
            <a:chExt cx="5122842" cy="0"/>
          </a:xfrm>
        </p:grpSpPr>
        <p:cxnSp>
          <p:nvCxnSpPr>
            <p:cNvPr id="31" name="Straight Connector 21"/>
            <p:cNvCxnSpPr>
              <a:cxnSpLocks/>
            </p:cNvCxnSpPr>
            <p:nvPr/>
          </p:nvCxnSpPr>
          <p:spPr>
            <a:xfrm>
              <a:off x="782404" y="2374232"/>
              <a:ext cx="5122842"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2" name="Straight Connector 22"/>
            <p:cNvCxnSpPr/>
            <p:nvPr/>
          </p:nvCxnSpPr>
          <p:spPr>
            <a:xfrm>
              <a:off x="782404" y="2374232"/>
              <a:ext cx="104992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1" name="Rounded Rectangle 7">
            <a:extLst>
              <a:ext uri="{FF2B5EF4-FFF2-40B4-BE49-F238E27FC236}">
                <a16:creationId xmlns:a16="http://schemas.microsoft.com/office/drawing/2014/main" id="{2FDB029E-52C2-EBD1-8333-8B73CC993480}"/>
              </a:ext>
            </a:extLst>
          </p:cNvPr>
          <p:cNvSpPr/>
          <p:nvPr/>
        </p:nvSpPr>
        <p:spPr>
          <a:xfrm>
            <a:off x="9561250" y="268533"/>
            <a:ext cx="2315635" cy="413563"/>
          </a:xfrm>
          <a:prstGeom prst="roundRect">
            <a:avLst>
              <a:gd name="adj" fmla="val 50000"/>
            </a:avLst>
          </a:prstGeom>
          <a:solidFill>
            <a:schemeClr val="bg1">
              <a:alpha val="0"/>
            </a:schemeClr>
          </a:solidFill>
          <a:ln w="158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700">
                <a:solidFill>
                  <a:srgbClr val="CD0A17"/>
                </a:solidFill>
                <a:latin typeface="Cambria" panose="02040503050406030204" pitchFamily="18" charset="0"/>
                <a:ea typeface="Cambria" panose="02040503050406030204" pitchFamily="18" charset="0"/>
              </a:rPr>
              <a:t>COMPUTER</a:t>
            </a:r>
            <a:endParaRPr lang="ko-KR" altLang="en-US" sz="2700" dirty="0">
              <a:solidFill>
                <a:srgbClr val="CD0A17"/>
              </a:solidFill>
              <a:latin typeface="Cambria" panose="02040503050406030204" pitchFamily="18" charset="0"/>
            </a:endParaRPr>
          </a:p>
        </p:txBody>
      </p:sp>
      <p:sp>
        <p:nvSpPr>
          <p:cNvPr id="24" name="TextBox 9"/>
          <p:cNvSpPr txBox="1"/>
          <p:nvPr/>
        </p:nvSpPr>
        <p:spPr>
          <a:xfrm>
            <a:off x="5050830" y="2480566"/>
            <a:ext cx="7071433" cy="1384995"/>
          </a:xfrm>
          <a:prstGeom prst="rect">
            <a:avLst/>
          </a:prstGeom>
          <a:noFill/>
        </p:spPr>
        <p:txBody>
          <a:bodyPr wrap="square" rtlCol="0">
            <a:spAutoFit/>
          </a:bodyPr>
          <a:lstStyle/>
          <a:p>
            <a:pPr algn="ctr"/>
            <a:r>
              <a:rPr lang="en-US" sz="4200">
                <a:latin typeface="Cambria" panose="02040503050406030204" pitchFamily="18" charset="0"/>
                <a:ea typeface="Cambria" panose="02040503050406030204" pitchFamily="18" charset="0"/>
                <a:cs typeface="Sarabun" panose="00000500000000000000" pitchFamily="2" charset="-34"/>
                <a:sym typeface="+mn-lt"/>
              </a:rPr>
              <a:t>KICKOFF CHƯƠNG TRÌNH </a:t>
            </a:r>
          </a:p>
          <a:p>
            <a:pPr algn="ctr"/>
            <a:r>
              <a:rPr lang="en-US" sz="4200">
                <a:latin typeface="Cambria" panose="02040503050406030204" pitchFamily="18" charset="0"/>
                <a:ea typeface="Cambria" panose="02040503050406030204" pitchFamily="18" charset="0"/>
                <a:cs typeface="Sarabun" panose="00000500000000000000" pitchFamily="2" charset="-34"/>
                <a:sym typeface="+mn-lt"/>
              </a:rPr>
              <a:t>…</a:t>
            </a:r>
            <a:endParaRPr lang="en-US" sz="4200" dirty="0">
              <a:latin typeface="Cambria" panose="02040503050406030204" pitchFamily="18" charset="0"/>
              <a:ea typeface="Cambria" panose="02040503050406030204" pitchFamily="18" charset="0"/>
              <a:cs typeface="Sarabun" panose="00000500000000000000" pitchFamily="2" charset="-34"/>
              <a:sym typeface="+mn-lt"/>
            </a:endParaRPr>
          </a:p>
        </p:txBody>
      </p:sp>
      <p:sp>
        <p:nvSpPr>
          <p:cNvPr id="26" name="TextBox 25">
            <a:extLst>
              <a:ext uri="{FF2B5EF4-FFF2-40B4-BE49-F238E27FC236}">
                <a16:creationId xmlns:a16="http://schemas.microsoft.com/office/drawing/2014/main" id="{D6C66D1B-EB69-4280-A3CB-6EF57172B2CD}"/>
              </a:ext>
            </a:extLst>
          </p:cNvPr>
          <p:cNvSpPr txBox="1"/>
          <p:nvPr/>
        </p:nvSpPr>
        <p:spPr>
          <a:xfrm>
            <a:off x="6852698" y="1264505"/>
            <a:ext cx="3784397" cy="1107996"/>
          </a:xfrm>
          <a:prstGeom prst="rect">
            <a:avLst/>
          </a:prstGeom>
          <a:noFill/>
        </p:spPr>
        <p:txBody>
          <a:bodyPr wrap="square" rtlCol="0">
            <a:spAutoFit/>
          </a:bodyPr>
          <a:lstStyle/>
          <a:p>
            <a:pPr defTabSz="1219232">
              <a:defRPr/>
            </a:pPr>
            <a:r>
              <a:rPr lang="en-US" sz="6600" b="1">
                <a:solidFill>
                  <a:srgbClr val="C0504D">
                    <a:lumMod val="75000"/>
                  </a:srgbClr>
                </a:solidFill>
                <a:latin typeface="Cambria" panose="02040503050406030204" pitchFamily="18" charset="0"/>
                <a:ea typeface="Cambria" panose="02040503050406030204" pitchFamily="18" charset="0"/>
              </a:rPr>
              <a:t>BÁO CÁO</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icture Placeholder 17"/>
          <p:cNvSpPr>
            <a:spLocks noGrp="1"/>
          </p:cNvSpPr>
          <p:nvPr>
            <p:ph type="pic" sz="quarter" idx="11"/>
          </p:nvPr>
        </p:nvSpPr>
        <p:spPr/>
        <p:txBody>
          <a:bodyPr/>
          <a:lstStyle/>
          <a:p>
            <a:endParaRPr/>
          </a:p>
        </p:txBody>
      </p:sp>
      <p:sp>
        <p:nvSpPr>
          <p:cNvPr id="3" name="Freeform: Shape 2"/>
          <p:cNvSpPr/>
          <p:nvPr/>
        </p:nvSpPr>
        <p:spPr>
          <a:xfrm flipH="1">
            <a:off x="1912685" y="0"/>
            <a:ext cx="4702526" cy="6858000"/>
          </a:xfrm>
          <a:custGeom>
            <a:avLst/>
            <a:gdLst>
              <a:gd name="connsiteX0" fmla="*/ 2544803 w 4702526"/>
              <a:gd name="connsiteY0" fmla="*/ 0 h 6858000"/>
              <a:gd name="connsiteX1" fmla="*/ 2683226 w 4702526"/>
              <a:gd name="connsiteY1" fmla="*/ 0 h 6858000"/>
              <a:gd name="connsiteX2" fmla="*/ 2856973 w 4702526"/>
              <a:gd name="connsiteY2" fmla="*/ 0 h 6858000"/>
              <a:gd name="connsiteX3" fmla="*/ 4702526 w 4702526"/>
              <a:gd name="connsiteY3" fmla="*/ 0 h 6858000"/>
              <a:gd name="connsiteX4" fmla="*/ 4702526 w 4702526"/>
              <a:gd name="connsiteY4" fmla="*/ 1845553 h 6858000"/>
              <a:gd name="connsiteX5" fmla="*/ 4702526 w 4702526"/>
              <a:gd name="connsiteY5" fmla="*/ 5012449 h 6858000"/>
              <a:gd name="connsiteX6" fmla="*/ 4702526 w 4702526"/>
              <a:gd name="connsiteY6" fmla="*/ 6858000 h 6858000"/>
              <a:gd name="connsiteX7" fmla="*/ 2856974 w 4702526"/>
              <a:gd name="connsiteY7" fmla="*/ 6858000 h 6858000"/>
              <a:gd name="connsiteX8" fmla="*/ 2683226 w 4702526"/>
              <a:gd name="connsiteY8" fmla="*/ 6858000 h 6858000"/>
              <a:gd name="connsiteX9" fmla="*/ 2544801 w 4702526"/>
              <a:gd name="connsiteY9" fmla="*/ 6858000 h 6858000"/>
              <a:gd name="connsiteX10" fmla="*/ 625224 w 4702526"/>
              <a:gd name="connsiteY10" fmla="*/ 4938422 h 6858000"/>
              <a:gd name="connsiteX11" fmla="*/ 625224 w 4702526"/>
              <a:gd name="connsiteY11" fmla="*/ 19195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2526" h="6858000">
                <a:moveTo>
                  <a:pt x="2544803" y="0"/>
                </a:moveTo>
                <a:lnTo>
                  <a:pt x="2683226" y="0"/>
                </a:lnTo>
                <a:lnTo>
                  <a:pt x="2856973" y="0"/>
                </a:lnTo>
                <a:lnTo>
                  <a:pt x="4702526" y="0"/>
                </a:lnTo>
                <a:lnTo>
                  <a:pt x="4702526" y="1845553"/>
                </a:lnTo>
                <a:lnTo>
                  <a:pt x="4702526" y="5012449"/>
                </a:lnTo>
                <a:lnTo>
                  <a:pt x="4702526" y="6858000"/>
                </a:lnTo>
                <a:lnTo>
                  <a:pt x="2856974" y="6858000"/>
                </a:lnTo>
                <a:lnTo>
                  <a:pt x="2683226" y="6858000"/>
                </a:lnTo>
                <a:lnTo>
                  <a:pt x="2544801" y="6858000"/>
                </a:lnTo>
                <a:lnTo>
                  <a:pt x="625224" y="4938422"/>
                </a:lnTo>
                <a:cubicBezTo>
                  <a:pt x="-208408" y="4104789"/>
                  <a:pt x="-208408" y="2753212"/>
                  <a:pt x="625224" y="1919580"/>
                </a:cubicBezTo>
                <a:close/>
              </a:path>
            </a:pathLst>
          </a:custGeom>
          <a:gradFill>
            <a:gsLst>
              <a:gs pos="0">
                <a:srgbClr val="D9717D"/>
              </a:gs>
              <a:gs pos="100000">
                <a:srgbClr val="E32E37"/>
              </a:gs>
            </a:gsLst>
            <a:lin ang="66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cs typeface="+mn-ea"/>
              <a:sym typeface="+mn-lt"/>
            </a:endParaRPr>
          </a:p>
        </p:txBody>
      </p:sp>
      <p:sp>
        <p:nvSpPr>
          <p:cNvPr id="4" name="Freeform: Shape 3"/>
          <p:cNvSpPr/>
          <p:nvPr/>
        </p:nvSpPr>
        <p:spPr>
          <a:xfrm flipH="1">
            <a:off x="190500" y="0"/>
            <a:ext cx="4953350" cy="6858000"/>
          </a:xfrm>
          <a:custGeom>
            <a:avLst/>
            <a:gdLst>
              <a:gd name="connsiteX0" fmla="*/ 2497642 w 4953350"/>
              <a:gd name="connsiteY0" fmla="*/ 0 h 6858000"/>
              <a:gd name="connsiteX1" fmla="*/ 4953350 w 4953350"/>
              <a:gd name="connsiteY1" fmla="*/ 0 h 6858000"/>
              <a:gd name="connsiteX2" fmla="*/ 4953350 w 4953350"/>
              <a:gd name="connsiteY2" fmla="*/ 1761095 h 6858000"/>
              <a:gd name="connsiteX3" fmla="*/ 4953350 w 4953350"/>
              <a:gd name="connsiteY3" fmla="*/ 5096907 h 6858000"/>
              <a:gd name="connsiteX4" fmla="*/ 4953350 w 4953350"/>
              <a:gd name="connsiteY4" fmla="*/ 6858000 h 6858000"/>
              <a:gd name="connsiteX5" fmla="*/ 2497640 w 4953350"/>
              <a:gd name="connsiteY5" fmla="*/ 6858000 h 6858000"/>
              <a:gd name="connsiteX6" fmla="*/ 658573 w 4953350"/>
              <a:gd name="connsiteY6" fmla="*/ 5018932 h 6858000"/>
              <a:gd name="connsiteX7" fmla="*/ 658573 w 4953350"/>
              <a:gd name="connsiteY7" fmla="*/ 183907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3350" h="6858000">
                <a:moveTo>
                  <a:pt x="2497642" y="0"/>
                </a:moveTo>
                <a:lnTo>
                  <a:pt x="4953350" y="0"/>
                </a:lnTo>
                <a:lnTo>
                  <a:pt x="4953350" y="1761095"/>
                </a:lnTo>
                <a:lnTo>
                  <a:pt x="4953350" y="5096907"/>
                </a:lnTo>
                <a:lnTo>
                  <a:pt x="4953350" y="6858000"/>
                </a:lnTo>
                <a:lnTo>
                  <a:pt x="2497640" y="6858000"/>
                </a:lnTo>
                <a:lnTo>
                  <a:pt x="658573" y="5018932"/>
                </a:lnTo>
                <a:cubicBezTo>
                  <a:pt x="-219524" y="4140834"/>
                  <a:pt x="-219524" y="2717167"/>
                  <a:pt x="658573" y="1839071"/>
                </a:cubicBezTo>
                <a:close/>
              </a:path>
            </a:pathLst>
          </a:cu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4" name="+123456789000"/>
          <p:cNvSpPr txBox="1"/>
          <p:nvPr/>
        </p:nvSpPr>
        <p:spPr>
          <a:xfrm>
            <a:off x="6895104" y="2323470"/>
            <a:ext cx="4904085" cy="412805"/>
          </a:xfrm>
          <a:prstGeom prst="rect">
            <a:avLst/>
          </a:prstGeom>
          <a:ln w="12700">
            <a:miter lim="400000"/>
          </a:ln>
        </p:spPr>
        <p:txBody>
          <a:bodyPr wrap="square" lIns="50800" tIns="50800" rIns="50800" bIns="50800" anchor="b">
            <a:spAutoFit/>
          </a:bodyPr>
          <a:lstStyle>
            <a:lvl1pPr algn="just">
              <a:lnSpc>
                <a:spcPct val="120000"/>
              </a:lnSpc>
              <a:defRPr sz="3000" cap="none" spc="90">
                <a:solidFill>
                  <a:srgbClr val="FFFFFF"/>
                </a:solidFill>
                <a:latin typeface="Montserrat-Regular"/>
                <a:ea typeface="Montserrat-Regular"/>
                <a:cs typeface="Montserrat-Regular"/>
                <a:sym typeface="Montserrat-Regular"/>
              </a:defRPr>
            </a:lvl1pPr>
          </a:lstStyle>
          <a:p>
            <a:pPr algn="l"/>
            <a:r>
              <a:rPr lang="en-US" sz="1800" b="1">
                <a:solidFill>
                  <a:schemeClr val="tx1"/>
                </a:solidFill>
                <a:latin typeface="+mn-lt"/>
                <a:ea typeface="Cambria" panose="02040503050406030204" pitchFamily="18" charset="0"/>
                <a:cs typeface="Sarabun" panose="00000500000000000000" pitchFamily="2" charset="-34"/>
                <a:sym typeface="+mn-lt"/>
              </a:rPr>
              <a:t>KẾT QUẢ …</a:t>
            </a:r>
            <a:endParaRPr lang="en-GB" sz="1800" b="1">
              <a:solidFill>
                <a:schemeClr val="tx1"/>
              </a:solidFill>
              <a:latin typeface="+mn-lt"/>
              <a:ea typeface="Cambria" panose="02040503050406030204" pitchFamily="18" charset="0"/>
              <a:cs typeface="Sarabun" panose="00000500000000000000" pitchFamily="2" charset="-34"/>
              <a:sym typeface="+mn-lt"/>
            </a:endParaRPr>
          </a:p>
        </p:txBody>
      </p:sp>
      <p:pic>
        <p:nvPicPr>
          <p:cNvPr id="6" name="图片占位符 5"/>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1" y="112511"/>
            <a:ext cx="4971495" cy="6632978"/>
          </a:xfrm>
        </p:spPr>
      </p:pic>
      <p:grpSp>
        <p:nvGrpSpPr>
          <p:cNvPr id="22" name="Group 21"/>
          <p:cNvGrpSpPr/>
          <p:nvPr/>
        </p:nvGrpSpPr>
        <p:grpSpPr>
          <a:xfrm>
            <a:off x="5990925" y="2212237"/>
            <a:ext cx="702754" cy="690248"/>
            <a:chOff x="6179856" y="2467192"/>
            <a:chExt cx="702754" cy="690248"/>
          </a:xfrm>
        </p:grpSpPr>
        <p:sp>
          <p:nvSpPr>
            <p:cNvPr id="10" name="Oval 9"/>
            <p:cNvSpPr/>
            <p:nvPr/>
          </p:nvSpPr>
          <p:spPr>
            <a:xfrm>
              <a:off x="6179856" y="2467192"/>
              <a:ext cx="702754" cy="690248"/>
            </a:xfrm>
            <a:prstGeom prst="ellipse">
              <a:avLst/>
            </a:prstGeom>
            <a:solidFill>
              <a:schemeClr val="bg2"/>
            </a:solidFill>
            <a:ln w="127000">
              <a:solidFill>
                <a:schemeClr val="bg2">
                  <a:alpha val="50000"/>
                </a:schemeClr>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sp>
          <p:nvSpPr>
            <p:cNvPr id="2" name="TextBox 1"/>
            <p:cNvSpPr txBox="1"/>
            <p:nvPr/>
          </p:nvSpPr>
          <p:spPr>
            <a:xfrm>
              <a:off x="6247372" y="2578425"/>
              <a:ext cx="567722" cy="461665"/>
            </a:xfrm>
            <a:prstGeom prst="rect">
              <a:avLst/>
            </a:prstGeom>
            <a:noFill/>
          </p:spPr>
          <p:txBody>
            <a:bodyPr wrap="square" rtlCol="0">
              <a:spAutoFit/>
            </a:bodyPr>
            <a:lstStyle/>
            <a:p>
              <a:r>
                <a:rPr lang="en-US" sz="2400" b="1">
                  <a:latin typeface="Cambria" panose="02040503050406030204" pitchFamily="18" charset="0"/>
                  <a:ea typeface="Cambria" panose="02040503050406030204" pitchFamily="18" charset="0"/>
                </a:rPr>
                <a:t>01</a:t>
              </a:r>
            </a:p>
          </p:txBody>
        </p:sp>
      </p:grpSp>
      <p:sp>
        <p:nvSpPr>
          <p:cNvPr id="55" name="TextBox 54">
            <a:extLst>
              <a:ext uri="{FF2B5EF4-FFF2-40B4-BE49-F238E27FC236}">
                <a16:creationId xmlns:a16="http://schemas.microsoft.com/office/drawing/2014/main" id="{D6C66D1B-EB69-4280-A3CB-6EF57172B2CD}"/>
              </a:ext>
            </a:extLst>
          </p:cNvPr>
          <p:cNvSpPr txBox="1"/>
          <p:nvPr/>
        </p:nvSpPr>
        <p:spPr>
          <a:xfrm>
            <a:off x="8033221" y="900774"/>
            <a:ext cx="2944713" cy="707886"/>
          </a:xfrm>
          <a:prstGeom prst="rect">
            <a:avLst/>
          </a:prstGeom>
          <a:noFill/>
        </p:spPr>
        <p:txBody>
          <a:bodyPr wrap="square" rtlCol="0">
            <a:spAutoFit/>
          </a:bodyPr>
          <a:lstStyle/>
          <a:p>
            <a:pPr defTabSz="1219232">
              <a:defRPr/>
            </a:pPr>
            <a:r>
              <a:rPr lang="en-US" sz="4000" b="1">
                <a:solidFill>
                  <a:srgbClr val="C0504D">
                    <a:lumMod val="75000"/>
                  </a:srgbClr>
                </a:solidFill>
                <a:latin typeface="Cambria" panose="02040503050406030204" pitchFamily="18" charset="0"/>
                <a:ea typeface="Cambria" panose="02040503050406030204" pitchFamily="18" charset="0"/>
              </a:rPr>
              <a:t>NỘI DUNG</a:t>
            </a:r>
          </a:p>
        </p:txBody>
      </p:sp>
      <p:sp>
        <p:nvSpPr>
          <p:cNvPr id="56" name="+123456789000"/>
          <p:cNvSpPr txBox="1"/>
          <p:nvPr/>
        </p:nvSpPr>
        <p:spPr>
          <a:xfrm>
            <a:off x="6615211" y="4629973"/>
            <a:ext cx="5183978" cy="412805"/>
          </a:xfrm>
          <a:prstGeom prst="rect">
            <a:avLst/>
          </a:prstGeom>
          <a:ln w="12700">
            <a:miter lim="400000"/>
          </a:ln>
        </p:spPr>
        <p:txBody>
          <a:bodyPr wrap="square" lIns="50800" tIns="50800" rIns="50800" bIns="50800" anchor="b">
            <a:spAutoFit/>
          </a:bodyPr>
          <a:lstStyle>
            <a:lvl1pPr algn="just">
              <a:lnSpc>
                <a:spcPct val="120000"/>
              </a:lnSpc>
              <a:defRPr sz="3000" cap="none" spc="90">
                <a:solidFill>
                  <a:srgbClr val="FFFFFF"/>
                </a:solidFill>
                <a:latin typeface="Montserrat-Regular"/>
                <a:ea typeface="Montserrat-Regular"/>
                <a:cs typeface="Montserrat-Regular"/>
                <a:sym typeface="Montserrat-Regular"/>
              </a:defRPr>
            </a:lvl1pPr>
          </a:lstStyle>
          <a:p>
            <a:pPr algn="l"/>
            <a:r>
              <a:rPr lang="en-US" sz="1800" b="1">
                <a:solidFill>
                  <a:schemeClr val="tx1"/>
                </a:solidFill>
                <a:latin typeface="+mn-lt"/>
                <a:ea typeface="Cambria" panose="02040503050406030204" pitchFamily="18" charset="0"/>
                <a:cs typeface="Sarabun" panose="00000500000000000000" pitchFamily="2" charset="-34"/>
                <a:sym typeface="+mn-lt"/>
              </a:rPr>
              <a:t>KẾ HOẠCH …</a:t>
            </a:r>
            <a:endParaRPr lang="en-GB" sz="1800" b="1">
              <a:solidFill>
                <a:schemeClr val="tx1"/>
              </a:solidFill>
              <a:latin typeface="+mn-lt"/>
              <a:ea typeface="Cambria" panose="02040503050406030204" pitchFamily="18" charset="0"/>
              <a:cs typeface="Sarabun" panose="00000500000000000000" pitchFamily="2" charset="-34"/>
              <a:sym typeface="+mn-lt"/>
            </a:endParaRPr>
          </a:p>
        </p:txBody>
      </p:sp>
      <p:grpSp>
        <p:nvGrpSpPr>
          <p:cNvPr id="57" name="Group 56"/>
          <p:cNvGrpSpPr/>
          <p:nvPr/>
        </p:nvGrpSpPr>
        <p:grpSpPr>
          <a:xfrm>
            <a:off x="5740449" y="4518740"/>
            <a:ext cx="702754" cy="690248"/>
            <a:chOff x="6179856" y="2467192"/>
            <a:chExt cx="702754" cy="690248"/>
          </a:xfrm>
        </p:grpSpPr>
        <p:sp>
          <p:nvSpPr>
            <p:cNvPr id="58" name="Oval 57"/>
            <p:cNvSpPr/>
            <p:nvPr/>
          </p:nvSpPr>
          <p:spPr>
            <a:xfrm>
              <a:off x="6179856" y="2467192"/>
              <a:ext cx="702754" cy="690248"/>
            </a:xfrm>
            <a:prstGeom prst="ellipse">
              <a:avLst/>
            </a:prstGeom>
            <a:solidFill>
              <a:schemeClr val="bg2"/>
            </a:solidFill>
            <a:ln w="127000">
              <a:solidFill>
                <a:schemeClr val="bg2">
                  <a:alpha val="50000"/>
                </a:schemeClr>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sp>
          <p:nvSpPr>
            <p:cNvPr id="59" name="TextBox 58"/>
            <p:cNvSpPr txBox="1"/>
            <p:nvPr/>
          </p:nvSpPr>
          <p:spPr>
            <a:xfrm>
              <a:off x="6247372" y="2578425"/>
              <a:ext cx="567722" cy="461665"/>
            </a:xfrm>
            <a:prstGeom prst="rect">
              <a:avLst/>
            </a:prstGeom>
            <a:noFill/>
          </p:spPr>
          <p:txBody>
            <a:bodyPr wrap="square" rtlCol="0">
              <a:spAutoFit/>
            </a:bodyPr>
            <a:lstStyle/>
            <a:p>
              <a:r>
                <a:rPr lang="en-US" sz="2400" b="1">
                  <a:latin typeface="Cambria" panose="02040503050406030204" pitchFamily="18" charset="0"/>
                  <a:ea typeface="Cambria" panose="02040503050406030204" pitchFamily="18" charset="0"/>
                </a:rPr>
                <a:t>02</a:t>
              </a: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占位符 3" descr="图片包含 游戏机, 键盘, 电脑&#10;&#10;描述已自动生成"/>
          <p:cNvPicPr>
            <a:picLocks noGrp="1" noChangeAspect="1"/>
          </p:cNvPicPr>
          <p:nvPr>
            <p:ph type="pic" sz="quarter" idx="10"/>
          </p:nvPr>
        </p:nvPicPr>
        <p:blipFill>
          <a:blip r:embed="rId3"/>
          <a:stretch>
            <a:fillRect/>
          </a:stretch>
        </p:blipFill>
        <p:spPr/>
      </p:pic>
      <p:sp>
        <p:nvSpPr>
          <p:cNvPr id="37" name="Rectangle 36"/>
          <p:cNvSpPr/>
          <p:nvPr/>
        </p:nvSpPr>
        <p:spPr>
          <a:xfrm>
            <a:off x="0" y="0"/>
            <a:ext cx="12192000" cy="6858000"/>
          </a:xfrm>
          <a:prstGeom prst="rect">
            <a:avLst/>
          </a:prstGeom>
          <a:gradFill>
            <a:gsLst>
              <a:gs pos="0">
                <a:schemeClr val="bg1">
                  <a:alpha val="88000"/>
                </a:schemeClr>
              </a:gs>
              <a:gs pos="100000">
                <a:schemeClr val="bg1">
                  <a:alpha val="88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grpSp>
        <p:nvGrpSpPr>
          <p:cNvPr id="24" name="Group 23"/>
          <p:cNvGrpSpPr/>
          <p:nvPr/>
        </p:nvGrpSpPr>
        <p:grpSpPr>
          <a:xfrm>
            <a:off x="4175316" y="2613025"/>
            <a:ext cx="3714369" cy="1630680"/>
            <a:chOff x="782404" y="2526632"/>
            <a:chExt cx="3714369" cy="1630680"/>
          </a:xfrm>
        </p:grpSpPr>
        <p:grpSp>
          <p:nvGrpSpPr>
            <p:cNvPr id="20" name="Group 19"/>
            <p:cNvGrpSpPr/>
            <p:nvPr/>
          </p:nvGrpSpPr>
          <p:grpSpPr>
            <a:xfrm>
              <a:off x="782404" y="2526632"/>
              <a:ext cx="3714369" cy="0"/>
              <a:chOff x="782404" y="2374232"/>
              <a:chExt cx="3714369" cy="0"/>
            </a:xfrm>
          </p:grpSpPr>
          <p:cxnSp>
            <p:nvCxnSpPr>
              <p:cNvPr id="18" name="Straight Connector 17"/>
              <p:cNvCxnSpPr/>
              <p:nvPr/>
            </p:nvCxnSpPr>
            <p:spPr>
              <a:xfrm>
                <a:off x="782404" y="2374232"/>
                <a:ext cx="3714369"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82404" y="2374232"/>
                <a:ext cx="104992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782404" y="4157312"/>
              <a:ext cx="3714369" cy="0"/>
              <a:chOff x="782404" y="2374232"/>
              <a:chExt cx="3714369" cy="0"/>
            </a:xfrm>
          </p:grpSpPr>
          <p:cxnSp>
            <p:nvCxnSpPr>
              <p:cNvPr id="22" name="Straight Connector 21"/>
              <p:cNvCxnSpPr/>
              <p:nvPr/>
            </p:nvCxnSpPr>
            <p:spPr>
              <a:xfrm>
                <a:off x="782404" y="2374232"/>
                <a:ext cx="3714369"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82404" y="2374232"/>
                <a:ext cx="104992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grpSp>
        <p:nvGrpSpPr>
          <p:cNvPr id="32" name="Group 31"/>
          <p:cNvGrpSpPr/>
          <p:nvPr/>
        </p:nvGrpSpPr>
        <p:grpSpPr>
          <a:xfrm>
            <a:off x="1" y="4705350"/>
            <a:ext cx="2152650" cy="2152650"/>
            <a:chOff x="0" y="4114805"/>
            <a:chExt cx="2743195" cy="2743195"/>
          </a:xfrm>
          <a:gradFill>
            <a:gsLst>
              <a:gs pos="0">
                <a:srgbClr val="FE4444"/>
              </a:gs>
              <a:gs pos="100000">
                <a:srgbClr val="832B2B"/>
              </a:gs>
            </a:gsLst>
            <a:lin scaled="0"/>
          </a:gradFill>
        </p:grpSpPr>
        <p:sp>
          <p:nvSpPr>
            <p:cNvPr id="30" name="Graphic 3"/>
            <p:cNvSpPr/>
            <p:nvPr/>
          </p:nvSpPr>
          <p:spPr>
            <a:xfrm flipH="1" flipV="1">
              <a:off x="0" y="4114805"/>
              <a:ext cx="2743195" cy="274319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6350" cap="flat">
              <a:noFill/>
              <a:prstDash val="solid"/>
              <a:miter/>
            </a:ln>
          </p:spPr>
          <p:txBody>
            <a:bodyPr rtlCol="0" anchor="ctr"/>
            <a:lstStyle/>
            <a:p>
              <a:endParaRPr lang="en-US">
                <a:cs typeface="+mn-ea"/>
                <a:sym typeface="+mn-lt"/>
              </a:endParaRPr>
            </a:p>
          </p:txBody>
        </p:sp>
        <p:sp>
          <p:nvSpPr>
            <p:cNvPr id="31" name="Graphic 3"/>
            <p:cNvSpPr/>
            <p:nvPr/>
          </p:nvSpPr>
          <p:spPr>
            <a:xfrm flipH="1" flipV="1">
              <a:off x="0" y="4320545"/>
              <a:ext cx="2537455" cy="253745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19050" cap="flat">
              <a:solidFill>
                <a:schemeClr val="bg1"/>
              </a:solidFill>
              <a:prstDash val="solid"/>
              <a:miter/>
            </a:ln>
          </p:spPr>
          <p:txBody>
            <a:bodyPr rtlCol="0" anchor="ctr"/>
            <a:lstStyle/>
            <a:p>
              <a:endParaRPr lang="en-US">
                <a:cs typeface="+mn-ea"/>
                <a:sym typeface="+mn-lt"/>
              </a:endParaRPr>
            </a:p>
          </p:txBody>
        </p:sp>
      </p:grpSp>
      <p:grpSp>
        <p:nvGrpSpPr>
          <p:cNvPr id="33" name="Group 32"/>
          <p:cNvGrpSpPr/>
          <p:nvPr/>
        </p:nvGrpSpPr>
        <p:grpSpPr>
          <a:xfrm flipH="1" flipV="1">
            <a:off x="10039350" y="0"/>
            <a:ext cx="2152650" cy="2152650"/>
            <a:chOff x="0" y="4114805"/>
            <a:chExt cx="2743195" cy="2743195"/>
          </a:xfrm>
          <a:gradFill>
            <a:gsLst>
              <a:gs pos="0">
                <a:srgbClr val="FE4444"/>
              </a:gs>
              <a:gs pos="100000">
                <a:srgbClr val="832B2B"/>
              </a:gs>
            </a:gsLst>
            <a:lin scaled="0"/>
          </a:gradFill>
        </p:grpSpPr>
        <p:sp>
          <p:nvSpPr>
            <p:cNvPr id="34" name="Graphic 3"/>
            <p:cNvSpPr/>
            <p:nvPr/>
          </p:nvSpPr>
          <p:spPr>
            <a:xfrm flipH="1" flipV="1">
              <a:off x="0" y="4114805"/>
              <a:ext cx="2743195" cy="274319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6350" cap="flat">
              <a:noFill/>
              <a:prstDash val="solid"/>
              <a:miter/>
            </a:ln>
          </p:spPr>
          <p:txBody>
            <a:bodyPr rtlCol="0" anchor="ctr"/>
            <a:lstStyle/>
            <a:p>
              <a:endParaRPr lang="en-US">
                <a:cs typeface="+mn-ea"/>
                <a:sym typeface="+mn-lt"/>
              </a:endParaRPr>
            </a:p>
          </p:txBody>
        </p:sp>
        <p:sp>
          <p:nvSpPr>
            <p:cNvPr id="35" name="Graphic 3"/>
            <p:cNvSpPr/>
            <p:nvPr/>
          </p:nvSpPr>
          <p:spPr>
            <a:xfrm flipH="1" flipV="1">
              <a:off x="0" y="4320545"/>
              <a:ext cx="2537455" cy="253745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19050" cap="flat">
              <a:solidFill>
                <a:schemeClr val="bg1"/>
              </a:solidFill>
              <a:prstDash val="solid"/>
              <a:miter/>
            </a:ln>
          </p:spPr>
          <p:txBody>
            <a:bodyPr rtlCol="0" anchor="ctr"/>
            <a:lstStyle/>
            <a:p>
              <a:endParaRPr lang="en-US">
                <a:cs typeface="+mn-ea"/>
                <a:sym typeface="+mn-lt"/>
              </a:endParaRPr>
            </a:p>
          </p:txBody>
        </p:sp>
      </p:grpSp>
      <p:sp>
        <p:nvSpPr>
          <p:cNvPr id="25" name="TextBox 4">
            <a:extLst>
              <a:ext uri="{FF2B5EF4-FFF2-40B4-BE49-F238E27FC236}">
                <a16:creationId xmlns:a16="http://schemas.microsoft.com/office/drawing/2014/main" id="{EB684C7E-20A7-9694-F2D4-694B922B40F4}"/>
              </a:ext>
            </a:extLst>
          </p:cNvPr>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3">
                <a:solidFill>
                  <a:schemeClr val="tx1">
                    <a:alpha val="0"/>
                  </a:schemeClr>
                </a:solidFill>
                <a:latin typeface="微软雅黑" panose="020B0503020204020204" pitchFamily="34" charset="-122"/>
                <a:ea typeface="微软雅黑" panose="020B0503020204020204" pitchFamily="34" charset="-122"/>
              </a:rPr>
              <a:t>行业</a:t>
            </a:r>
            <a:r>
              <a:rPr lang="en-US" altLang="zh-CN" sz="133">
                <a:solidFill>
                  <a:schemeClr val="tx1">
                    <a:alpha val="0"/>
                  </a:schemeClr>
                </a:solidFill>
                <a:latin typeface="微软雅黑" panose="020B0503020204020204" pitchFamily="34" charset="-122"/>
                <a:ea typeface="微软雅黑" panose="020B0503020204020204" pitchFamily="34" charset="-122"/>
              </a:rPr>
              <a:t>PPT</a:t>
            </a:r>
            <a:r>
              <a:rPr lang="zh-CN" altLang="en-US" sz="133">
                <a:solidFill>
                  <a:schemeClr val="tx1">
                    <a:alpha val="0"/>
                  </a:schemeClr>
                </a:solidFill>
                <a:latin typeface="微软雅黑" panose="020B0503020204020204" pitchFamily="34" charset="-122"/>
                <a:ea typeface="微软雅黑" panose="020B0503020204020204" pitchFamily="34" charset="-122"/>
              </a:rPr>
              <a:t>模板</a:t>
            </a:r>
            <a:r>
              <a:rPr lang="en-US" altLang="zh-CN" sz="133">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26" name="TextBox 25"/>
          <p:cNvSpPr txBox="1"/>
          <p:nvPr/>
        </p:nvSpPr>
        <p:spPr>
          <a:xfrm>
            <a:off x="2006532" y="3167409"/>
            <a:ext cx="8275322" cy="584775"/>
          </a:xfrm>
          <a:prstGeom prst="rect">
            <a:avLst/>
          </a:prstGeom>
          <a:noFill/>
        </p:spPr>
        <p:txBody>
          <a:bodyPr wrap="square" rtlCol="0">
            <a:spAutoFit/>
          </a:bodyPr>
          <a:lstStyle/>
          <a:p>
            <a:pPr algn="ctr" defTabSz="1219232">
              <a:defRPr/>
            </a:pPr>
            <a:r>
              <a:rPr lang="vi-VN" sz="3200" b="1">
                <a:solidFill>
                  <a:schemeClr val="tx1">
                    <a:lumMod val="75000"/>
                    <a:lumOff val="25000"/>
                  </a:schemeClr>
                </a:solidFill>
                <a:latin typeface="FS Magistral Bold" panose="020B0804030204080304" pitchFamily="34" charset="0"/>
              </a:rPr>
              <a:t>KẾT QUẢ </a:t>
            </a:r>
            <a:r>
              <a:rPr lang="en-US" sz="3200" b="1">
                <a:solidFill>
                  <a:schemeClr val="tx1">
                    <a:lumMod val="75000"/>
                    <a:lumOff val="25000"/>
                  </a:schemeClr>
                </a:solidFill>
                <a:latin typeface="FS Magistral Bold" panose="020B0804030204080304" pitchFamily="34" charset="0"/>
              </a:rPr>
              <a:t>…</a:t>
            </a:r>
            <a:endParaRPr lang="vi-VN" sz="3200" b="1" err="1">
              <a:solidFill>
                <a:schemeClr val="tx1">
                  <a:lumMod val="75000"/>
                  <a:lumOff val="25000"/>
                </a:schemeClr>
              </a:solidFill>
              <a:latin typeface="FS Magistral Bold" panose="020B0804030204080304" pitchFamily="34" charset="0"/>
            </a:endParaRPr>
          </a:p>
        </p:txBody>
      </p:sp>
      <p:sp>
        <p:nvSpPr>
          <p:cNvPr id="28" name="TextBox 27">
            <a:extLst>
              <a:ext uri="{FF2B5EF4-FFF2-40B4-BE49-F238E27FC236}">
                <a16:creationId xmlns:a16="http://schemas.microsoft.com/office/drawing/2014/main" id="{D6C66D1B-EB69-4280-A3CB-6EF57172B2CD}"/>
              </a:ext>
            </a:extLst>
          </p:cNvPr>
          <p:cNvSpPr txBox="1"/>
          <p:nvPr/>
        </p:nvSpPr>
        <p:spPr>
          <a:xfrm>
            <a:off x="5225244" y="2679903"/>
            <a:ext cx="1837898" cy="523220"/>
          </a:xfrm>
          <a:prstGeom prst="rect">
            <a:avLst/>
          </a:prstGeom>
          <a:noFill/>
        </p:spPr>
        <p:txBody>
          <a:bodyPr wrap="square" rtlCol="0">
            <a:spAutoFit/>
          </a:bodyPr>
          <a:lstStyle/>
          <a:p>
            <a:pPr defTabSz="1219232">
              <a:defRPr/>
            </a:pPr>
            <a:r>
              <a:rPr lang="en-US" sz="2800" b="1">
                <a:solidFill>
                  <a:srgbClr val="C0504D">
                    <a:lumMod val="75000"/>
                  </a:srgbClr>
                </a:solidFill>
                <a:latin typeface="FS Magistral Bold" panose="020B0804030204080304" pitchFamily="34" charset="0"/>
              </a:rPr>
              <a:t>PHẦN 1:</a:t>
            </a:r>
            <a:endParaRPr lang="vi-VN" sz="2800" b="1" err="1">
              <a:solidFill>
                <a:srgbClr val="C0504D">
                  <a:lumMod val="75000"/>
                </a:srgbClr>
              </a:solidFill>
              <a:latin typeface="FS Magistral Bold" panose="020B08040302040803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1.1. </a:t>
            </a:r>
            <a:r>
              <a:rPr lang="vi-VN" sz="2400" b="1">
                <a:solidFill>
                  <a:schemeClr val="accent2">
                    <a:lumMod val="75000"/>
                  </a:schemeClr>
                </a:solidFill>
                <a:latin typeface="FS Magistral Bold" panose="020B0804030204080304" pitchFamily="34" charset="0"/>
              </a:rPr>
              <a:t>KẾT QUẢ </a:t>
            </a:r>
            <a:r>
              <a:rPr lang="en-US" sz="2400" b="1">
                <a:solidFill>
                  <a:schemeClr val="accent2">
                    <a:lumMod val="75000"/>
                  </a:schemeClr>
                </a:solidFill>
                <a:latin typeface="FS Magistral Bold" panose="020B0804030204080304" pitchFamily="34" charset="0"/>
              </a:rPr>
              <a:t>…</a:t>
            </a:r>
            <a:endParaRPr lang="vi-VN" sz="2400" b="1" err="1">
              <a:solidFill>
                <a:schemeClr val="accent2">
                  <a:lumMod val="75000"/>
                </a:schemeClr>
              </a:solidFill>
              <a:latin typeface="FS Magistral Bold" panose="020B0804030204080304" pitchFamily="34" charset="0"/>
            </a:endParaRPr>
          </a:p>
        </p:txBody>
      </p:sp>
      <p:pic>
        <p:nvPicPr>
          <p:cNvPr id="5" name="Picture 4"/>
          <p:cNvPicPr>
            <a:picLocks noChangeAspect="1"/>
          </p:cNvPicPr>
          <p:nvPr/>
        </p:nvPicPr>
        <p:blipFill>
          <a:blip r:embed="rId3"/>
          <a:stretch>
            <a:fillRect/>
          </a:stretch>
        </p:blipFill>
        <p:spPr>
          <a:xfrm>
            <a:off x="7301813" y="614512"/>
            <a:ext cx="4761389" cy="2969009"/>
          </a:xfrm>
          <a:prstGeom prst="rect">
            <a:avLst/>
          </a:prstGeom>
        </p:spPr>
      </p:pic>
      <p:sp>
        <p:nvSpPr>
          <p:cNvPr id="17" name="Rectangle 16"/>
          <p:cNvSpPr/>
          <p:nvPr/>
        </p:nvSpPr>
        <p:spPr>
          <a:xfrm>
            <a:off x="7301813" y="3602437"/>
            <a:ext cx="4761389" cy="3225064"/>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301813" y="3602437"/>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19" name="TextBox 18"/>
          <p:cNvSpPr txBox="1"/>
          <p:nvPr/>
        </p:nvSpPr>
        <p:spPr>
          <a:xfrm>
            <a:off x="7301814" y="3940991"/>
            <a:ext cx="4761388" cy="2492990"/>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pPr>
            <a:r>
              <a:rPr lang="en-US" sz="1400">
                <a:latin typeface="Cambria" panose="02040503050406030204" pitchFamily="18" charset="0"/>
                <a:ea typeface="Cambria" panose="02040503050406030204" pitchFamily="18" charset="0"/>
              </a:rPr>
              <a:t>Doanh thu Kênh Dự án 9TĐN đạt </a:t>
            </a:r>
            <a:r>
              <a:rPr lang="en-US" sz="1400" b="1">
                <a:solidFill>
                  <a:schemeClr val="tx2"/>
                </a:solidFill>
                <a:latin typeface="Cambria" panose="02040503050406030204" pitchFamily="18" charset="0"/>
                <a:ea typeface="Cambria" panose="02040503050406030204" pitchFamily="18" charset="0"/>
              </a:rPr>
              <a:t>422/725 Tỷ ~ 58%, </a:t>
            </a:r>
            <a:r>
              <a:rPr lang="en-US" sz="1400" b="1">
                <a:solidFill>
                  <a:srgbClr val="00B050"/>
                </a:solidFill>
                <a:latin typeface="Cambria" panose="02040503050406030204" pitchFamily="18" charset="0"/>
                <a:ea typeface="Cambria" panose="02040503050406030204" pitchFamily="18" charset="0"/>
              </a:rPr>
              <a:t>Tăng 7%</a:t>
            </a:r>
            <a:r>
              <a:rPr lang="en-US" sz="1400" b="1">
                <a:solidFill>
                  <a:schemeClr val="tx2"/>
                </a:solidFill>
                <a:latin typeface="Cambria" panose="02040503050406030204" pitchFamily="18" charset="0"/>
                <a:ea typeface="Cambria" panose="02040503050406030204" pitchFamily="18" charset="0"/>
              </a:rPr>
              <a:t> </a:t>
            </a:r>
            <a:r>
              <a:rPr lang="en-US" sz="1400">
                <a:latin typeface="Cambria" panose="02040503050406030204" pitchFamily="18" charset="0"/>
                <a:ea typeface="Cambria" panose="02040503050406030204" pitchFamily="18" charset="0"/>
              </a:rPr>
              <a:t>so với cùng kỳ 2023.</a:t>
            </a:r>
            <a:r>
              <a:rPr lang="en-US" sz="1400" b="1">
                <a:solidFill>
                  <a:schemeClr val="tx2"/>
                </a:solidFill>
                <a:latin typeface="Cambria" panose="02040503050406030204" pitchFamily="18" charset="0"/>
                <a:ea typeface="Cambria" panose="02040503050406030204" pitchFamily="18" charset="0"/>
              </a:rPr>
              <a:t> </a:t>
            </a:r>
            <a:r>
              <a:rPr lang="en-US" sz="1400">
                <a:latin typeface="Cambria" panose="02040503050406030204" pitchFamily="18" charset="0"/>
                <a:ea typeface="Cambria" panose="02040503050406030204" pitchFamily="18" charset="0"/>
              </a:rPr>
              <a:t>Trong đó:</a:t>
            </a:r>
          </a:p>
          <a:p>
            <a:pPr algn="just">
              <a:spcBef>
                <a:spcPts val="1200"/>
              </a:spcBef>
            </a:pPr>
            <a:r>
              <a:rPr lang="en-US" sz="1400">
                <a:latin typeface="Cambria" panose="02040503050406030204" pitchFamily="18" charset="0"/>
                <a:ea typeface="Cambria" panose="02040503050406030204" pitchFamily="18" charset="0"/>
              </a:rPr>
              <a:t>        + GPTH </a:t>
            </a:r>
            <a:r>
              <a:rPr lang="en-US" sz="1400" b="1">
                <a:solidFill>
                  <a:srgbClr val="00B050"/>
                </a:solidFill>
                <a:latin typeface="Cambria" panose="02040503050406030204" pitchFamily="18" charset="0"/>
                <a:ea typeface="Cambria" panose="02040503050406030204" pitchFamily="18" charset="0"/>
              </a:rPr>
              <a:t>↑9% </a:t>
            </a:r>
            <a:r>
              <a:rPr lang="en-US" sz="1400">
                <a:latin typeface="Cambria" panose="02040503050406030204" pitchFamily="18" charset="0"/>
                <a:ea typeface="Cambria" panose="02040503050406030204" pitchFamily="18" charset="0"/>
              </a:rPr>
              <a:t>chủ yếu nhờ vào sự tăng trưởng của ngành NLMT (</a:t>
            </a:r>
            <a:r>
              <a:rPr lang="en-US" sz="1400" b="1">
                <a:solidFill>
                  <a:srgbClr val="00B050"/>
                </a:solidFill>
                <a:latin typeface="Cambria" panose="02040503050406030204" pitchFamily="18" charset="0"/>
                <a:ea typeface="Cambria" panose="02040503050406030204" pitchFamily="18" charset="0"/>
              </a:rPr>
              <a:t>↑342% ~ 96 tỷ</a:t>
            </a:r>
            <a:r>
              <a:rPr lang="en-US" sz="1400">
                <a:latin typeface="Cambria" panose="02040503050406030204" pitchFamily="18" charset="0"/>
                <a:ea typeface="Cambria" panose="02040503050406030204" pitchFamily="18" charset="0"/>
              </a:rPr>
              <a:t>), cân bằng sự thâm hụt của 02 ngành hàng ME (</a:t>
            </a:r>
            <a:r>
              <a:rPr lang="en-US" sz="1400" b="1">
                <a:solidFill>
                  <a:srgbClr val="FF0000"/>
                </a:solidFill>
                <a:latin typeface="Cambria" panose="02040503050406030204" pitchFamily="18" charset="0"/>
                <a:ea typeface="Cambria" panose="02040503050406030204" pitchFamily="18" charset="0"/>
              </a:rPr>
              <a:t>↓31% ~ 48 tỷ</a:t>
            </a:r>
            <a:r>
              <a:rPr lang="en-US" sz="1400">
                <a:latin typeface="Cambria" panose="02040503050406030204" pitchFamily="18" charset="0"/>
                <a:ea typeface="Cambria" panose="02040503050406030204" pitchFamily="18" charset="0"/>
              </a:rPr>
              <a:t>) và ICT (</a:t>
            </a:r>
            <a:r>
              <a:rPr lang="en-US" sz="1400" b="1">
                <a:solidFill>
                  <a:srgbClr val="FF0000"/>
                </a:solidFill>
                <a:latin typeface="Cambria" panose="02040503050406030204" pitchFamily="18" charset="0"/>
                <a:ea typeface="Cambria" panose="02040503050406030204" pitchFamily="18" charset="0"/>
              </a:rPr>
              <a:t>↓13% ~ 18 tỷ</a:t>
            </a:r>
            <a:r>
              <a:rPr lang="en-US" sz="1400">
                <a:latin typeface="Cambria" panose="02040503050406030204" pitchFamily="18" charset="0"/>
                <a:ea typeface="Cambria" panose="02040503050406030204" pitchFamily="18" charset="0"/>
              </a:rPr>
              <a:t>)</a:t>
            </a:r>
          </a:p>
          <a:p>
            <a:pPr algn="just">
              <a:spcBef>
                <a:spcPts val="1200"/>
              </a:spcBef>
            </a:pPr>
            <a:r>
              <a:rPr lang="en-US" sz="1400">
                <a:latin typeface="Cambria" panose="02040503050406030204" pitchFamily="18" charset="0"/>
                <a:ea typeface="Cambria" panose="02040503050406030204" pitchFamily="18" charset="0"/>
              </a:rPr>
              <a:t>        + DVKT </a:t>
            </a:r>
            <a:r>
              <a:rPr lang="en-US" sz="1400" b="1">
                <a:solidFill>
                  <a:srgbClr val="FF0000"/>
                </a:solidFill>
                <a:latin typeface="Cambria" panose="02040503050406030204" pitchFamily="18" charset="0"/>
                <a:ea typeface="Cambria" panose="02040503050406030204" pitchFamily="18" charset="0"/>
              </a:rPr>
              <a:t>↓5% ~ 3 tỷ</a:t>
            </a:r>
          </a:p>
          <a:p>
            <a:pPr marL="285750" indent="-285750" algn="just">
              <a:spcBef>
                <a:spcPts val="1200"/>
              </a:spcBef>
              <a:buFont typeface="Arial" panose="020B0604020202020204" pitchFamily="34" charset="0"/>
              <a:buChar char="•"/>
            </a:pPr>
            <a:r>
              <a:rPr lang="en-US" sz="1400">
                <a:latin typeface="Cambria" panose="02040503050406030204" pitchFamily="18" charset="0"/>
                <a:ea typeface="Cambria" panose="02040503050406030204" pitchFamily="18" charset="0"/>
              </a:rPr>
              <a:t>Cơ cấu doanh thu 9TĐN 2024 chủ yếu đến từ Cơ điện (ME &amp; ICT) và chuyển dịch dần sang NLMT vào những tháng hè (T5 – T9).</a:t>
            </a:r>
          </a:p>
        </p:txBody>
      </p:sp>
      <p:pic>
        <p:nvPicPr>
          <p:cNvPr id="21" name="Picture 20"/>
          <p:cNvPicPr>
            <a:picLocks noChangeAspect="1"/>
          </p:cNvPicPr>
          <p:nvPr/>
        </p:nvPicPr>
        <p:blipFill>
          <a:blip r:embed="rId4"/>
          <a:stretch>
            <a:fillRect/>
          </a:stretch>
        </p:blipFill>
        <p:spPr>
          <a:xfrm>
            <a:off x="97781" y="614511"/>
            <a:ext cx="7120745" cy="2969009"/>
          </a:xfrm>
          <a:prstGeom prst="rect">
            <a:avLst/>
          </a:prstGeom>
        </p:spPr>
      </p:pic>
      <p:pic>
        <p:nvPicPr>
          <p:cNvPr id="23" name="Picture 22"/>
          <p:cNvPicPr>
            <a:picLocks noChangeAspect="1"/>
          </p:cNvPicPr>
          <p:nvPr/>
        </p:nvPicPr>
        <p:blipFill>
          <a:blip r:embed="rId5"/>
          <a:stretch>
            <a:fillRect/>
          </a:stretch>
        </p:blipFill>
        <p:spPr>
          <a:xfrm>
            <a:off x="97781" y="3596340"/>
            <a:ext cx="7132938" cy="3237257"/>
          </a:xfrm>
          <a:prstGeom prst="rect">
            <a:avLst/>
          </a:prstGeom>
        </p:spPr>
      </p:pic>
    </p:spTree>
    <p:extLst>
      <p:ext uri="{BB962C8B-B14F-4D97-AF65-F5344CB8AC3E}">
        <p14:creationId xmlns:p14="http://schemas.microsoft.com/office/powerpoint/2010/main" val="3991693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1.1. </a:t>
            </a:r>
            <a:r>
              <a:rPr lang="vi-VN" sz="2400" b="1">
                <a:solidFill>
                  <a:schemeClr val="accent2">
                    <a:lumMod val="75000"/>
                  </a:schemeClr>
                </a:solidFill>
                <a:latin typeface="FS Magistral Bold" panose="020B0804030204080304" pitchFamily="34" charset="0"/>
              </a:rPr>
              <a:t>KẾT QUẢ DOANH THU </a:t>
            </a:r>
            <a:r>
              <a:rPr lang="en-US" sz="2400" b="1">
                <a:solidFill>
                  <a:schemeClr val="accent2">
                    <a:lumMod val="75000"/>
                  </a:schemeClr>
                </a:solidFill>
                <a:latin typeface="FS Magistral Bold" panose="020B0804030204080304" pitchFamily="34" charset="0"/>
              </a:rPr>
              <a:t>KÊNH DỰ ÁN 9</a:t>
            </a:r>
            <a:r>
              <a:rPr lang="vi-VN" sz="2400" b="1">
                <a:solidFill>
                  <a:schemeClr val="accent2">
                    <a:lumMod val="75000"/>
                  </a:schemeClr>
                </a:solidFill>
                <a:latin typeface="FS Magistral Bold" panose="020B0804030204080304" pitchFamily="34" charset="0"/>
              </a:rPr>
              <a:t>TĐN 2024</a:t>
            </a:r>
            <a:endParaRPr lang="vi-VN" sz="2400" b="1" err="1">
              <a:solidFill>
                <a:schemeClr val="accent2">
                  <a:lumMod val="75000"/>
                </a:schemeClr>
              </a:solidFill>
              <a:latin typeface="FS Magistral Bold" panose="020B0804030204080304" pitchFamily="34" charset="0"/>
            </a:endParaRPr>
          </a:p>
        </p:txBody>
      </p:sp>
      <p:sp>
        <p:nvSpPr>
          <p:cNvPr id="17" name="Rectangle 16"/>
          <p:cNvSpPr/>
          <p:nvPr/>
        </p:nvSpPr>
        <p:spPr>
          <a:xfrm>
            <a:off x="8484776" y="3976225"/>
            <a:ext cx="3578426" cy="2747035"/>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484776" y="3979805"/>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19" name="TextBox 18"/>
          <p:cNvSpPr txBox="1"/>
          <p:nvPr/>
        </p:nvSpPr>
        <p:spPr>
          <a:xfrm>
            <a:off x="8484776" y="4318359"/>
            <a:ext cx="3513808" cy="2292935"/>
          </a:xfrm>
          <a:prstGeom prst="rect">
            <a:avLst/>
          </a:prstGeom>
          <a:noFill/>
        </p:spPr>
        <p:txBody>
          <a:bodyPr wrap="square" rtlCol="0">
            <a:spAutoFit/>
          </a:bodyPr>
          <a:lstStyle/>
          <a:p>
            <a:pPr marL="285750" indent="-285750" algn="just">
              <a:spcBef>
                <a:spcPts val="600"/>
              </a:spcBef>
              <a:buFont typeface="Arial" panose="020B0604020202020204" pitchFamily="34" charset="0"/>
              <a:buChar char="•"/>
            </a:pPr>
            <a:r>
              <a:rPr lang="en-US" sz="1300">
                <a:latin typeface="Cambria" panose="02040503050406030204" pitchFamily="18" charset="0"/>
                <a:ea typeface="Cambria" panose="02040503050406030204" pitchFamily="18" charset="0"/>
              </a:rPr>
              <a:t>Doanh thu lĩnh vực NLMT có </a:t>
            </a:r>
            <a:r>
              <a:rPr lang="en-US" sz="1300" b="1">
                <a:solidFill>
                  <a:srgbClr val="00B050"/>
                </a:solidFill>
                <a:latin typeface="Cambria" panose="02040503050406030204" pitchFamily="18" charset="0"/>
                <a:ea typeface="Cambria" panose="02040503050406030204" pitchFamily="18" charset="0"/>
              </a:rPr>
              <a:t>xu thế tăng </a:t>
            </a:r>
            <a:r>
              <a:rPr lang="en-US" sz="1300">
                <a:latin typeface="Cambria" panose="02040503050406030204" pitchFamily="18" charset="0"/>
                <a:ea typeface="Cambria" panose="02040503050406030204" pitchFamily="18" charset="0"/>
              </a:rPr>
              <a:t>dần từ T2/2024. </a:t>
            </a:r>
          </a:p>
          <a:p>
            <a:pPr marL="285750" indent="-285750" algn="just">
              <a:spcBef>
                <a:spcPts val="600"/>
              </a:spcBef>
              <a:buFont typeface="Arial" panose="020B0604020202020204" pitchFamily="34" charset="0"/>
              <a:buChar char="•"/>
            </a:pPr>
            <a:r>
              <a:rPr lang="en-US" sz="1300">
                <a:latin typeface="Cambria" panose="02040503050406030204" pitchFamily="18" charset="0"/>
                <a:ea typeface="Cambria" panose="02040503050406030204" pitchFamily="18" charset="0"/>
              </a:rPr>
              <a:t>Trong khi, kết quả lĩnh vực cơ điện (ME &amp; ICT) gần như </a:t>
            </a:r>
            <a:r>
              <a:rPr lang="en-US" sz="1300" b="1">
                <a:solidFill>
                  <a:schemeClr val="tx2"/>
                </a:solidFill>
                <a:latin typeface="Cambria" panose="02040503050406030204" pitchFamily="18" charset="0"/>
                <a:ea typeface="Cambria" panose="02040503050406030204" pitchFamily="18" charset="0"/>
              </a:rPr>
              <a:t>bình ổn </a:t>
            </a:r>
            <a:r>
              <a:rPr lang="en-US" sz="1300">
                <a:latin typeface="Cambria" panose="02040503050406030204" pitchFamily="18" charset="0"/>
                <a:ea typeface="Cambria" panose="02040503050406030204" pitchFamily="18" charset="0"/>
              </a:rPr>
              <a:t>qua các tháng.</a:t>
            </a:r>
          </a:p>
          <a:p>
            <a:pPr algn="just"/>
            <a:r>
              <a:rPr lang="en-US" sz="1200" i="1">
                <a:latin typeface="Cambria" panose="02040503050406030204" pitchFamily="18" charset="0"/>
                <a:ea typeface="Cambria" panose="02040503050406030204" pitchFamily="18" charset="0"/>
              </a:rPr>
              <a:t>(Sự tăng trưởng đột biến của T3 và T6 đến từ HĐ máy tính cho em và quà tặng công đoàn VCC)</a:t>
            </a:r>
          </a:p>
          <a:p>
            <a:pPr marL="285750" indent="-285750" algn="just">
              <a:spcBef>
                <a:spcPts val="1200"/>
              </a:spcBef>
              <a:buFont typeface="Arial" panose="020B0604020202020204" pitchFamily="34" charset="0"/>
              <a:buChar char="•"/>
            </a:pPr>
            <a:r>
              <a:rPr lang="en-US" sz="1300">
                <a:latin typeface="Cambria" panose="02040503050406030204" pitchFamily="18" charset="0"/>
                <a:ea typeface="Cambria" panose="02040503050406030204" pitchFamily="18" charset="0"/>
              </a:rPr>
              <a:t>Cơ điện chưa có sự đột phá nguyên nhân do 9TĐN tỷ trọng HĐ Thương mại chiếm tỷ trọng khá lớn </a:t>
            </a:r>
            <a:r>
              <a:rPr lang="en-US" sz="1300" b="1">
                <a:solidFill>
                  <a:srgbClr val="FF0000"/>
                </a:solidFill>
                <a:latin typeface="Cambria" panose="02040503050406030204" pitchFamily="18" charset="0"/>
                <a:ea typeface="Cambria" panose="02040503050406030204" pitchFamily="18" charset="0"/>
              </a:rPr>
              <a:t>(~45%). </a:t>
            </a:r>
            <a:r>
              <a:rPr lang="en-US" sz="1300">
                <a:latin typeface="Cambria" panose="02040503050406030204" pitchFamily="18" charset="0"/>
                <a:ea typeface="Cambria" panose="02040503050406030204" pitchFamily="18" charset="0"/>
              </a:rPr>
              <a:t>Bên cạnh đó, số DA xây lắp cơ điện &gt; 500Trđ chỉ chiếm </a:t>
            </a:r>
            <a:r>
              <a:rPr lang="en-US" sz="1300" b="1">
                <a:solidFill>
                  <a:srgbClr val="FF0000"/>
                </a:solidFill>
                <a:latin typeface="Cambria" panose="02040503050406030204" pitchFamily="18" charset="0"/>
                <a:ea typeface="Cambria" panose="02040503050406030204" pitchFamily="18" charset="0"/>
              </a:rPr>
              <a:t>&lt; 25%.</a:t>
            </a:r>
          </a:p>
        </p:txBody>
      </p:sp>
      <p:pic>
        <p:nvPicPr>
          <p:cNvPr id="2" name="Picture 1"/>
          <p:cNvPicPr>
            <a:picLocks noChangeAspect="1"/>
          </p:cNvPicPr>
          <p:nvPr/>
        </p:nvPicPr>
        <p:blipFill>
          <a:blip r:embed="rId3"/>
          <a:stretch>
            <a:fillRect/>
          </a:stretch>
        </p:blipFill>
        <p:spPr>
          <a:xfrm>
            <a:off x="81312" y="576114"/>
            <a:ext cx="11981890" cy="3353091"/>
          </a:xfrm>
          <a:prstGeom prst="rect">
            <a:avLst/>
          </a:prstGeom>
        </p:spPr>
      </p:pic>
      <p:pic>
        <p:nvPicPr>
          <p:cNvPr id="4" name="Picture 3"/>
          <p:cNvPicPr>
            <a:picLocks noChangeAspect="1"/>
          </p:cNvPicPr>
          <p:nvPr/>
        </p:nvPicPr>
        <p:blipFill>
          <a:blip r:embed="rId4"/>
          <a:stretch>
            <a:fillRect/>
          </a:stretch>
        </p:blipFill>
        <p:spPr>
          <a:xfrm>
            <a:off x="81312" y="3967629"/>
            <a:ext cx="4176122" cy="2755631"/>
          </a:xfrm>
          <a:prstGeom prst="rect">
            <a:avLst/>
          </a:prstGeom>
        </p:spPr>
      </p:pic>
      <p:pic>
        <p:nvPicPr>
          <p:cNvPr id="11" name="Picture 10"/>
          <p:cNvPicPr>
            <a:picLocks noChangeAspect="1"/>
          </p:cNvPicPr>
          <p:nvPr/>
        </p:nvPicPr>
        <p:blipFill>
          <a:blip r:embed="rId5"/>
          <a:stretch>
            <a:fillRect/>
          </a:stretch>
        </p:blipFill>
        <p:spPr>
          <a:xfrm>
            <a:off x="4274060" y="3967629"/>
            <a:ext cx="4176122" cy="2755631"/>
          </a:xfrm>
          <a:prstGeom prst="rect">
            <a:avLst/>
          </a:prstGeom>
        </p:spPr>
      </p:pic>
    </p:spTree>
    <p:extLst>
      <p:ext uri="{BB962C8B-B14F-4D97-AF65-F5344CB8AC3E}">
        <p14:creationId xmlns:p14="http://schemas.microsoft.com/office/powerpoint/2010/main" val="3953337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1.2. </a:t>
            </a:r>
            <a:r>
              <a:rPr lang="vi-VN" sz="2400" b="1">
                <a:solidFill>
                  <a:schemeClr val="accent2">
                    <a:lumMod val="75000"/>
                  </a:schemeClr>
                </a:solidFill>
                <a:latin typeface="FS Magistral Bold" panose="020B0804030204080304" pitchFamily="34" charset="0"/>
              </a:rPr>
              <a:t>KẾT QUẢ </a:t>
            </a:r>
            <a:r>
              <a:rPr lang="en-US" sz="2400" b="1">
                <a:solidFill>
                  <a:schemeClr val="accent2">
                    <a:lumMod val="75000"/>
                  </a:schemeClr>
                </a:solidFill>
                <a:latin typeface="FS Magistral Bold" panose="020B0804030204080304" pitchFamily="34" charset="0"/>
              </a:rPr>
              <a:t>NGUỒN VIỆC KÊNH DỰ ÁN 9</a:t>
            </a:r>
            <a:r>
              <a:rPr lang="vi-VN" sz="2400" b="1">
                <a:solidFill>
                  <a:schemeClr val="accent2">
                    <a:lumMod val="75000"/>
                  </a:schemeClr>
                </a:solidFill>
                <a:latin typeface="FS Magistral Bold" panose="020B0804030204080304" pitchFamily="34" charset="0"/>
              </a:rPr>
              <a:t>TĐN 2024</a:t>
            </a:r>
            <a:endParaRPr lang="vi-VN" sz="2400" b="1" err="1">
              <a:solidFill>
                <a:schemeClr val="accent2">
                  <a:lumMod val="75000"/>
                </a:schemeClr>
              </a:solidFill>
              <a:latin typeface="FS Magistral Bold" panose="020B0804030204080304" pitchFamily="34" charset="0"/>
            </a:endParaRPr>
          </a:p>
        </p:txBody>
      </p:sp>
      <p:sp>
        <p:nvSpPr>
          <p:cNvPr id="17" name="Rectangle 16"/>
          <p:cNvSpPr/>
          <p:nvPr/>
        </p:nvSpPr>
        <p:spPr>
          <a:xfrm>
            <a:off x="7301813" y="3602437"/>
            <a:ext cx="4761389" cy="3225064"/>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301813" y="3602437"/>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19" name="TextBox 18"/>
          <p:cNvSpPr txBox="1"/>
          <p:nvPr/>
        </p:nvSpPr>
        <p:spPr>
          <a:xfrm>
            <a:off x="7301814" y="3940991"/>
            <a:ext cx="4761388" cy="2708434"/>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pPr>
            <a:r>
              <a:rPr lang="en-US" sz="1400">
                <a:latin typeface="Cambria" panose="02040503050406030204" pitchFamily="18" charset="0"/>
                <a:ea typeface="Cambria" panose="02040503050406030204" pitchFamily="18" charset="0"/>
              </a:rPr>
              <a:t>Nguồn việc Kênh Dự án 9TĐN đạt </a:t>
            </a:r>
            <a:r>
              <a:rPr lang="en-US" sz="1400" b="1">
                <a:solidFill>
                  <a:schemeClr val="tx2"/>
                </a:solidFill>
                <a:latin typeface="Cambria" panose="02040503050406030204" pitchFamily="18" charset="0"/>
                <a:ea typeface="Cambria" panose="02040503050406030204" pitchFamily="18" charset="0"/>
              </a:rPr>
              <a:t>420/776 Tỷ ~ 54%, </a:t>
            </a:r>
            <a:r>
              <a:rPr lang="en-US" sz="1400" b="1">
                <a:solidFill>
                  <a:srgbClr val="FF0000"/>
                </a:solidFill>
                <a:latin typeface="Cambria" panose="02040503050406030204" pitchFamily="18" charset="0"/>
                <a:ea typeface="Cambria" panose="02040503050406030204" pitchFamily="18" charset="0"/>
              </a:rPr>
              <a:t>Giảm 2% </a:t>
            </a:r>
            <a:r>
              <a:rPr lang="en-US" sz="1400">
                <a:latin typeface="Cambria" panose="02040503050406030204" pitchFamily="18" charset="0"/>
                <a:ea typeface="Cambria" panose="02040503050406030204" pitchFamily="18" charset="0"/>
              </a:rPr>
              <a:t>so với cùng kỳ 2023.</a:t>
            </a:r>
            <a:r>
              <a:rPr lang="en-US" sz="1400" b="1">
                <a:solidFill>
                  <a:schemeClr val="tx2"/>
                </a:solidFill>
                <a:latin typeface="Cambria" panose="02040503050406030204" pitchFamily="18" charset="0"/>
                <a:ea typeface="Cambria" panose="02040503050406030204" pitchFamily="18" charset="0"/>
              </a:rPr>
              <a:t> </a:t>
            </a:r>
            <a:r>
              <a:rPr lang="en-US" sz="1400">
                <a:latin typeface="Cambria" panose="02040503050406030204" pitchFamily="18" charset="0"/>
                <a:ea typeface="Cambria" panose="02040503050406030204" pitchFamily="18" charset="0"/>
              </a:rPr>
              <a:t>Trong đó:</a:t>
            </a:r>
          </a:p>
          <a:p>
            <a:pPr algn="just">
              <a:spcBef>
                <a:spcPts val="1200"/>
              </a:spcBef>
            </a:pPr>
            <a:r>
              <a:rPr lang="en-US" sz="1400">
                <a:latin typeface="Cambria" panose="02040503050406030204" pitchFamily="18" charset="0"/>
                <a:ea typeface="Cambria" panose="02040503050406030204" pitchFamily="18" charset="0"/>
              </a:rPr>
              <a:t>        + GPTH </a:t>
            </a:r>
            <a:r>
              <a:rPr lang="en-US" sz="1400" b="1">
                <a:solidFill>
                  <a:srgbClr val="00B050"/>
                </a:solidFill>
                <a:latin typeface="Cambria" panose="02040503050406030204" pitchFamily="18" charset="0"/>
                <a:ea typeface="Cambria" panose="02040503050406030204" pitchFamily="18" charset="0"/>
              </a:rPr>
              <a:t>↑3% </a:t>
            </a:r>
            <a:r>
              <a:rPr lang="en-US" sz="1400">
                <a:latin typeface="Cambria" panose="02040503050406030204" pitchFamily="18" charset="0"/>
                <a:ea typeface="Cambria" panose="02040503050406030204" pitchFamily="18" charset="0"/>
              </a:rPr>
              <a:t>chủ yếu nhờ vào sự tăng trưởng của ngành NLMT (</a:t>
            </a:r>
            <a:r>
              <a:rPr lang="en-US" sz="1400" b="1">
                <a:solidFill>
                  <a:srgbClr val="00B050"/>
                </a:solidFill>
                <a:latin typeface="Cambria" panose="02040503050406030204" pitchFamily="18" charset="0"/>
                <a:ea typeface="Cambria" panose="02040503050406030204" pitchFamily="18" charset="0"/>
              </a:rPr>
              <a:t>↑73% ~ 40 tỷ</a:t>
            </a:r>
            <a:r>
              <a:rPr lang="en-US" sz="1400">
                <a:latin typeface="Cambria" panose="02040503050406030204" pitchFamily="18" charset="0"/>
                <a:ea typeface="Cambria" panose="02040503050406030204" pitchFamily="18" charset="0"/>
              </a:rPr>
              <a:t>) và ME (</a:t>
            </a:r>
            <a:r>
              <a:rPr lang="en-US" sz="1400" b="1">
                <a:solidFill>
                  <a:srgbClr val="00B050"/>
                </a:solidFill>
                <a:latin typeface="Cambria" panose="02040503050406030204" pitchFamily="18" charset="0"/>
                <a:ea typeface="Cambria" panose="02040503050406030204" pitchFamily="18" charset="0"/>
              </a:rPr>
              <a:t>↑6% ~ 6.5 tỷ</a:t>
            </a:r>
            <a:r>
              <a:rPr lang="en-US" sz="1400">
                <a:latin typeface="Cambria" panose="02040503050406030204" pitchFamily="18" charset="0"/>
                <a:ea typeface="Cambria" panose="02040503050406030204" pitchFamily="18" charset="0"/>
              </a:rPr>
              <a:t>), cân bằng sự thâm hụt của ICT (</a:t>
            </a:r>
            <a:r>
              <a:rPr lang="en-US" sz="1400" b="1">
                <a:solidFill>
                  <a:srgbClr val="FF0000"/>
                </a:solidFill>
                <a:latin typeface="Cambria" panose="02040503050406030204" pitchFamily="18" charset="0"/>
                <a:ea typeface="Cambria" panose="02040503050406030204" pitchFamily="18" charset="0"/>
              </a:rPr>
              <a:t>↓24% ~ 39 tỷ</a:t>
            </a:r>
            <a:r>
              <a:rPr lang="en-US" sz="1400">
                <a:latin typeface="Cambria" panose="02040503050406030204" pitchFamily="18" charset="0"/>
                <a:ea typeface="Cambria" panose="02040503050406030204" pitchFamily="18" charset="0"/>
              </a:rPr>
              <a:t>) </a:t>
            </a:r>
            <a:r>
              <a:rPr lang="en-US" sz="1400">
                <a:solidFill>
                  <a:schemeClr val="tx2"/>
                </a:solidFill>
                <a:latin typeface="Cambria" panose="02040503050406030204" pitchFamily="18" charset="0"/>
                <a:ea typeface="Cambria" panose="02040503050406030204" pitchFamily="18" charset="0"/>
              </a:rPr>
              <a:t>→ ICT giảm mạnh do 2023 có dự án Máy tính cho em ~ 75.8 tỷ.</a:t>
            </a:r>
          </a:p>
          <a:p>
            <a:pPr algn="just">
              <a:spcBef>
                <a:spcPts val="1200"/>
              </a:spcBef>
            </a:pPr>
            <a:r>
              <a:rPr lang="en-US" sz="1400">
                <a:latin typeface="Cambria" panose="02040503050406030204" pitchFamily="18" charset="0"/>
                <a:ea typeface="Cambria" panose="02040503050406030204" pitchFamily="18" charset="0"/>
              </a:rPr>
              <a:t>        + DVKT </a:t>
            </a:r>
            <a:r>
              <a:rPr lang="en-US" sz="1400" b="1">
                <a:solidFill>
                  <a:srgbClr val="FF0000"/>
                </a:solidFill>
                <a:latin typeface="Cambria" panose="02040503050406030204" pitchFamily="18" charset="0"/>
                <a:ea typeface="Cambria" panose="02040503050406030204" pitchFamily="18" charset="0"/>
              </a:rPr>
              <a:t>↓18% ~ 17 tỷ</a:t>
            </a:r>
          </a:p>
          <a:p>
            <a:pPr marL="285750" indent="-285750" algn="just">
              <a:spcBef>
                <a:spcPts val="1200"/>
              </a:spcBef>
              <a:buFont typeface="Arial" panose="020B0604020202020204" pitchFamily="34" charset="0"/>
              <a:buChar char="•"/>
            </a:pPr>
            <a:r>
              <a:rPr lang="en-US" sz="1400">
                <a:latin typeface="Cambria" panose="02040503050406030204" pitchFamily="18" charset="0"/>
                <a:ea typeface="Cambria" panose="02040503050406030204" pitchFamily="18" charset="0"/>
              </a:rPr>
              <a:t>Tương ứng với doanh thu, Cơ cấu nguồn việc 9TĐN 2024 chủ yếu đến từ Cơ điện (ME &amp; ICT) và chuyển dịch dần sang NLMT vào những tháng hè và cận hè (T3 – T9).</a:t>
            </a:r>
          </a:p>
        </p:txBody>
      </p:sp>
      <p:pic>
        <p:nvPicPr>
          <p:cNvPr id="2" name="Picture 1"/>
          <p:cNvPicPr>
            <a:picLocks noChangeAspect="1"/>
          </p:cNvPicPr>
          <p:nvPr/>
        </p:nvPicPr>
        <p:blipFill>
          <a:blip r:embed="rId3"/>
          <a:stretch>
            <a:fillRect/>
          </a:stretch>
        </p:blipFill>
        <p:spPr>
          <a:xfrm>
            <a:off x="97781" y="632801"/>
            <a:ext cx="7145131" cy="2932430"/>
          </a:xfrm>
          <a:prstGeom prst="rect">
            <a:avLst/>
          </a:prstGeom>
        </p:spPr>
      </p:pic>
      <p:pic>
        <p:nvPicPr>
          <p:cNvPr id="3" name="Picture 2"/>
          <p:cNvPicPr>
            <a:picLocks noChangeAspect="1"/>
          </p:cNvPicPr>
          <p:nvPr/>
        </p:nvPicPr>
        <p:blipFill>
          <a:blip r:embed="rId4"/>
          <a:stretch>
            <a:fillRect/>
          </a:stretch>
        </p:blipFill>
        <p:spPr>
          <a:xfrm>
            <a:off x="7301103" y="632802"/>
            <a:ext cx="4773582" cy="2932430"/>
          </a:xfrm>
          <a:prstGeom prst="rect">
            <a:avLst/>
          </a:prstGeom>
        </p:spPr>
      </p:pic>
      <p:pic>
        <p:nvPicPr>
          <p:cNvPr id="4" name="Picture 3"/>
          <p:cNvPicPr>
            <a:picLocks noChangeAspect="1"/>
          </p:cNvPicPr>
          <p:nvPr/>
        </p:nvPicPr>
        <p:blipFill>
          <a:blip r:embed="rId5"/>
          <a:stretch>
            <a:fillRect/>
          </a:stretch>
        </p:blipFill>
        <p:spPr>
          <a:xfrm>
            <a:off x="97781" y="3602437"/>
            <a:ext cx="7157324" cy="3237257"/>
          </a:xfrm>
          <a:prstGeom prst="rect">
            <a:avLst/>
          </a:prstGeom>
        </p:spPr>
      </p:pic>
    </p:spTree>
    <p:extLst>
      <p:ext uri="{BB962C8B-B14F-4D97-AF65-F5344CB8AC3E}">
        <p14:creationId xmlns:p14="http://schemas.microsoft.com/office/powerpoint/2010/main" val="2718292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1.2. </a:t>
            </a:r>
            <a:r>
              <a:rPr lang="vi-VN" sz="2400" b="1">
                <a:solidFill>
                  <a:schemeClr val="accent2">
                    <a:lumMod val="75000"/>
                  </a:schemeClr>
                </a:solidFill>
                <a:latin typeface="FS Magistral Bold" panose="020B0804030204080304" pitchFamily="34" charset="0"/>
              </a:rPr>
              <a:t>KẾT QUẢ </a:t>
            </a:r>
            <a:r>
              <a:rPr lang="en-US" sz="2400" b="1">
                <a:solidFill>
                  <a:schemeClr val="accent2">
                    <a:lumMod val="75000"/>
                  </a:schemeClr>
                </a:solidFill>
                <a:latin typeface="FS Magistral Bold" panose="020B0804030204080304" pitchFamily="34" charset="0"/>
              </a:rPr>
              <a:t>NGUỒN VIỆC KÊNH DỰ ÁN 9</a:t>
            </a:r>
            <a:r>
              <a:rPr lang="vi-VN" sz="2400" b="1">
                <a:solidFill>
                  <a:schemeClr val="accent2">
                    <a:lumMod val="75000"/>
                  </a:schemeClr>
                </a:solidFill>
                <a:latin typeface="FS Magistral Bold" panose="020B0804030204080304" pitchFamily="34" charset="0"/>
              </a:rPr>
              <a:t>TĐN 2024</a:t>
            </a:r>
            <a:endParaRPr lang="vi-VN" sz="2400" b="1" err="1">
              <a:solidFill>
                <a:schemeClr val="accent2">
                  <a:lumMod val="75000"/>
                </a:schemeClr>
              </a:solidFill>
              <a:latin typeface="FS Magistral Bold" panose="020B0804030204080304" pitchFamily="34" charset="0"/>
            </a:endParaRPr>
          </a:p>
        </p:txBody>
      </p:sp>
      <p:sp>
        <p:nvSpPr>
          <p:cNvPr id="17" name="Rectangle 16"/>
          <p:cNvSpPr/>
          <p:nvPr/>
        </p:nvSpPr>
        <p:spPr>
          <a:xfrm>
            <a:off x="8111067" y="3927703"/>
            <a:ext cx="3952135" cy="2795557"/>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8111066" y="3927703"/>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19" name="TextBox 18"/>
          <p:cNvSpPr txBox="1"/>
          <p:nvPr/>
        </p:nvSpPr>
        <p:spPr>
          <a:xfrm>
            <a:off x="8111068" y="4167197"/>
            <a:ext cx="3952134" cy="2539157"/>
          </a:xfrm>
          <a:prstGeom prst="rect">
            <a:avLst/>
          </a:prstGeom>
          <a:noFill/>
        </p:spPr>
        <p:txBody>
          <a:bodyPr wrap="square" rtlCol="0">
            <a:spAutoFit/>
          </a:bodyPr>
          <a:lstStyle/>
          <a:p>
            <a:pPr marL="285750" indent="-285750" algn="just">
              <a:spcBef>
                <a:spcPts val="600"/>
              </a:spcBef>
              <a:buFont typeface="Arial" panose="020B0604020202020204" pitchFamily="34" charset="0"/>
              <a:buChar char="•"/>
            </a:pPr>
            <a:r>
              <a:rPr lang="en-US" sz="1300">
                <a:latin typeface="Cambria" panose="02040503050406030204" pitchFamily="18" charset="0"/>
                <a:ea typeface="Cambria" panose="02040503050406030204" pitchFamily="18" charset="0"/>
              </a:rPr>
              <a:t>Nguồn việc 9TĐN chủ yếu đến từ kênh Trực tiếp </a:t>
            </a:r>
            <a:r>
              <a:rPr lang="en-US" sz="1300" b="1">
                <a:solidFill>
                  <a:schemeClr val="tx2"/>
                </a:solidFill>
                <a:latin typeface="Cambria" panose="02040503050406030204" pitchFamily="18" charset="0"/>
                <a:ea typeface="Cambria" panose="02040503050406030204" pitchFamily="18" charset="0"/>
              </a:rPr>
              <a:t>(84% ~ 354 tỷ)</a:t>
            </a:r>
            <a:r>
              <a:rPr lang="en-US" sz="1300">
                <a:latin typeface="Cambria" panose="02040503050406030204" pitchFamily="18" charset="0"/>
                <a:ea typeface="Cambria" panose="02040503050406030204" pitchFamily="18" charset="0"/>
              </a:rPr>
              <a:t>, Đấu thầu chỉ chiếm </a:t>
            </a:r>
            <a:r>
              <a:rPr lang="en-US" sz="1300" b="1">
                <a:solidFill>
                  <a:schemeClr val="tx2"/>
                </a:solidFill>
                <a:latin typeface="Cambria" panose="02040503050406030204" pitchFamily="18" charset="0"/>
                <a:ea typeface="Cambria" panose="02040503050406030204" pitchFamily="18" charset="0"/>
              </a:rPr>
              <a:t>16% ~ 66 tỷ</a:t>
            </a:r>
            <a:r>
              <a:rPr lang="en-US" sz="1300">
                <a:latin typeface="Cambria" panose="02040503050406030204" pitchFamily="18" charset="0"/>
                <a:ea typeface="Cambria" panose="02040503050406030204" pitchFamily="18" charset="0"/>
              </a:rPr>
              <a:t>. Tuy nhiên, Nguồn việc từ kênh Thầu cũng có </a:t>
            </a:r>
            <a:r>
              <a:rPr lang="en-US" sz="1300" b="1">
                <a:solidFill>
                  <a:srgbClr val="00B050"/>
                </a:solidFill>
                <a:latin typeface="Cambria" panose="02040503050406030204" pitchFamily="18" charset="0"/>
                <a:ea typeface="Cambria" panose="02040503050406030204" pitchFamily="18" charset="0"/>
              </a:rPr>
              <a:t>xu thế tăng dần</a:t>
            </a:r>
            <a:r>
              <a:rPr lang="en-US" sz="1300">
                <a:latin typeface="Cambria" panose="02040503050406030204" pitchFamily="18" charset="0"/>
                <a:ea typeface="Cambria" panose="02040503050406030204" pitchFamily="18" charset="0"/>
              </a:rPr>
              <a:t>.</a:t>
            </a:r>
            <a:endParaRPr lang="en-US" sz="1300" b="1">
              <a:solidFill>
                <a:srgbClr val="FF0000"/>
              </a:solidFill>
              <a:latin typeface="Cambria" panose="02040503050406030204" pitchFamily="18" charset="0"/>
              <a:ea typeface="Cambria" panose="02040503050406030204" pitchFamily="18" charset="0"/>
            </a:endParaRPr>
          </a:p>
          <a:p>
            <a:pPr marL="285750" indent="-285750" algn="just">
              <a:spcBef>
                <a:spcPts val="600"/>
              </a:spcBef>
              <a:buFont typeface="Arial" panose="020B0604020202020204" pitchFamily="34" charset="0"/>
              <a:buChar char="•"/>
            </a:pPr>
            <a:r>
              <a:rPr lang="en-US" sz="1300">
                <a:latin typeface="Cambria" panose="02040503050406030204" pitchFamily="18" charset="0"/>
                <a:ea typeface="Cambria" panose="02040503050406030204" pitchFamily="18" charset="0"/>
              </a:rPr>
              <a:t>Trong đó, </a:t>
            </a:r>
            <a:r>
              <a:rPr lang="en-US" sz="1300" b="1">
                <a:solidFill>
                  <a:schemeClr val="tx2"/>
                </a:solidFill>
                <a:latin typeface="Cambria" panose="02040503050406030204" pitchFamily="18" charset="0"/>
                <a:ea typeface="Cambria" panose="02040503050406030204" pitchFamily="18" charset="0"/>
              </a:rPr>
              <a:t>88%</a:t>
            </a:r>
            <a:r>
              <a:rPr lang="en-US" sz="1300">
                <a:latin typeface="Cambria" panose="02040503050406030204" pitchFamily="18" charset="0"/>
                <a:ea typeface="Cambria" panose="02040503050406030204" pitchFamily="18" charset="0"/>
              </a:rPr>
              <a:t> Nguồn việc 9TĐN được cấu thành bởi </a:t>
            </a:r>
            <a:r>
              <a:rPr lang="en-US" sz="1300" b="1">
                <a:solidFill>
                  <a:schemeClr val="tx2"/>
                </a:solidFill>
                <a:latin typeface="Cambria" panose="02040503050406030204" pitchFamily="18" charset="0"/>
                <a:ea typeface="Cambria" panose="02040503050406030204" pitchFamily="18" charset="0"/>
              </a:rPr>
              <a:t>8 sản phẩm trọng điểm</a:t>
            </a:r>
            <a:r>
              <a:rPr lang="en-US" sz="1300">
                <a:latin typeface="Cambria" panose="02040503050406030204" pitchFamily="18" charset="0"/>
                <a:ea typeface="Cambria" panose="02040503050406030204" pitchFamily="18" charset="0"/>
              </a:rPr>
              <a:t>:</a:t>
            </a:r>
          </a:p>
          <a:p>
            <a:pPr algn="just">
              <a:spcBef>
                <a:spcPts val="600"/>
              </a:spcBef>
            </a:pPr>
            <a:r>
              <a:rPr lang="en-US" sz="1300">
                <a:latin typeface="Cambria" panose="02040503050406030204" pitchFamily="18" charset="0"/>
                <a:ea typeface="Cambria" panose="02040503050406030204" pitchFamily="18" charset="0"/>
              </a:rPr>
              <a:t>        </a:t>
            </a:r>
            <a:r>
              <a:rPr lang="en-US" sz="1200">
                <a:latin typeface="Cambria" panose="02040503050406030204" pitchFamily="18" charset="0"/>
                <a:ea typeface="Cambria" panose="02040503050406030204" pitchFamily="18" charset="0"/>
              </a:rPr>
              <a:t>+ </a:t>
            </a:r>
            <a:r>
              <a:rPr lang="en-US" sz="1200" b="1">
                <a:latin typeface="Cambria" panose="02040503050406030204" pitchFamily="18" charset="0"/>
                <a:ea typeface="Cambria" panose="02040503050406030204" pitchFamily="18" charset="0"/>
              </a:rPr>
              <a:t>Điện nhẹ: </a:t>
            </a:r>
            <a:r>
              <a:rPr lang="en-US" sz="1200">
                <a:latin typeface="Cambria" panose="02040503050406030204" pitchFamily="18" charset="0"/>
                <a:ea typeface="Cambria" panose="02040503050406030204" pitchFamily="18" charset="0"/>
              </a:rPr>
              <a:t>Thiết bị VP (62 tỷ ~ 18%), Camera (39 tỷ ~ 11%).</a:t>
            </a:r>
          </a:p>
          <a:p>
            <a:pPr algn="just">
              <a:spcBef>
                <a:spcPts val="600"/>
              </a:spcBef>
            </a:pPr>
            <a:r>
              <a:rPr lang="en-US" sz="1200">
                <a:latin typeface="Cambria" panose="02040503050406030204" pitchFamily="18" charset="0"/>
                <a:ea typeface="Cambria" panose="02040503050406030204" pitchFamily="18" charset="0"/>
              </a:rPr>
              <a:t>        + </a:t>
            </a:r>
            <a:r>
              <a:rPr lang="en-US" sz="1200" b="1">
                <a:latin typeface="Cambria" panose="02040503050406030204" pitchFamily="18" charset="0"/>
                <a:ea typeface="Cambria" panose="02040503050406030204" pitchFamily="18" charset="0"/>
              </a:rPr>
              <a:t>Điện nặng: </a:t>
            </a:r>
            <a:r>
              <a:rPr lang="en-US" sz="1200">
                <a:latin typeface="Cambria" panose="02040503050406030204" pitchFamily="18" charset="0"/>
                <a:ea typeface="Cambria" panose="02040503050406030204" pitchFamily="18" charset="0"/>
              </a:rPr>
              <a:t>Điều hoà (35 tỷ ~ 10%), PCCC (25 tỷ ~ 7%), Điện CS/động lực (25 tỷ ~ 7%), TBGD (21 tỷ ~ 6%).</a:t>
            </a:r>
          </a:p>
          <a:p>
            <a:pPr algn="just">
              <a:spcBef>
                <a:spcPts val="600"/>
              </a:spcBef>
            </a:pPr>
            <a:r>
              <a:rPr lang="en-US" sz="1200">
                <a:latin typeface="Cambria" panose="02040503050406030204" pitchFamily="18" charset="0"/>
                <a:ea typeface="Cambria" panose="02040503050406030204" pitchFamily="18" charset="0"/>
              </a:rPr>
              <a:t>         + </a:t>
            </a:r>
            <a:r>
              <a:rPr lang="en-US" sz="1200" b="1">
                <a:latin typeface="Cambria" panose="02040503050406030204" pitchFamily="18" charset="0"/>
                <a:ea typeface="Cambria" panose="02040503050406030204" pitchFamily="18" charset="0"/>
              </a:rPr>
              <a:t>Năng lượng: </a:t>
            </a:r>
            <a:r>
              <a:rPr lang="en-US" sz="1200">
                <a:latin typeface="Cambria" panose="02040503050406030204" pitchFamily="18" charset="0"/>
                <a:ea typeface="Cambria" panose="02040503050406030204" pitchFamily="18" charset="0"/>
              </a:rPr>
              <a:t>HMT (72 tỷ ~ 21%), ĐMT (22 tỷ (6%)</a:t>
            </a:r>
          </a:p>
        </p:txBody>
      </p:sp>
      <p:pic>
        <p:nvPicPr>
          <p:cNvPr id="5" name="Picture 4"/>
          <p:cNvPicPr>
            <a:picLocks noChangeAspect="1"/>
          </p:cNvPicPr>
          <p:nvPr/>
        </p:nvPicPr>
        <p:blipFill>
          <a:blip r:embed="rId3"/>
          <a:stretch>
            <a:fillRect/>
          </a:stretch>
        </p:blipFill>
        <p:spPr>
          <a:xfrm>
            <a:off x="81312" y="579710"/>
            <a:ext cx="7486537" cy="3303284"/>
          </a:xfrm>
          <a:prstGeom prst="rect">
            <a:avLst/>
          </a:prstGeom>
        </p:spPr>
      </p:pic>
      <p:pic>
        <p:nvPicPr>
          <p:cNvPr id="23" name="Picture 22"/>
          <p:cNvPicPr>
            <a:picLocks noChangeAspect="1"/>
          </p:cNvPicPr>
          <p:nvPr/>
        </p:nvPicPr>
        <p:blipFill>
          <a:blip r:embed="rId4"/>
          <a:stretch>
            <a:fillRect/>
          </a:stretch>
        </p:blipFill>
        <p:spPr>
          <a:xfrm>
            <a:off x="7600543" y="573743"/>
            <a:ext cx="4462659" cy="3309311"/>
          </a:xfrm>
          <a:prstGeom prst="rect">
            <a:avLst/>
          </a:prstGeom>
        </p:spPr>
      </p:pic>
      <p:pic>
        <p:nvPicPr>
          <p:cNvPr id="29" name="Picture 28"/>
          <p:cNvPicPr>
            <a:picLocks noChangeAspect="1"/>
          </p:cNvPicPr>
          <p:nvPr/>
        </p:nvPicPr>
        <p:blipFill>
          <a:blip r:embed="rId5"/>
          <a:stretch>
            <a:fillRect/>
          </a:stretch>
        </p:blipFill>
        <p:spPr>
          <a:xfrm>
            <a:off x="81312" y="3910831"/>
            <a:ext cx="7953555" cy="2871151"/>
          </a:xfrm>
          <a:prstGeom prst="rect">
            <a:avLst/>
          </a:prstGeom>
        </p:spPr>
      </p:pic>
    </p:spTree>
    <p:extLst>
      <p:ext uri="{BB962C8B-B14F-4D97-AF65-F5344CB8AC3E}">
        <p14:creationId xmlns:p14="http://schemas.microsoft.com/office/powerpoint/2010/main" val="1130346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11473829"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1.3. TOP TỈNH CÓ NGUỒN VIỆC 9</a:t>
            </a:r>
            <a:r>
              <a:rPr lang="vi-VN" sz="2400" b="1">
                <a:solidFill>
                  <a:schemeClr val="accent2">
                    <a:lumMod val="75000"/>
                  </a:schemeClr>
                </a:solidFill>
                <a:latin typeface="FS Magistral Bold" panose="020B0804030204080304" pitchFamily="34" charset="0"/>
              </a:rPr>
              <a:t>TĐN </a:t>
            </a:r>
            <a:r>
              <a:rPr lang="en-US" sz="2400" b="1">
                <a:solidFill>
                  <a:schemeClr val="accent2">
                    <a:lumMod val="75000"/>
                  </a:schemeClr>
                </a:solidFill>
                <a:latin typeface="FS Magistral Bold" panose="020B0804030204080304" pitchFamily="34" charset="0"/>
              </a:rPr>
              <a:t>TỐT/TỒI </a:t>
            </a:r>
            <a:r>
              <a:rPr lang="en-US" sz="2400" b="1">
                <a:latin typeface="FS Magistral Bold" panose="020B0804030204080304" pitchFamily="34" charset="0"/>
              </a:rPr>
              <a:t>– Tổng nguồn việc</a:t>
            </a:r>
            <a:endParaRPr lang="vi-VN" sz="2400" b="1" err="1">
              <a:latin typeface="FS Magistral Bold" panose="020B0804030204080304" pitchFamily="34" charset="0"/>
            </a:endParaRPr>
          </a:p>
        </p:txBody>
      </p:sp>
      <p:pic>
        <p:nvPicPr>
          <p:cNvPr id="3" name="Picture 2"/>
          <p:cNvPicPr>
            <a:picLocks noChangeAspect="1"/>
          </p:cNvPicPr>
          <p:nvPr/>
        </p:nvPicPr>
        <p:blipFill>
          <a:blip r:embed="rId3"/>
          <a:stretch>
            <a:fillRect/>
          </a:stretch>
        </p:blipFill>
        <p:spPr>
          <a:xfrm>
            <a:off x="0" y="638880"/>
            <a:ext cx="4838700" cy="5905500"/>
          </a:xfrm>
          <a:prstGeom prst="rect">
            <a:avLst/>
          </a:prstGeom>
        </p:spPr>
      </p:pic>
      <p:sp>
        <p:nvSpPr>
          <p:cNvPr id="15" name="Rectangle 14"/>
          <p:cNvSpPr/>
          <p:nvPr/>
        </p:nvSpPr>
        <p:spPr>
          <a:xfrm>
            <a:off x="4838006" y="4915831"/>
            <a:ext cx="7291694" cy="1852994"/>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838006" y="4910845"/>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20" name="TextBox 19"/>
          <p:cNvSpPr txBox="1"/>
          <p:nvPr/>
        </p:nvSpPr>
        <p:spPr>
          <a:xfrm>
            <a:off x="4838006" y="5157188"/>
            <a:ext cx="7291694" cy="1031051"/>
          </a:xfrm>
          <a:prstGeom prst="rect">
            <a:avLst/>
          </a:prstGeom>
          <a:noFill/>
        </p:spPr>
        <p:txBody>
          <a:bodyPr wrap="square" rtlCol="0">
            <a:spAutoFit/>
          </a:bodyPr>
          <a:lstStyle/>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Top </a:t>
            </a:r>
            <a:r>
              <a:rPr lang="en-US" sz="1400" b="1">
                <a:solidFill>
                  <a:srgbClr val="00B050"/>
                </a:solidFill>
                <a:latin typeface="Cambria" panose="02040503050406030204" pitchFamily="18" charset="0"/>
                <a:ea typeface="Cambria" panose="02040503050406030204" pitchFamily="18" charset="0"/>
              </a:rPr>
              <a:t>17 tỉnh </a:t>
            </a:r>
            <a:r>
              <a:rPr lang="en-US" sz="1400">
                <a:latin typeface="Cambria" panose="02040503050406030204" pitchFamily="18" charset="0"/>
                <a:ea typeface="Cambria" panose="02040503050406030204" pitchFamily="18" charset="0"/>
              </a:rPr>
              <a:t>có nguồn việc 9TĐN &gt; 5 tỷ chiếm đến </a:t>
            </a:r>
            <a:r>
              <a:rPr lang="en-US" sz="1400" b="1">
                <a:solidFill>
                  <a:srgbClr val="00B050"/>
                </a:solidFill>
                <a:latin typeface="Cambria" panose="02040503050406030204" pitchFamily="18" charset="0"/>
                <a:ea typeface="Cambria" panose="02040503050406030204" pitchFamily="18" charset="0"/>
              </a:rPr>
              <a:t>65%</a:t>
            </a:r>
            <a:r>
              <a:rPr lang="en-US" sz="1400">
                <a:latin typeface="Cambria" panose="02040503050406030204" pitchFamily="18" charset="0"/>
                <a:ea typeface="Cambria" panose="02040503050406030204" pitchFamily="18" charset="0"/>
              </a:rPr>
              <a:t> Tổng NV cả nước. Trong đó, chỉ có </a:t>
            </a:r>
            <a:r>
              <a:rPr lang="en-US" sz="1400" b="1">
                <a:solidFill>
                  <a:schemeClr val="tx2"/>
                </a:solidFill>
                <a:latin typeface="Cambria" panose="02040503050406030204" pitchFamily="18" charset="0"/>
                <a:ea typeface="Cambria" panose="02040503050406030204" pitchFamily="18" charset="0"/>
              </a:rPr>
              <a:t>4/17</a:t>
            </a:r>
            <a:r>
              <a:rPr lang="en-US" sz="1400">
                <a:latin typeface="Cambria" panose="02040503050406030204" pitchFamily="18" charset="0"/>
                <a:ea typeface="Cambria" panose="02040503050406030204" pitchFamily="18" charset="0"/>
              </a:rPr>
              <a:t> tỉnh vượt chỉ tiêu và </a:t>
            </a:r>
            <a:r>
              <a:rPr lang="en-US" sz="1400" b="1">
                <a:solidFill>
                  <a:schemeClr val="tx2"/>
                </a:solidFill>
                <a:latin typeface="Cambria" panose="02040503050406030204" pitchFamily="18" charset="0"/>
                <a:ea typeface="Cambria" panose="02040503050406030204" pitchFamily="18" charset="0"/>
              </a:rPr>
              <a:t>4/17</a:t>
            </a:r>
            <a:r>
              <a:rPr lang="en-US" sz="1400">
                <a:latin typeface="Cambria" panose="02040503050406030204" pitchFamily="18" charset="0"/>
                <a:ea typeface="Cambria" panose="02040503050406030204" pitchFamily="18" charset="0"/>
              </a:rPr>
              <a:t> tỉnh HT &gt; 85%.</a:t>
            </a:r>
          </a:p>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Có </a:t>
            </a:r>
            <a:r>
              <a:rPr lang="en-US" sz="1400" b="1">
                <a:solidFill>
                  <a:srgbClr val="FF0000"/>
                </a:solidFill>
                <a:latin typeface="Cambria" panose="02040503050406030204" pitchFamily="18" charset="0"/>
                <a:ea typeface="Cambria" panose="02040503050406030204" pitchFamily="18" charset="0"/>
              </a:rPr>
              <a:t>22 tỉnh </a:t>
            </a:r>
            <a:r>
              <a:rPr lang="en-US" sz="1400">
                <a:latin typeface="Cambria" panose="02040503050406030204" pitchFamily="18" charset="0"/>
                <a:ea typeface="Cambria" panose="02040503050406030204" pitchFamily="18" charset="0"/>
              </a:rPr>
              <a:t>tổng NV 9TĐN chưa được 2 tỷ và đến </a:t>
            </a:r>
            <a:r>
              <a:rPr lang="en-US" sz="1400" b="1">
                <a:solidFill>
                  <a:srgbClr val="FF0000"/>
                </a:solidFill>
                <a:latin typeface="Cambria" panose="02040503050406030204" pitchFamily="18" charset="0"/>
                <a:ea typeface="Cambria" panose="02040503050406030204" pitchFamily="18" charset="0"/>
              </a:rPr>
              <a:t>45 tỉnh </a:t>
            </a:r>
            <a:r>
              <a:rPr lang="en-US" sz="1400">
                <a:latin typeface="Cambria" panose="02040503050406030204" pitchFamily="18" charset="0"/>
                <a:ea typeface="Cambria" panose="02040503050406030204" pitchFamily="18" charset="0"/>
              </a:rPr>
              <a:t>HT &lt; 50% chỉ tiêu được giao. Trong đó có cả các tỉnh có tiềm năng thị trường như: </a:t>
            </a:r>
            <a:r>
              <a:rPr lang="en-US" sz="1400">
                <a:solidFill>
                  <a:srgbClr val="FF0000"/>
                </a:solidFill>
                <a:latin typeface="Cambria" panose="02040503050406030204" pitchFamily="18" charset="0"/>
                <a:ea typeface="Cambria" panose="02040503050406030204" pitchFamily="18" charset="0"/>
              </a:rPr>
              <a:t>BGG, HPG, TTH, THA, QBN</a:t>
            </a:r>
            <a:r>
              <a:rPr lang="en-US" sz="1400">
                <a:latin typeface="Cambria" panose="02040503050406030204" pitchFamily="18" charset="0"/>
                <a:ea typeface="Cambria" panose="02040503050406030204" pitchFamily="18" charset="0"/>
              </a:rPr>
              <a:t>.</a:t>
            </a:r>
          </a:p>
        </p:txBody>
      </p:sp>
      <p:graphicFrame>
        <p:nvGraphicFramePr>
          <p:cNvPr id="21" name="Table 20"/>
          <p:cNvGraphicFramePr>
            <a:graphicFrameLocks noGrp="1"/>
          </p:cNvGraphicFramePr>
          <p:nvPr>
            <p:extLst>
              <p:ext uri="{D42A27DB-BD31-4B8C-83A1-F6EECF244321}">
                <p14:modId xmlns:p14="http://schemas.microsoft.com/office/powerpoint/2010/main" val="2654202219"/>
              </p:ext>
            </p:extLst>
          </p:nvPr>
        </p:nvGraphicFramePr>
        <p:xfrm>
          <a:off x="4838007" y="587802"/>
          <a:ext cx="7291693" cy="2173279"/>
        </p:xfrm>
        <a:graphic>
          <a:graphicData uri="http://schemas.openxmlformats.org/drawingml/2006/table">
            <a:tbl>
              <a:tblPr/>
              <a:tblGrid>
                <a:gridCol w="1342122">
                  <a:extLst>
                    <a:ext uri="{9D8B030D-6E8A-4147-A177-3AD203B41FA5}">
                      <a16:colId xmlns:a16="http://schemas.microsoft.com/office/drawing/2014/main" val="381837615"/>
                    </a:ext>
                  </a:extLst>
                </a:gridCol>
                <a:gridCol w="398298">
                  <a:extLst>
                    <a:ext uri="{9D8B030D-6E8A-4147-A177-3AD203B41FA5}">
                      <a16:colId xmlns:a16="http://schemas.microsoft.com/office/drawing/2014/main" val="2221895793"/>
                    </a:ext>
                  </a:extLst>
                </a:gridCol>
                <a:gridCol w="1069283">
                  <a:extLst>
                    <a:ext uri="{9D8B030D-6E8A-4147-A177-3AD203B41FA5}">
                      <a16:colId xmlns:a16="http://schemas.microsoft.com/office/drawing/2014/main" val="458051812"/>
                    </a:ext>
                  </a:extLst>
                </a:gridCol>
                <a:gridCol w="399010">
                  <a:extLst>
                    <a:ext uri="{9D8B030D-6E8A-4147-A177-3AD203B41FA5}">
                      <a16:colId xmlns:a16="http://schemas.microsoft.com/office/drawing/2014/main" val="126231898"/>
                    </a:ext>
                  </a:extLst>
                </a:gridCol>
                <a:gridCol w="681644">
                  <a:extLst>
                    <a:ext uri="{9D8B030D-6E8A-4147-A177-3AD203B41FA5}">
                      <a16:colId xmlns:a16="http://schemas.microsoft.com/office/drawing/2014/main" val="1265112716"/>
                    </a:ext>
                  </a:extLst>
                </a:gridCol>
                <a:gridCol w="440575">
                  <a:extLst>
                    <a:ext uri="{9D8B030D-6E8A-4147-A177-3AD203B41FA5}">
                      <a16:colId xmlns:a16="http://schemas.microsoft.com/office/drawing/2014/main" val="3469979142"/>
                    </a:ext>
                  </a:extLst>
                </a:gridCol>
                <a:gridCol w="1064029">
                  <a:extLst>
                    <a:ext uri="{9D8B030D-6E8A-4147-A177-3AD203B41FA5}">
                      <a16:colId xmlns:a16="http://schemas.microsoft.com/office/drawing/2014/main" val="3970172285"/>
                    </a:ext>
                  </a:extLst>
                </a:gridCol>
                <a:gridCol w="457200">
                  <a:extLst>
                    <a:ext uri="{9D8B030D-6E8A-4147-A177-3AD203B41FA5}">
                      <a16:colId xmlns:a16="http://schemas.microsoft.com/office/drawing/2014/main" val="1975885985"/>
                    </a:ext>
                  </a:extLst>
                </a:gridCol>
                <a:gridCol w="1439532">
                  <a:extLst>
                    <a:ext uri="{9D8B030D-6E8A-4147-A177-3AD203B41FA5}">
                      <a16:colId xmlns:a16="http://schemas.microsoft.com/office/drawing/2014/main" val="3589908480"/>
                    </a:ext>
                  </a:extLst>
                </a:gridCol>
              </a:tblGrid>
              <a:tr h="192556">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NV &gt; 10 tỷ</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5 - 10 tỷ</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2 - 5 tỷ</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&lt; 2 tỷ</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3658286203"/>
                  </a:ext>
                </a:extLst>
              </a:tr>
              <a:tr h="166297">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3254505161"/>
                  </a:ext>
                </a:extLst>
              </a:tr>
              <a:tr h="166297">
                <a:tc>
                  <a:txBody>
                    <a:bodyPr/>
                    <a:lstStyle/>
                    <a:p>
                      <a:pPr algn="ctr" fontAlgn="ctr"/>
                      <a:r>
                        <a:rPr lang="en-US" sz="900" b="1" i="0" u="none" strike="noStrike">
                          <a:solidFill>
                            <a:srgbClr val="FF0000"/>
                          </a:solidFill>
                          <a:effectLst/>
                          <a:latin typeface="Cambria" panose="02040503050406030204" pitchFamily="18" charset="0"/>
                        </a:rPr>
                        <a:t>Tổng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9</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8</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24</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22</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508496431"/>
                  </a:ext>
                </a:extLst>
              </a:tr>
              <a:tr h="334347">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TGG, LAN, DTP, CTO</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9</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AGG, KGG, BLU, VLG, STG, BTE, TVH, CMU</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890816"/>
                  </a:ext>
                </a:extLst>
              </a:tr>
              <a:tr h="171549">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PTO, LSN</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CBG, TNN</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TQG, BGG, BKN, QNH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7118257"/>
                  </a:ext>
                </a:extLst>
              </a:tr>
              <a:tr h="171549">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QNM</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DNG, QNI</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 KHA, BDH, NTN</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PYN</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0453874"/>
                  </a:ext>
                </a:extLst>
              </a:tr>
              <a:tr h="171549">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TBH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HNI</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VPC, BNH, HNM, HPG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 NDH, HDG, NBH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5946153"/>
                  </a:ext>
                </a:extLst>
              </a:tr>
              <a:tr h="171549">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LCI, DBN, SLA</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 LCU, YBI</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7652406"/>
                  </a:ext>
                </a:extLst>
              </a:tr>
              <a:tr h="171549">
                <a:tc>
                  <a:txBody>
                    <a:bodyPr/>
                    <a:lstStyle/>
                    <a:p>
                      <a:pPr algn="l" fontAlgn="ctr"/>
                      <a:r>
                        <a:rPr lang="en-US" sz="900" b="0" i="0" u="none" strike="noStrike">
                          <a:solidFill>
                            <a:srgbClr val="000000"/>
                          </a:solidFill>
                          <a:effectLst/>
                          <a:latin typeface="Cambria" panose="02040503050406030204" pitchFamily="18" charset="0"/>
                        </a:rPr>
                        <a:t>Tây Nguyên</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GLI</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LDG</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KTM, DCN, DLK</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8673964"/>
                  </a:ext>
                </a:extLst>
              </a:tr>
              <a:tr h="171549">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 QBH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TTH, THA, HTH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8939552"/>
                  </a:ext>
                </a:extLst>
              </a:tr>
              <a:tr h="171549">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DNI, BDG, VTU, HCM</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BPC</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TNH</a:t>
                      </a:r>
                    </a:p>
                  </a:txBody>
                  <a:tcPr marL="4916" marR="4916" marT="491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8912040"/>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95731207"/>
              </p:ext>
            </p:extLst>
          </p:nvPr>
        </p:nvGraphicFramePr>
        <p:xfrm>
          <a:off x="4838006" y="2793629"/>
          <a:ext cx="7291694" cy="2030209"/>
        </p:xfrm>
        <a:graphic>
          <a:graphicData uri="http://schemas.openxmlformats.org/drawingml/2006/table">
            <a:tbl>
              <a:tblPr/>
              <a:tblGrid>
                <a:gridCol w="1157909">
                  <a:extLst>
                    <a:ext uri="{9D8B030D-6E8A-4147-A177-3AD203B41FA5}">
                      <a16:colId xmlns:a16="http://schemas.microsoft.com/office/drawing/2014/main" val="1427911012"/>
                    </a:ext>
                  </a:extLst>
                </a:gridCol>
                <a:gridCol w="500717">
                  <a:extLst>
                    <a:ext uri="{9D8B030D-6E8A-4147-A177-3AD203B41FA5}">
                      <a16:colId xmlns:a16="http://schemas.microsoft.com/office/drawing/2014/main" val="2760167073"/>
                    </a:ext>
                  </a:extLst>
                </a:gridCol>
                <a:gridCol w="649368">
                  <a:extLst>
                    <a:ext uri="{9D8B030D-6E8A-4147-A177-3AD203B41FA5}">
                      <a16:colId xmlns:a16="http://schemas.microsoft.com/office/drawing/2014/main" val="271268525"/>
                    </a:ext>
                  </a:extLst>
                </a:gridCol>
                <a:gridCol w="500717">
                  <a:extLst>
                    <a:ext uri="{9D8B030D-6E8A-4147-A177-3AD203B41FA5}">
                      <a16:colId xmlns:a16="http://schemas.microsoft.com/office/drawing/2014/main" val="1856869297"/>
                    </a:ext>
                  </a:extLst>
                </a:gridCol>
                <a:gridCol w="649368">
                  <a:extLst>
                    <a:ext uri="{9D8B030D-6E8A-4147-A177-3AD203B41FA5}">
                      <a16:colId xmlns:a16="http://schemas.microsoft.com/office/drawing/2014/main" val="167343553"/>
                    </a:ext>
                  </a:extLst>
                </a:gridCol>
                <a:gridCol w="500717">
                  <a:extLst>
                    <a:ext uri="{9D8B030D-6E8A-4147-A177-3AD203B41FA5}">
                      <a16:colId xmlns:a16="http://schemas.microsoft.com/office/drawing/2014/main" val="376480430"/>
                    </a:ext>
                  </a:extLst>
                </a:gridCol>
                <a:gridCol w="688486">
                  <a:extLst>
                    <a:ext uri="{9D8B030D-6E8A-4147-A177-3AD203B41FA5}">
                      <a16:colId xmlns:a16="http://schemas.microsoft.com/office/drawing/2014/main" val="708180737"/>
                    </a:ext>
                  </a:extLst>
                </a:gridCol>
                <a:gridCol w="500717">
                  <a:extLst>
                    <a:ext uri="{9D8B030D-6E8A-4147-A177-3AD203B41FA5}">
                      <a16:colId xmlns:a16="http://schemas.microsoft.com/office/drawing/2014/main" val="439964359"/>
                    </a:ext>
                  </a:extLst>
                </a:gridCol>
                <a:gridCol w="2143695">
                  <a:extLst>
                    <a:ext uri="{9D8B030D-6E8A-4147-A177-3AD203B41FA5}">
                      <a16:colId xmlns:a16="http://schemas.microsoft.com/office/drawing/2014/main" val="3225491143"/>
                    </a:ext>
                  </a:extLst>
                </a:gridCol>
              </a:tblGrid>
              <a:tr h="174167">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HT &gt;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85 - 100%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50 - 85%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&lt; 50%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2820264964"/>
                  </a:ext>
                </a:extLst>
              </a:tr>
              <a:tr h="143877">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692548247"/>
                  </a:ext>
                </a:extLst>
              </a:tr>
              <a:tr h="143877">
                <a:tc>
                  <a:txBody>
                    <a:bodyPr/>
                    <a:lstStyle/>
                    <a:p>
                      <a:pPr algn="ctr" fontAlgn="ctr"/>
                      <a:r>
                        <a:rPr lang="en-US" sz="900" b="1" i="0" u="none" strike="noStrike">
                          <a:solidFill>
                            <a:srgbClr val="FF0000"/>
                          </a:solidFill>
                          <a:effectLst/>
                          <a:latin typeface="Cambria" panose="02040503050406030204" pitchFamily="18" charset="0"/>
                        </a:rPr>
                        <a:t>Tổng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9</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171737869"/>
                  </a:ext>
                </a:extLst>
              </a:tr>
              <a:tr h="282033">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TGG, AGG, LAN, KGG, BLU, VLG, DTP, STG, BTE, TVH, CMU, CTO</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6282369"/>
                  </a:ext>
                </a:extLst>
              </a:tr>
              <a:tr h="144803">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CBG, LSN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PTO, TNN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BKN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 TQG, BGG, QNH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2393072"/>
                  </a:ext>
                </a:extLst>
              </a:tr>
              <a:tr h="144803">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QNM</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DNG, QNI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 PYN, KHA, BDH, NTN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3657122"/>
                  </a:ext>
                </a:extLst>
              </a:tr>
              <a:tr h="282033">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TBH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9</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 VPC, NDH, BNH, HDG, HNI, NBH, HNM, HPG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794006"/>
                  </a:ext>
                </a:extLst>
              </a:tr>
              <a:tr h="144803">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DBN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LCI, SLA</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 LCU, YBI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1500632"/>
                  </a:ext>
                </a:extLst>
              </a:tr>
              <a:tr h="144803">
                <a:tc>
                  <a:txBody>
                    <a:bodyPr/>
                    <a:lstStyle/>
                    <a:p>
                      <a:pPr algn="l" fontAlgn="ctr"/>
                      <a:r>
                        <a:rPr lang="en-US" sz="900" b="0" i="0" u="none" strike="noStrike">
                          <a:solidFill>
                            <a:srgbClr val="000000"/>
                          </a:solidFill>
                          <a:effectLst/>
                          <a:latin typeface="Cambria" panose="02040503050406030204" pitchFamily="18" charset="0"/>
                        </a:rPr>
                        <a:t>Tây Nguyên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it-IT" sz="900" b="0" i="0" u="none" strike="noStrike">
                          <a:solidFill>
                            <a:srgbClr val="000000"/>
                          </a:solidFill>
                          <a:effectLst/>
                          <a:latin typeface="Cambria" panose="02040503050406030204" pitchFamily="18" charset="0"/>
                        </a:rPr>
                        <a:t>KTM, DCN, GLI, LDG, DLK</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9269063"/>
                  </a:ext>
                </a:extLst>
              </a:tr>
              <a:tr h="144803">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TTH, THA, QBH, HTH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0177768"/>
                  </a:ext>
                </a:extLst>
              </a:tr>
              <a:tr h="144803">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VTU</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BDG, HCM</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TNH, BPC</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5809470"/>
                  </a:ext>
                </a:extLst>
              </a:tr>
            </a:tbl>
          </a:graphicData>
        </a:graphic>
      </p:graphicFrame>
    </p:spTree>
    <p:extLst>
      <p:ext uri="{BB962C8B-B14F-4D97-AF65-F5344CB8AC3E}">
        <p14:creationId xmlns:p14="http://schemas.microsoft.com/office/powerpoint/2010/main" val="2633270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11473829"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1.3. TOP TỈNH CÓ NGUỒN VIỆC 9</a:t>
            </a:r>
            <a:r>
              <a:rPr lang="vi-VN" sz="2400" b="1">
                <a:solidFill>
                  <a:schemeClr val="accent2">
                    <a:lumMod val="75000"/>
                  </a:schemeClr>
                </a:solidFill>
                <a:latin typeface="FS Magistral Bold" panose="020B0804030204080304" pitchFamily="34" charset="0"/>
              </a:rPr>
              <a:t>TĐN </a:t>
            </a:r>
            <a:r>
              <a:rPr lang="en-US" sz="2400" b="1">
                <a:solidFill>
                  <a:schemeClr val="accent2">
                    <a:lumMod val="75000"/>
                  </a:schemeClr>
                </a:solidFill>
                <a:latin typeface="FS Magistral Bold" panose="020B0804030204080304" pitchFamily="34" charset="0"/>
              </a:rPr>
              <a:t>TỐT/TỒI </a:t>
            </a:r>
            <a:r>
              <a:rPr lang="en-US" sz="2400" b="1">
                <a:latin typeface="FS Magistral Bold" panose="020B0804030204080304" pitchFamily="34" charset="0"/>
              </a:rPr>
              <a:t>– BU NLMT</a:t>
            </a:r>
            <a:endParaRPr lang="vi-VN" sz="2400" b="1" err="1">
              <a:latin typeface="FS Magistral Bold" panose="020B0804030204080304" pitchFamily="34" charset="0"/>
            </a:endParaRPr>
          </a:p>
        </p:txBody>
      </p:sp>
      <p:pic>
        <p:nvPicPr>
          <p:cNvPr id="2" name="Picture 1"/>
          <p:cNvPicPr>
            <a:picLocks noChangeAspect="1"/>
          </p:cNvPicPr>
          <p:nvPr/>
        </p:nvPicPr>
        <p:blipFill>
          <a:blip r:embed="rId3"/>
          <a:stretch>
            <a:fillRect/>
          </a:stretch>
        </p:blipFill>
        <p:spPr>
          <a:xfrm>
            <a:off x="0" y="638880"/>
            <a:ext cx="4876800" cy="5934075"/>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3277060292"/>
              </p:ext>
            </p:extLst>
          </p:nvPr>
        </p:nvGraphicFramePr>
        <p:xfrm>
          <a:off x="4851861" y="581150"/>
          <a:ext cx="7277839" cy="2121883"/>
        </p:xfrm>
        <a:graphic>
          <a:graphicData uri="http://schemas.openxmlformats.org/drawingml/2006/table">
            <a:tbl>
              <a:tblPr/>
              <a:tblGrid>
                <a:gridCol w="1274858">
                  <a:extLst>
                    <a:ext uri="{9D8B030D-6E8A-4147-A177-3AD203B41FA5}">
                      <a16:colId xmlns:a16="http://schemas.microsoft.com/office/drawing/2014/main" val="2357658874"/>
                    </a:ext>
                  </a:extLst>
                </a:gridCol>
                <a:gridCol w="407532">
                  <a:extLst>
                    <a:ext uri="{9D8B030D-6E8A-4147-A177-3AD203B41FA5}">
                      <a16:colId xmlns:a16="http://schemas.microsoft.com/office/drawing/2014/main" val="1625224706"/>
                    </a:ext>
                  </a:extLst>
                </a:gridCol>
                <a:gridCol w="651056">
                  <a:extLst>
                    <a:ext uri="{9D8B030D-6E8A-4147-A177-3AD203B41FA5}">
                      <a16:colId xmlns:a16="http://schemas.microsoft.com/office/drawing/2014/main" val="3031813014"/>
                    </a:ext>
                  </a:extLst>
                </a:gridCol>
                <a:gridCol w="478072">
                  <a:extLst>
                    <a:ext uri="{9D8B030D-6E8A-4147-A177-3AD203B41FA5}">
                      <a16:colId xmlns:a16="http://schemas.microsoft.com/office/drawing/2014/main" val="2640870308"/>
                    </a:ext>
                  </a:extLst>
                </a:gridCol>
                <a:gridCol w="623201">
                  <a:extLst>
                    <a:ext uri="{9D8B030D-6E8A-4147-A177-3AD203B41FA5}">
                      <a16:colId xmlns:a16="http://schemas.microsoft.com/office/drawing/2014/main" val="2566521884"/>
                    </a:ext>
                  </a:extLst>
                </a:gridCol>
                <a:gridCol w="418313">
                  <a:extLst>
                    <a:ext uri="{9D8B030D-6E8A-4147-A177-3AD203B41FA5}">
                      <a16:colId xmlns:a16="http://schemas.microsoft.com/office/drawing/2014/main" val="1163891944"/>
                    </a:ext>
                  </a:extLst>
                </a:gridCol>
                <a:gridCol w="1733011">
                  <a:extLst>
                    <a:ext uri="{9D8B030D-6E8A-4147-A177-3AD203B41FA5}">
                      <a16:colId xmlns:a16="http://schemas.microsoft.com/office/drawing/2014/main" val="1264742004"/>
                    </a:ext>
                  </a:extLst>
                </a:gridCol>
                <a:gridCol w="486608">
                  <a:extLst>
                    <a:ext uri="{9D8B030D-6E8A-4147-A177-3AD203B41FA5}">
                      <a16:colId xmlns:a16="http://schemas.microsoft.com/office/drawing/2014/main" val="549075796"/>
                    </a:ext>
                  </a:extLst>
                </a:gridCol>
                <a:gridCol w="1205188">
                  <a:extLst>
                    <a:ext uri="{9D8B030D-6E8A-4147-A177-3AD203B41FA5}">
                      <a16:colId xmlns:a16="http://schemas.microsoft.com/office/drawing/2014/main" val="407982182"/>
                    </a:ext>
                  </a:extLst>
                </a:gridCol>
              </a:tblGrid>
              <a:tr h="106224">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NV &gt; 5 tỷ</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2 – 5 tỷ</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&lt; 2 tỷ</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vi-VN" sz="900" b="1" i="0" u="none" strike="noStrike">
                          <a:solidFill>
                            <a:srgbClr val="000000"/>
                          </a:solidFill>
                          <a:effectLst/>
                          <a:latin typeface="Cambria" panose="02040503050406030204" pitchFamily="18" charset="0"/>
                        </a:rPr>
                        <a:t>Không có NV năng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246784231"/>
                  </a:ext>
                </a:extLst>
              </a:tr>
              <a:tr h="106224">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3950259348"/>
                  </a:ext>
                </a:extLst>
              </a:tr>
              <a:tr h="106224">
                <a:tc>
                  <a:txBody>
                    <a:bodyPr/>
                    <a:lstStyle/>
                    <a:p>
                      <a:pPr algn="ctr" fontAlgn="ctr"/>
                      <a:r>
                        <a:rPr lang="en-US" sz="900" b="1" i="0" u="none" strike="noStrike">
                          <a:solidFill>
                            <a:srgbClr val="FF0000"/>
                          </a:solidFill>
                          <a:effectLst/>
                          <a:latin typeface="Cambria" panose="02040503050406030204" pitchFamily="18" charset="0"/>
                        </a:rPr>
                        <a:t>Tổng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3</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6</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12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965712680"/>
                  </a:ext>
                </a:extLst>
              </a:tr>
              <a:tr h="300783">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TGG, AGG, LAN, KGG, VLG, DTP, STG, TVH, CMU, CTO</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BLU, BTE</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5944292"/>
                  </a:ext>
                </a:extLst>
              </a:tr>
              <a:tr h="202386">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LSN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PTO</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6</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 TQG, BGG, BKN, CBG, TNN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3627393"/>
                  </a:ext>
                </a:extLst>
              </a:tr>
              <a:tr h="202386">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KHA</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 QNM, PYN, BDH, NTN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QNI</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5827206"/>
                  </a:ext>
                </a:extLst>
              </a:tr>
              <a:tr h="212449">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8</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VPC, BNH, TBH, HDG, HNI, NBH, HNM, HPG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 NDH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6030277"/>
                  </a:ext>
                </a:extLst>
              </a:tr>
              <a:tr h="106224">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DBN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LCI, LCU, YBI, SLA</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4439141"/>
                  </a:ext>
                </a:extLst>
              </a:tr>
              <a:tr h="106224">
                <a:tc>
                  <a:txBody>
                    <a:bodyPr/>
                    <a:lstStyle/>
                    <a:p>
                      <a:pPr algn="l" fontAlgn="ctr"/>
                      <a:r>
                        <a:rPr lang="en-US" sz="900" b="0" i="0" u="none" strike="noStrike">
                          <a:solidFill>
                            <a:srgbClr val="000000"/>
                          </a:solidFill>
                          <a:effectLst/>
                          <a:latin typeface="Cambria" panose="02040503050406030204" pitchFamily="18" charset="0"/>
                        </a:rPr>
                        <a:t>Tây Nguyên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GLI</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KTM, DCN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LDG, DLK</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0359431"/>
                  </a:ext>
                </a:extLst>
              </a:tr>
              <a:tr h="106224">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 QBH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 TTH, HTH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THA</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9501945"/>
                  </a:ext>
                </a:extLst>
              </a:tr>
              <a:tr h="106224">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HCM</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DNI, BDG, VTU, BPC</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6760462"/>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28456224"/>
              </p:ext>
            </p:extLst>
          </p:nvPr>
        </p:nvGraphicFramePr>
        <p:xfrm>
          <a:off x="4851861" y="2736285"/>
          <a:ext cx="7277838" cy="2193135"/>
        </p:xfrm>
        <a:graphic>
          <a:graphicData uri="http://schemas.openxmlformats.org/drawingml/2006/table">
            <a:tbl>
              <a:tblPr/>
              <a:tblGrid>
                <a:gridCol w="1360229">
                  <a:extLst>
                    <a:ext uri="{9D8B030D-6E8A-4147-A177-3AD203B41FA5}">
                      <a16:colId xmlns:a16="http://schemas.microsoft.com/office/drawing/2014/main" val="4183373283"/>
                    </a:ext>
                  </a:extLst>
                </a:gridCol>
                <a:gridCol w="401239">
                  <a:extLst>
                    <a:ext uri="{9D8B030D-6E8A-4147-A177-3AD203B41FA5}">
                      <a16:colId xmlns:a16="http://schemas.microsoft.com/office/drawing/2014/main" val="3697706899"/>
                    </a:ext>
                  </a:extLst>
                </a:gridCol>
                <a:gridCol w="682960">
                  <a:extLst>
                    <a:ext uri="{9D8B030D-6E8A-4147-A177-3AD203B41FA5}">
                      <a16:colId xmlns:a16="http://schemas.microsoft.com/office/drawing/2014/main" val="3408022618"/>
                    </a:ext>
                  </a:extLst>
                </a:gridCol>
                <a:gridCol w="443924">
                  <a:extLst>
                    <a:ext uri="{9D8B030D-6E8A-4147-A177-3AD203B41FA5}">
                      <a16:colId xmlns:a16="http://schemas.microsoft.com/office/drawing/2014/main" val="646667638"/>
                    </a:ext>
                  </a:extLst>
                </a:gridCol>
                <a:gridCol w="563156">
                  <a:extLst>
                    <a:ext uri="{9D8B030D-6E8A-4147-A177-3AD203B41FA5}">
                      <a16:colId xmlns:a16="http://schemas.microsoft.com/office/drawing/2014/main" val="3924901279"/>
                    </a:ext>
                  </a:extLst>
                </a:gridCol>
                <a:gridCol w="384451">
                  <a:extLst>
                    <a:ext uri="{9D8B030D-6E8A-4147-A177-3AD203B41FA5}">
                      <a16:colId xmlns:a16="http://schemas.microsoft.com/office/drawing/2014/main" val="3024481733"/>
                    </a:ext>
                  </a:extLst>
                </a:gridCol>
                <a:gridCol w="1135421">
                  <a:extLst>
                    <a:ext uri="{9D8B030D-6E8A-4147-A177-3AD203B41FA5}">
                      <a16:colId xmlns:a16="http://schemas.microsoft.com/office/drawing/2014/main" val="465324226"/>
                    </a:ext>
                  </a:extLst>
                </a:gridCol>
                <a:gridCol w="418313">
                  <a:extLst>
                    <a:ext uri="{9D8B030D-6E8A-4147-A177-3AD203B41FA5}">
                      <a16:colId xmlns:a16="http://schemas.microsoft.com/office/drawing/2014/main" val="4263697954"/>
                    </a:ext>
                  </a:extLst>
                </a:gridCol>
                <a:gridCol w="1888145">
                  <a:extLst>
                    <a:ext uri="{9D8B030D-6E8A-4147-A177-3AD203B41FA5}">
                      <a16:colId xmlns:a16="http://schemas.microsoft.com/office/drawing/2014/main" val="4040025270"/>
                    </a:ext>
                  </a:extLst>
                </a:gridCol>
              </a:tblGrid>
              <a:tr h="147234">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HT &gt;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85 - 100%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50 - 85%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&lt; 50%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260057670"/>
                  </a:ext>
                </a:extLst>
              </a:tr>
              <a:tr h="147234">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1105543866"/>
                  </a:ext>
                </a:extLst>
              </a:tr>
              <a:tr h="147234">
                <a:tc>
                  <a:txBody>
                    <a:bodyPr/>
                    <a:lstStyle/>
                    <a:p>
                      <a:pPr algn="ctr" fontAlgn="ctr"/>
                      <a:r>
                        <a:rPr lang="en-US" sz="900" b="1" i="0" u="none" strike="noStrike">
                          <a:solidFill>
                            <a:srgbClr val="FF0000"/>
                          </a:solidFill>
                          <a:effectLst/>
                          <a:latin typeface="Cambria" panose="02040503050406030204" pitchFamily="18" charset="0"/>
                        </a:rPr>
                        <a:t>Tổng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8</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8</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46</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383478531"/>
                  </a:ext>
                </a:extLst>
              </a:tr>
              <a:tr h="294468">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LAN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TGG, AGG, KGG, BLU, VLG, DTP, STG, BTE, TVH, CMU, CTO</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833802"/>
                  </a:ext>
                </a:extLst>
              </a:tr>
              <a:tr h="288614">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CBG, LSN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 BKN, PTO, TNN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TQG, BGG, QNH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5330214"/>
                  </a:ext>
                </a:extLst>
              </a:tr>
              <a:tr h="148182">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DNG, KHA</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NTN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 QNM, PYN, BDH, QNI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0968899"/>
                  </a:ext>
                </a:extLst>
              </a:tr>
              <a:tr h="294468">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VPC</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9</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 NDH, BNH, TBH, HDG, HNI, NBH, HNM, HPG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0574922"/>
                  </a:ext>
                </a:extLst>
              </a:tr>
              <a:tr h="148182">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DBN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 LCI, LCU, YBI, SLA</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5109378"/>
                  </a:ext>
                </a:extLst>
              </a:tr>
              <a:tr h="148182">
                <a:tc>
                  <a:txBody>
                    <a:bodyPr/>
                    <a:lstStyle/>
                    <a:p>
                      <a:pPr algn="l" fontAlgn="ctr"/>
                      <a:r>
                        <a:rPr lang="en-US" sz="900" b="0" i="0" u="none" strike="noStrike">
                          <a:solidFill>
                            <a:srgbClr val="000000"/>
                          </a:solidFill>
                          <a:effectLst/>
                          <a:latin typeface="Cambria" panose="02040503050406030204" pitchFamily="18" charset="0"/>
                        </a:rPr>
                        <a:t>Tây Nguyên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GLI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KTM, DCN, LDG, DLK</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5738744"/>
                  </a:ext>
                </a:extLst>
              </a:tr>
              <a:tr h="148182">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 QBH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TTH, THA, HTH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4958902"/>
                  </a:ext>
                </a:extLst>
              </a:tr>
              <a:tr h="148182">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HCM</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pl-PL" sz="900" b="0" i="0" u="none" strike="noStrike">
                          <a:solidFill>
                            <a:srgbClr val="000000"/>
                          </a:solidFill>
                          <a:effectLst/>
                          <a:latin typeface="Cambria" panose="02040503050406030204" pitchFamily="18" charset="0"/>
                        </a:rPr>
                        <a:t>DNI, TNH, BDG, VTU, BPC</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9140946"/>
                  </a:ext>
                </a:extLst>
              </a:tr>
            </a:tbl>
          </a:graphicData>
        </a:graphic>
      </p:graphicFrame>
      <p:sp>
        <p:nvSpPr>
          <p:cNvPr id="16" name="Rectangle 15"/>
          <p:cNvSpPr/>
          <p:nvPr/>
        </p:nvSpPr>
        <p:spPr>
          <a:xfrm>
            <a:off x="4838006" y="4962671"/>
            <a:ext cx="7291694" cy="1806153"/>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838006" y="4985662"/>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18" name="TextBox 17"/>
          <p:cNvSpPr txBox="1"/>
          <p:nvPr/>
        </p:nvSpPr>
        <p:spPr>
          <a:xfrm>
            <a:off x="4838006" y="5232005"/>
            <a:ext cx="7291694" cy="1107996"/>
          </a:xfrm>
          <a:prstGeom prst="rect">
            <a:avLst/>
          </a:prstGeom>
          <a:noFill/>
        </p:spPr>
        <p:txBody>
          <a:bodyPr wrap="square" rtlCol="0">
            <a:spAutoFit/>
          </a:bodyPr>
          <a:lstStyle/>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Có </a:t>
            </a:r>
            <a:r>
              <a:rPr lang="en-US" sz="1400" b="1">
                <a:solidFill>
                  <a:srgbClr val="00B050"/>
                </a:solidFill>
                <a:latin typeface="Cambria" panose="02040503050406030204" pitchFamily="18" charset="0"/>
                <a:ea typeface="Cambria" panose="02040503050406030204" pitchFamily="18" charset="0"/>
              </a:rPr>
              <a:t>3/63</a:t>
            </a:r>
            <a:r>
              <a:rPr lang="en-US" sz="1400">
                <a:latin typeface="Cambria" panose="02040503050406030204" pitchFamily="18" charset="0"/>
                <a:ea typeface="Cambria" panose="02040503050406030204" pitchFamily="18" charset="0"/>
              </a:rPr>
              <a:t> tỉnh nguồn việc Năng lương 9TĐN &gt; 5 tỷ và </a:t>
            </a:r>
            <a:r>
              <a:rPr lang="en-US" sz="1400" b="1">
                <a:solidFill>
                  <a:srgbClr val="00B050"/>
                </a:solidFill>
                <a:latin typeface="Cambria" panose="02040503050406030204" pitchFamily="18" charset="0"/>
                <a:ea typeface="Cambria" panose="02040503050406030204" pitchFamily="18" charset="0"/>
              </a:rPr>
              <a:t>8/63</a:t>
            </a:r>
            <a:r>
              <a:rPr lang="en-US" sz="1400">
                <a:latin typeface="Cambria" panose="02040503050406030204" pitchFamily="18" charset="0"/>
                <a:ea typeface="Cambria" panose="02040503050406030204" pitchFamily="18" charset="0"/>
              </a:rPr>
              <a:t> tỉnh hoàn thành chỉ tiêu năng lượng được giao.</a:t>
            </a:r>
          </a:p>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Tuy nhiên, có </a:t>
            </a:r>
            <a:r>
              <a:rPr lang="en-US" sz="1400" b="1">
                <a:solidFill>
                  <a:srgbClr val="FF0000"/>
                </a:solidFill>
                <a:latin typeface="Cambria" panose="02040503050406030204" pitchFamily="18" charset="0"/>
                <a:ea typeface="Cambria" panose="02040503050406030204" pitchFamily="18" charset="0"/>
              </a:rPr>
              <a:t>46/63</a:t>
            </a:r>
            <a:r>
              <a:rPr lang="en-US" sz="1400">
                <a:latin typeface="Cambria" panose="02040503050406030204" pitchFamily="18" charset="0"/>
                <a:ea typeface="Cambria" panose="02040503050406030204" pitchFamily="18" charset="0"/>
              </a:rPr>
              <a:t> tỉnh HT &lt; 50% và có đến </a:t>
            </a:r>
            <a:r>
              <a:rPr lang="en-US" sz="1400" b="1">
                <a:solidFill>
                  <a:srgbClr val="FF0000"/>
                </a:solidFill>
                <a:latin typeface="Cambria" panose="02040503050406030204" pitchFamily="18" charset="0"/>
                <a:ea typeface="Cambria" panose="02040503050406030204" pitchFamily="18" charset="0"/>
              </a:rPr>
              <a:t>12/46</a:t>
            </a:r>
            <a:r>
              <a:rPr lang="en-US" sz="1400">
                <a:latin typeface="Cambria" panose="02040503050406030204" pitchFamily="18" charset="0"/>
                <a:ea typeface="Cambria" panose="02040503050406030204" pitchFamily="18" charset="0"/>
              </a:rPr>
              <a:t> tỉnh 9TĐN không có dự án NLMT.</a:t>
            </a:r>
          </a:p>
          <a:p>
            <a:pPr marL="285750" indent="-285750" algn="just">
              <a:spcBef>
                <a:spcPts val="600"/>
              </a:spcBef>
              <a:buFont typeface="Arial" panose="020B0604020202020204" pitchFamily="34" charset="0"/>
              <a:buChar char="•"/>
            </a:pPr>
            <a:endParaRPr lang="en-US" sz="14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58664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11473829"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1.3. TOP TỈNH CÓ NGUỒN VIỆC 9</a:t>
            </a:r>
            <a:r>
              <a:rPr lang="vi-VN" sz="2400" b="1">
                <a:solidFill>
                  <a:schemeClr val="accent2">
                    <a:lumMod val="75000"/>
                  </a:schemeClr>
                </a:solidFill>
                <a:latin typeface="FS Magistral Bold" panose="020B0804030204080304" pitchFamily="34" charset="0"/>
              </a:rPr>
              <a:t>TĐN </a:t>
            </a:r>
            <a:r>
              <a:rPr lang="en-US" sz="2400" b="1">
                <a:solidFill>
                  <a:schemeClr val="accent2">
                    <a:lumMod val="75000"/>
                  </a:schemeClr>
                </a:solidFill>
                <a:latin typeface="FS Magistral Bold" panose="020B0804030204080304" pitchFamily="34" charset="0"/>
              </a:rPr>
              <a:t>TỐT/TỒI </a:t>
            </a:r>
            <a:r>
              <a:rPr lang="en-US" sz="2400" b="1">
                <a:latin typeface="FS Magistral Bold" panose="020B0804030204080304" pitchFamily="34" charset="0"/>
              </a:rPr>
              <a:t>– BU ME</a:t>
            </a:r>
            <a:endParaRPr lang="vi-VN" sz="2400" b="1" err="1">
              <a:latin typeface="FS Magistral Bold" panose="020B08040302040803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701021956"/>
              </p:ext>
            </p:extLst>
          </p:nvPr>
        </p:nvGraphicFramePr>
        <p:xfrm>
          <a:off x="4838006" y="589622"/>
          <a:ext cx="7289055" cy="2104299"/>
        </p:xfrm>
        <a:graphic>
          <a:graphicData uri="http://schemas.openxmlformats.org/drawingml/2006/table">
            <a:tbl>
              <a:tblPr/>
              <a:tblGrid>
                <a:gridCol w="1287352">
                  <a:extLst>
                    <a:ext uri="{9D8B030D-6E8A-4147-A177-3AD203B41FA5}">
                      <a16:colId xmlns:a16="http://schemas.microsoft.com/office/drawing/2014/main" val="2056395198"/>
                    </a:ext>
                  </a:extLst>
                </a:gridCol>
                <a:gridCol w="447053">
                  <a:extLst>
                    <a:ext uri="{9D8B030D-6E8A-4147-A177-3AD203B41FA5}">
                      <a16:colId xmlns:a16="http://schemas.microsoft.com/office/drawing/2014/main" val="3258844792"/>
                    </a:ext>
                  </a:extLst>
                </a:gridCol>
                <a:gridCol w="690874">
                  <a:extLst>
                    <a:ext uri="{9D8B030D-6E8A-4147-A177-3AD203B41FA5}">
                      <a16:colId xmlns:a16="http://schemas.microsoft.com/office/drawing/2014/main" val="2558502521"/>
                    </a:ext>
                  </a:extLst>
                </a:gridCol>
                <a:gridCol w="413792">
                  <a:extLst>
                    <a:ext uri="{9D8B030D-6E8A-4147-A177-3AD203B41FA5}">
                      <a16:colId xmlns:a16="http://schemas.microsoft.com/office/drawing/2014/main" val="3966796630"/>
                    </a:ext>
                  </a:extLst>
                </a:gridCol>
                <a:gridCol w="706893">
                  <a:extLst>
                    <a:ext uri="{9D8B030D-6E8A-4147-A177-3AD203B41FA5}">
                      <a16:colId xmlns:a16="http://schemas.microsoft.com/office/drawing/2014/main" val="3137906154"/>
                    </a:ext>
                  </a:extLst>
                </a:gridCol>
                <a:gridCol w="448274">
                  <a:extLst>
                    <a:ext uri="{9D8B030D-6E8A-4147-A177-3AD203B41FA5}">
                      <a16:colId xmlns:a16="http://schemas.microsoft.com/office/drawing/2014/main" val="2085028917"/>
                    </a:ext>
                  </a:extLst>
                </a:gridCol>
                <a:gridCol w="2161349">
                  <a:extLst>
                    <a:ext uri="{9D8B030D-6E8A-4147-A177-3AD203B41FA5}">
                      <a16:colId xmlns:a16="http://schemas.microsoft.com/office/drawing/2014/main" val="1599453980"/>
                    </a:ext>
                  </a:extLst>
                </a:gridCol>
                <a:gridCol w="390366">
                  <a:extLst>
                    <a:ext uri="{9D8B030D-6E8A-4147-A177-3AD203B41FA5}">
                      <a16:colId xmlns:a16="http://schemas.microsoft.com/office/drawing/2014/main" val="2993323872"/>
                    </a:ext>
                  </a:extLst>
                </a:gridCol>
                <a:gridCol w="743102">
                  <a:extLst>
                    <a:ext uri="{9D8B030D-6E8A-4147-A177-3AD203B41FA5}">
                      <a16:colId xmlns:a16="http://schemas.microsoft.com/office/drawing/2014/main" val="1503559116"/>
                    </a:ext>
                  </a:extLst>
                </a:gridCol>
              </a:tblGrid>
              <a:tr h="156013">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NV &gt; 15 tỷ</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2 – 5 tỷ</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&lt; 2 tỷ</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Không</a:t>
                      </a:r>
                      <a:r>
                        <a:rPr lang="en-US" sz="900" b="1" i="0" u="none" strike="noStrike" baseline="0">
                          <a:solidFill>
                            <a:srgbClr val="000000"/>
                          </a:solidFill>
                          <a:effectLst/>
                          <a:latin typeface="Cambria" panose="02040503050406030204" pitchFamily="18" charset="0"/>
                        </a:rPr>
                        <a:t> có NV ME</a:t>
                      </a:r>
                      <a:endParaRPr lang="en-US" sz="900" b="1" i="0" u="none" strike="noStrike">
                        <a:solidFill>
                          <a:srgbClr val="000000"/>
                        </a:solidFill>
                        <a:effectLst/>
                        <a:latin typeface="Cambria" panose="02040503050406030204" pitchFamily="18" charset="0"/>
                      </a:endParaRP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893956825"/>
                  </a:ext>
                </a:extLst>
              </a:tr>
              <a:tr h="305915">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3739137623"/>
                  </a:ext>
                </a:extLst>
              </a:tr>
              <a:tr h="156013">
                <a:tc>
                  <a:txBody>
                    <a:bodyPr/>
                    <a:lstStyle/>
                    <a:p>
                      <a:pPr algn="ctr" fontAlgn="ctr"/>
                      <a:r>
                        <a:rPr lang="en-US" sz="900" b="1" i="0" u="none" strike="noStrike">
                          <a:solidFill>
                            <a:srgbClr val="FF0000"/>
                          </a:solidFill>
                          <a:effectLst/>
                          <a:latin typeface="Cambria" panose="02040503050406030204" pitchFamily="18" charset="0"/>
                        </a:rPr>
                        <a:t>Tổng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6</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51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98085800"/>
                  </a:ext>
                </a:extLst>
              </a:tr>
              <a:tr h="328726">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TGG, AGG, LAN, KGG, BLU, VLG, DTP, TVH, CMU, CTO</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STG, BTE</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3561689"/>
                  </a:ext>
                </a:extLst>
              </a:tr>
              <a:tr h="184446">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PTO</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8</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 TQG, BGG, BKN, CBG, TNN, QNH, LSN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2064840"/>
                  </a:ext>
                </a:extLst>
              </a:tr>
              <a:tr h="182880">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QNM</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7</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 PYN, DNG, KHA, BDH, QNI, NTN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537287"/>
                  </a:ext>
                </a:extLst>
              </a:tr>
              <a:tr h="166254">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TBH, HNI</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6</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 NDH, BNH, HDG, HNM, HPG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VPC, NBH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592204"/>
                  </a:ext>
                </a:extLst>
              </a:tr>
              <a:tr h="156013">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LCI</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 LCU, YBI, DBN, SLA</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5546426"/>
                  </a:ext>
                </a:extLst>
              </a:tr>
              <a:tr h="156013">
                <a:tc>
                  <a:txBody>
                    <a:bodyPr/>
                    <a:lstStyle/>
                    <a:p>
                      <a:pPr algn="l" fontAlgn="ctr"/>
                      <a:r>
                        <a:rPr lang="en-US" sz="900" b="0" i="0" u="none" strike="noStrike">
                          <a:solidFill>
                            <a:srgbClr val="000000"/>
                          </a:solidFill>
                          <a:effectLst/>
                          <a:latin typeface="Cambria" panose="02040503050406030204" pitchFamily="18" charset="0"/>
                        </a:rPr>
                        <a:t>Tây Nguyên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it-IT" sz="900" b="0" i="0" u="none" strike="noStrike">
                          <a:solidFill>
                            <a:srgbClr val="000000"/>
                          </a:solidFill>
                          <a:effectLst/>
                          <a:latin typeface="Cambria" panose="02040503050406030204" pitchFamily="18" charset="0"/>
                        </a:rPr>
                        <a:t>KTM, DCN, GLI, LDG, DLK</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8693299"/>
                  </a:ext>
                </a:extLst>
              </a:tr>
              <a:tr h="156013">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 TTH, THA, QBH, HTH</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4669199"/>
                  </a:ext>
                </a:extLst>
              </a:tr>
              <a:tr h="156013">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DNI</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BDG</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TNH, VTU, BPC, HCM</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591" marR="5591" marT="559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202353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28317478"/>
              </p:ext>
            </p:extLst>
          </p:nvPr>
        </p:nvGraphicFramePr>
        <p:xfrm>
          <a:off x="4838006" y="2725936"/>
          <a:ext cx="7289055" cy="2236735"/>
        </p:xfrm>
        <a:graphic>
          <a:graphicData uri="http://schemas.openxmlformats.org/drawingml/2006/table">
            <a:tbl>
              <a:tblPr/>
              <a:tblGrid>
                <a:gridCol w="1438354">
                  <a:extLst>
                    <a:ext uri="{9D8B030D-6E8A-4147-A177-3AD203B41FA5}">
                      <a16:colId xmlns:a16="http://schemas.microsoft.com/office/drawing/2014/main" val="3213534159"/>
                    </a:ext>
                  </a:extLst>
                </a:gridCol>
                <a:gridCol w="472883">
                  <a:extLst>
                    <a:ext uri="{9D8B030D-6E8A-4147-A177-3AD203B41FA5}">
                      <a16:colId xmlns:a16="http://schemas.microsoft.com/office/drawing/2014/main" val="2637216942"/>
                    </a:ext>
                  </a:extLst>
                </a:gridCol>
                <a:gridCol w="633325">
                  <a:extLst>
                    <a:ext uri="{9D8B030D-6E8A-4147-A177-3AD203B41FA5}">
                      <a16:colId xmlns:a16="http://schemas.microsoft.com/office/drawing/2014/main" val="92820961"/>
                    </a:ext>
                  </a:extLst>
                </a:gridCol>
                <a:gridCol w="430661">
                  <a:extLst>
                    <a:ext uri="{9D8B030D-6E8A-4147-A177-3AD203B41FA5}">
                      <a16:colId xmlns:a16="http://schemas.microsoft.com/office/drawing/2014/main" val="3789937506"/>
                    </a:ext>
                  </a:extLst>
                </a:gridCol>
                <a:gridCol w="574216">
                  <a:extLst>
                    <a:ext uri="{9D8B030D-6E8A-4147-A177-3AD203B41FA5}">
                      <a16:colId xmlns:a16="http://schemas.microsoft.com/office/drawing/2014/main" val="4233317444"/>
                    </a:ext>
                  </a:extLst>
                </a:gridCol>
                <a:gridCol w="407924">
                  <a:extLst>
                    <a:ext uri="{9D8B030D-6E8A-4147-A177-3AD203B41FA5}">
                      <a16:colId xmlns:a16="http://schemas.microsoft.com/office/drawing/2014/main" val="3870518976"/>
                    </a:ext>
                  </a:extLst>
                </a:gridCol>
                <a:gridCol w="765840">
                  <a:extLst>
                    <a:ext uri="{9D8B030D-6E8A-4147-A177-3AD203B41FA5}">
                      <a16:colId xmlns:a16="http://schemas.microsoft.com/office/drawing/2014/main" val="3472046935"/>
                    </a:ext>
                  </a:extLst>
                </a:gridCol>
                <a:gridCol w="422933">
                  <a:extLst>
                    <a:ext uri="{9D8B030D-6E8A-4147-A177-3AD203B41FA5}">
                      <a16:colId xmlns:a16="http://schemas.microsoft.com/office/drawing/2014/main" val="1067456431"/>
                    </a:ext>
                  </a:extLst>
                </a:gridCol>
                <a:gridCol w="2142919">
                  <a:extLst>
                    <a:ext uri="{9D8B030D-6E8A-4147-A177-3AD203B41FA5}">
                      <a16:colId xmlns:a16="http://schemas.microsoft.com/office/drawing/2014/main" val="3290952375"/>
                    </a:ext>
                  </a:extLst>
                </a:gridCol>
              </a:tblGrid>
              <a:tr h="134458">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HT &gt;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85 - 100%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50 - 85%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&lt; 50%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1927123132"/>
                  </a:ext>
                </a:extLst>
              </a:tr>
              <a:tr h="134458">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1880635214"/>
                  </a:ext>
                </a:extLst>
              </a:tr>
              <a:tr h="134458">
                <a:tc>
                  <a:txBody>
                    <a:bodyPr/>
                    <a:lstStyle/>
                    <a:p>
                      <a:pPr algn="ctr" fontAlgn="ctr"/>
                      <a:r>
                        <a:rPr lang="en-US" sz="900" b="1" i="0" u="none" strike="noStrike">
                          <a:solidFill>
                            <a:srgbClr val="FF0000"/>
                          </a:solidFill>
                          <a:effectLst/>
                          <a:latin typeface="Cambria" panose="02040503050406030204" pitchFamily="18" charset="0"/>
                        </a:rPr>
                        <a:t>Tổng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6</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7</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47</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891494802"/>
                  </a:ext>
                </a:extLst>
              </a:tr>
              <a:tr h="268916">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CMU</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TGG, AGG, LAN, KGG, BLU, VLG, DTP, STG, BTE, TVH, CTO</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074739"/>
                  </a:ext>
                </a:extLst>
              </a:tr>
              <a:tr h="268916">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BKN, CBG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LSN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PTO, TNN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 TQG, BGG, QNH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685785"/>
                  </a:ext>
                </a:extLst>
              </a:tr>
              <a:tr h="268916">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QNM</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7</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 PYN, DNG, KHA, BDH, QNI, NTN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6848007"/>
                  </a:ext>
                </a:extLst>
              </a:tr>
              <a:tr h="268916">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TBH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9</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 VPC, NDH, BNH, HDG, HNI, NBH, HNM, HPG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9404422"/>
                  </a:ext>
                </a:extLst>
              </a:tr>
              <a:tr h="135324">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LCI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SLA</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 LCU, YBI, DBN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0784492"/>
                  </a:ext>
                </a:extLst>
              </a:tr>
              <a:tr h="135324">
                <a:tc>
                  <a:txBody>
                    <a:bodyPr/>
                    <a:lstStyle/>
                    <a:p>
                      <a:pPr algn="l" fontAlgn="ctr"/>
                      <a:r>
                        <a:rPr lang="en-US" sz="900" b="0" i="0" u="none" strike="noStrike">
                          <a:solidFill>
                            <a:srgbClr val="000000"/>
                          </a:solidFill>
                          <a:effectLst/>
                          <a:latin typeface="Cambria" panose="02040503050406030204" pitchFamily="18" charset="0"/>
                        </a:rPr>
                        <a:t>Tây Nguyên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LDG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KTM, DCN, GLI, DLK</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2666335"/>
                  </a:ext>
                </a:extLst>
              </a:tr>
              <a:tr h="135324">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TTH, THA, QBH, HTH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7211900"/>
                  </a:ext>
                </a:extLst>
              </a:tr>
              <a:tr h="135324">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BDG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TNH, VTU, BPC, HCM</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2756814"/>
                  </a:ext>
                </a:extLst>
              </a:tr>
            </a:tbl>
          </a:graphicData>
        </a:graphic>
      </p:graphicFrame>
      <p:sp>
        <p:nvSpPr>
          <p:cNvPr id="14" name="Rectangle 13"/>
          <p:cNvSpPr/>
          <p:nvPr/>
        </p:nvSpPr>
        <p:spPr>
          <a:xfrm>
            <a:off x="4838006" y="4994686"/>
            <a:ext cx="7291694" cy="1774138"/>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838006" y="4985662"/>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18" name="TextBox 17"/>
          <p:cNvSpPr txBox="1"/>
          <p:nvPr/>
        </p:nvSpPr>
        <p:spPr>
          <a:xfrm>
            <a:off x="4838006" y="5232005"/>
            <a:ext cx="7291694" cy="1107996"/>
          </a:xfrm>
          <a:prstGeom prst="rect">
            <a:avLst/>
          </a:prstGeom>
          <a:noFill/>
        </p:spPr>
        <p:txBody>
          <a:bodyPr wrap="square" rtlCol="0">
            <a:spAutoFit/>
          </a:bodyPr>
          <a:lstStyle/>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Có </a:t>
            </a:r>
            <a:r>
              <a:rPr lang="en-US" sz="1400" b="1">
                <a:solidFill>
                  <a:srgbClr val="00B050"/>
                </a:solidFill>
                <a:latin typeface="Cambria" panose="02040503050406030204" pitchFamily="18" charset="0"/>
                <a:ea typeface="Cambria" panose="02040503050406030204" pitchFamily="18" charset="0"/>
              </a:rPr>
              <a:t>6/63</a:t>
            </a:r>
            <a:r>
              <a:rPr lang="en-US" sz="1400">
                <a:latin typeface="Cambria" panose="02040503050406030204" pitchFamily="18" charset="0"/>
                <a:ea typeface="Cambria" panose="02040503050406030204" pitchFamily="18" charset="0"/>
              </a:rPr>
              <a:t> tỉnh hoàn thành chỉ tiêu ME được giao, </a:t>
            </a:r>
            <a:r>
              <a:rPr lang="en-US" sz="1400" b="1">
                <a:solidFill>
                  <a:srgbClr val="00B050"/>
                </a:solidFill>
                <a:latin typeface="Cambria" panose="02040503050406030204" pitchFamily="18" charset="0"/>
                <a:ea typeface="Cambria" panose="02040503050406030204" pitchFamily="18" charset="0"/>
              </a:rPr>
              <a:t>6/63 </a:t>
            </a:r>
            <a:r>
              <a:rPr lang="en-US" sz="1400">
                <a:latin typeface="Cambria" panose="02040503050406030204" pitchFamily="18" charset="0"/>
                <a:ea typeface="Cambria" panose="02040503050406030204" pitchFamily="18" charset="0"/>
              </a:rPr>
              <a:t>tỉnh có nguồn việc ME 9TĐN &gt; 2 tỷ. Đặc biệt, </a:t>
            </a:r>
            <a:r>
              <a:rPr lang="en-US" sz="1400" b="1">
                <a:solidFill>
                  <a:schemeClr val="tx2"/>
                </a:solidFill>
                <a:latin typeface="Cambria" panose="02040503050406030204" pitchFamily="18" charset="0"/>
                <a:ea typeface="Cambria" panose="02040503050406030204" pitchFamily="18" charset="0"/>
              </a:rPr>
              <a:t>QNM và DNI </a:t>
            </a:r>
            <a:r>
              <a:rPr lang="en-US" sz="1400">
                <a:latin typeface="Cambria" panose="02040503050406030204" pitchFamily="18" charset="0"/>
                <a:ea typeface="Cambria" panose="02040503050406030204" pitchFamily="18" charset="0"/>
              </a:rPr>
              <a:t>phát triển nổi bật về lĩnh vực điện nặng, nguồn việc tìm về </a:t>
            </a:r>
            <a:r>
              <a:rPr lang="en-US" sz="1400" b="1">
                <a:solidFill>
                  <a:srgbClr val="00B050"/>
                </a:solidFill>
                <a:latin typeface="Cambria" panose="02040503050406030204" pitchFamily="18" charset="0"/>
                <a:ea typeface="Cambria" panose="02040503050406030204" pitchFamily="18" charset="0"/>
              </a:rPr>
              <a:t>&gt; 15 tỷ</a:t>
            </a:r>
            <a:r>
              <a:rPr lang="en-US" sz="1400">
                <a:latin typeface="Cambria" panose="02040503050406030204" pitchFamily="18" charset="0"/>
                <a:ea typeface="Cambria" panose="02040503050406030204" pitchFamily="18" charset="0"/>
              </a:rPr>
              <a:t>.</a:t>
            </a:r>
          </a:p>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Tuy nhiên, có </a:t>
            </a:r>
            <a:r>
              <a:rPr lang="en-US" sz="1400" b="1">
                <a:solidFill>
                  <a:srgbClr val="FF0000"/>
                </a:solidFill>
                <a:latin typeface="Cambria" panose="02040503050406030204" pitchFamily="18" charset="0"/>
                <a:ea typeface="Cambria" panose="02040503050406030204" pitchFamily="18" charset="0"/>
              </a:rPr>
              <a:t>47/63</a:t>
            </a:r>
            <a:r>
              <a:rPr lang="en-US" sz="1400">
                <a:latin typeface="Cambria" panose="02040503050406030204" pitchFamily="18" charset="0"/>
                <a:ea typeface="Cambria" panose="02040503050406030204" pitchFamily="18" charset="0"/>
              </a:rPr>
              <a:t> tỉnh HT &lt; 50% và </a:t>
            </a:r>
            <a:r>
              <a:rPr lang="en-US" sz="1400" b="1">
                <a:solidFill>
                  <a:srgbClr val="FF0000"/>
                </a:solidFill>
                <a:latin typeface="Cambria" panose="02040503050406030204" pitchFamily="18" charset="0"/>
                <a:ea typeface="Cambria" panose="02040503050406030204" pitchFamily="18" charset="0"/>
              </a:rPr>
              <a:t>4/47</a:t>
            </a:r>
            <a:r>
              <a:rPr lang="en-US" sz="1400">
                <a:latin typeface="Cambria" panose="02040503050406030204" pitchFamily="18" charset="0"/>
                <a:ea typeface="Cambria" panose="02040503050406030204" pitchFamily="18" charset="0"/>
              </a:rPr>
              <a:t> tỉnh 9TĐN không có dự án ME.</a:t>
            </a:r>
          </a:p>
          <a:p>
            <a:pPr marL="285750" indent="-285750" algn="just">
              <a:spcBef>
                <a:spcPts val="600"/>
              </a:spcBef>
              <a:buFont typeface="Arial" panose="020B0604020202020204" pitchFamily="34" charset="0"/>
              <a:buChar char="•"/>
            </a:pPr>
            <a:endParaRPr lang="en-US" sz="140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stretch>
            <a:fillRect/>
          </a:stretch>
        </p:blipFill>
        <p:spPr>
          <a:xfrm>
            <a:off x="0" y="790762"/>
            <a:ext cx="4793228" cy="5851108"/>
          </a:xfrm>
          <a:prstGeom prst="rect">
            <a:avLst/>
          </a:prstGeom>
        </p:spPr>
      </p:pic>
    </p:spTree>
    <p:extLst>
      <p:ext uri="{BB962C8B-B14F-4D97-AF65-F5344CB8AC3E}">
        <p14:creationId xmlns:p14="http://schemas.microsoft.com/office/powerpoint/2010/main" val="286246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11473829"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1.3. TOP TỈNH CÓ NGUỒN VIỆC 9</a:t>
            </a:r>
            <a:r>
              <a:rPr lang="vi-VN" sz="2400" b="1">
                <a:solidFill>
                  <a:schemeClr val="accent2">
                    <a:lumMod val="75000"/>
                  </a:schemeClr>
                </a:solidFill>
                <a:latin typeface="FS Magistral Bold" panose="020B0804030204080304" pitchFamily="34" charset="0"/>
              </a:rPr>
              <a:t>TĐN </a:t>
            </a:r>
            <a:r>
              <a:rPr lang="en-US" sz="2400" b="1">
                <a:solidFill>
                  <a:schemeClr val="accent2">
                    <a:lumMod val="75000"/>
                  </a:schemeClr>
                </a:solidFill>
                <a:latin typeface="FS Magistral Bold" panose="020B0804030204080304" pitchFamily="34" charset="0"/>
              </a:rPr>
              <a:t>TỐT/TỒI </a:t>
            </a:r>
            <a:r>
              <a:rPr lang="en-US" sz="2400" b="1">
                <a:latin typeface="FS Magistral Bold" panose="020B0804030204080304" pitchFamily="34" charset="0"/>
              </a:rPr>
              <a:t>– BU ICT</a:t>
            </a:r>
            <a:endParaRPr lang="vi-VN" sz="2400" b="1" err="1">
              <a:latin typeface="FS Magistral Bold" panose="020B08040302040803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037079337"/>
              </p:ext>
            </p:extLst>
          </p:nvPr>
        </p:nvGraphicFramePr>
        <p:xfrm>
          <a:off x="4895850" y="582789"/>
          <a:ext cx="7233851" cy="2220254"/>
        </p:xfrm>
        <a:graphic>
          <a:graphicData uri="http://schemas.openxmlformats.org/drawingml/2006/table">
            <a:tbl>
              <a:tblPr/>
              <a:tblGrid>
                <a:gridCol w="1295525">
                  <a:extLst>
                    <a:ext uri="{9D8B030D-6E8A-4147-A177-3AD203B41FA5}">
                      <a16:colId xmlns:a16="http://schemas.microsoft.com/office/drawing/2014/main" val="4223649353"/>
                    </a:ext>
                  </a:extLst>
                </a:gridCol>
                <a:gridCol w="403480">
                  <a:extLst>
                    <a:ext uri="{9D8B030D-6E8A-4147-A177-3AD203B41FA5}">
                      <a16:colId xmlns:a16="http://schemas.microsoft.com/office/drawing/2014/main" val="2322436896"/>
                    </a:ext>
                  </a:extLst>
                </a:gridCol>
                <a:gridCol w="559930">
                  <a:extLst>
                    <a:ext uri="{9D8B030D-6E8A-4147-A177-3AD203B41FA5}">
                      <a16:colId xmlns:a16="http://schemas.microsoft.com/office/drawing/2014/main" val="3569139525"/>
                    </a:ext>
                  </a:extLst>
                </a:gridCol>
                <a:gridCol w="387011">
                  <a:extLst>
                    <a:ext uri="{9D8B030D-6E8A-4147-A177-3AD203B41FA5}">
                      <a16:colId xmlns:a16="http://schemas.microsoft.com/office/drawing/2014/main" val="3581140923"/>
                    </a:ext>
                  </a:extLst>
                </a:gridCol>
                <a:gridCol w="1070456">
                  <a:extLst>
                    <a:ext uri="{9D8B030D-6E8A-4147-A177-3AD203B41FA5}">
                      <a16:colId xmlns:a16="http://schemas.microsoft.com/office/drawing/2014/main" val="2625739415"/>
                    </a:ext>
                  </a:extLst>
                </a:gridCol>
                <a:gridCol w="461119">
                  <a:extLst>
                    <a:ext uri="{9D8B030D-6E8A-4147-A177-3AD203B41FA5}">
                      <a16:colId xmlns:a16="http://schemas.microsoft.com/office/drawing/2014/main" val="2054102786"/>
                    </a:ext>
                  </a:extLst>
                </a:gridCol>
                <a:gridCol w="1799212">
                  <a:extLst>
                    <a:ext uri="{9D8B030D-6E8A-4147-A177-3AD203B41FA5}">
                      <a16:colId xmlns:a16="http://schemas.microsoft.com/office/drawing/2014/main" val="2567921444"/>
                    </a:ext>
                  </a:extLst>
                </a:gridCol>
                <a:gridCol w="628559">
                  <a:extLst>
                    <a:ext uri="{9D8B030D-6E8A-4147-A177-3AD203B41FA5}">
                      <a16:colId xmlns:a16="http://schemas.microsoft.com/office/drawing/2014/main" val="2639557082"/>
                    </a:ext>
                  </a:extLst>
                </a:gridCol>
                <a:gridCol w="628559">
                  <a:extLst>
                    <a:ext uri="{9D8B030D-6E8A-4147-A177-3AD203B41FA5}">
                      <a16:colId xmlns:a16="http://schemas.microsoft.com/office/drawing/2014/main" val="16750202"/>
                    </a:ext>
                  </a:extLst>
                </a:gridCol>
              </a:tblGrid>
              <a:tr h="147639">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NV &gt; 10 tỷ</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5 - 10 tỷ</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2 - 5 tỷ</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NV &lt; 2 tỷ</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2754777565"/>
                  </a:ext>
                </a:extLst>
              </a:tr>
              <a:tr h="289615">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2498674009"/>
                  </a:ext>
                </a:extLst>
              </a:tr>
              <a:tr h="147639">
                <a:tc>
                  <a:txBody>
                    <a:bodyPr/>
                    <a:lstStyle/>
                    <a:p>
                      <a:pPr algn="ctr" fontAlgn="ctr"/>
                      <a:r>
                        <a:rPr lang="en-US" sz="900" b="1" i="0" u="none" strike="noStrike">
                          <a:solidFill>
                            <a:srgbClr val="FF0000"/>
                          </a:solidFill>
                          <a:effectLst/>
                          <a:latin typeface="Cambria" panose="02040503050406030204" pitchFamily="18" charset="0"/>
                        </a:rPr>
                        <a:t>Tổng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16</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2</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14080248"/>
                  </a:ext>
                </a:extLst>
              </a:tr>
              <a:tr h="304718">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TGG, CTO</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AGG, LAN, KGG, VLG, DTP, STG, BTE, TVH, CMU</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BLU</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7738937"/>
                  </a:ext>
                </a:extLst>
              </a:tr>
              <a:tr h="205034">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TNN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CBG, PTO, QNH</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 TQG, BGG, BKN, LSN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1692742"/>
                  </a:ext>
                </a:extLst>
              </a:tr>
              <a:tr h="205034">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 DNG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6</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QNM, PYN, KHA, BDH, QNI, NTN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69668"/>
                  </a:ext>
                </a:extLst>
              </a:tr>
              <a:tr h="205034">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TBH</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BNH, HNI, HNM</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VPC, NDH, HDG, NBH, HPG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8616243"/>
                  </a:ext>
                </a:extLst>
              </a:tr>
              <a:tr h="147639">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SLA</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 LCI, LCU, YBI, DBN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5565020"/>
                  </a:ext>
                </a:extLst>
              </a:tr>
              <a:tr h="147639">
                <a:tc>
                  <a:txBody>
                    <a:bodyPr/>
                    <a:lstStyle/>
                    <a:p>
                      <a:pPr algn="l" fontAlgn="ctr"/>
                      <a:r>
                        <a:rPr lang="en-US" sz="900" b="0" i="0" u="none" strike="noStrike">
                          <a:solidFill>
                            <a:srgbClr val="000000"/>
                          </a:solidFill>
                          <a:effectLst/>
                          <a:latin typeface="Cambria" panose="02040503050406030204" pitchFamily="18" charset="0"/>
                        </a:rPr>
                        <a:t>Tây Nguyên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LDG</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KTM, DCN, GLI, DLK</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6444063"/>
                  </a:ext>
                </a:extLst>
              </a:tr>
              <a:tr h="215229">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TTH, THA, QBH, HTH</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5948109"/>
                  </a:ext>
                </a:extLst>
              </a:tr>
              <a:tr h="205034">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VTU</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5</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pl-PL" sz="900" b="0" i="0" u="none" strike="noStrike">
                          <a:solidFill>
                            <a:srgbClr val="000000"/>
                          </a:solidFill>
                          <a:effectLst/>
                          <a:latin typeface="Cambria" panose="02040503050406030204" pitchFamily="18" charset="0"/>
                        </a:rPr>
                        <a:t>DNI, TNH, BDG, BPC, HCM</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472" marR="5472" marT="54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512553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32666849"/>
              </p:ext>
            </p:extLst>
          </p:nvPr>
        </p:nvGraphicFramePr>
        <p:xfrm>
          <a:off x="4895847" y="2856738"/>
          <a:ext cx="7233853" cy="2114326"/>
        </p:xfrm>
        <a:graphic>
          <a:graphicData uri="http://schemas.openxmlformats.org/drawingml/2006/table">
            <a:tbl>
              <a:tblPr/>
              <a:tblGrid>
                <a:gridCol w="1513266">
                  <a:extLst>
                    <a:ext uri="{9D8B030D-6E8A-4147-A177-3AD203B41FA5}">
                      <a16:colId xmlns:a16="http://schemas.microsoft.com/office/drawing/2014/main" val="919210343"/>
                    </a:ext>
                  </a:extLst>
                </a:gridCol>
                <a:gridCol w="423949">
                  <a:extLst>
                    <a:ext uri="{9D8B030D-6E8A-4147-A177-3AD203B41FA5}">
                      <a16:colId xmlns:a16="http://schemas.microsoft.com/office/drawing/2014/main" val="2036361141"/>
                    </a:ext>
                  </a:extLst>
                </a:gridCol>
                <a:gridCol w="1113905">
                  <a:extLst>
                    <a:ext uri="{9D8B030D-6E8A-4147-A177-3AD203B41FA5}">
                      <a16:colId xmlns:a16="http://schemas.microsoft.com/office/drawing/2014/main" val="3442494339"/>
                    </a:ext>
                  </a:extLst>
                </a:gridCol>
                <a:gridCol w="390698">
                  <a:extLst>
                    <a:ext uri="{9D8B030D-6E8A-4147-A177-3AD203B41FA5}">
                      <a16:colId xmlns:a16="http://schemas.microsoft.com/office/drawing/2014/main" val="988541518"/>
                    </a:ext>
                  </a:extLst>
                </a:gridCol>
                <a:gridCol w="598517">
                  <a:extLst>
                    <a:ext uri="{9D8B030D-6E8A-4147-A177-3AD203B41FA5}">
                      <a16:colId xmlns:a16="http://schemas.microsoft.com/office/drawing/2014/main" val="2384942249"/>
                    </a:ext>
                  </a:extLst>
                </a:gridCol>
                <a:gridCol w="432262">
                  <a:extLst>
                    <a:ext uri="{9D8B030D-6E8A-4147-A177-3AD203B41FA5}">
                      <a16:colId xmlns:a16="http://schemas.microsoft.com/office/drawing/2014/main" val="2750682947"/>
                    </a:ext>
                  </a:extLst>
                </a:gridCol>
                <a:gridCol w="889461">
                  <a:extLst>
                    <a:ext uri="{9D8B030D-6E8A-4147-A177-3AD203B41FA5}">
                      <a16:colId xmlns:a16="http://schemas.microsoft.com/office/drawing/2014/main" val="3129081455"/>
                    </a:ext>
                  </a:extLst>
                </a:gridCol>
                <a:gridCol w="432262">
                  <a:extLst>
                    <a:ext uri="{9D8B030D-6E8A-4147-A177-3AD203B41FA5}">
                      <a16:colId xmlns:a16="http://schemas.microsoft.com/office/drawing/2014/main" val="255701373"/>
                    </a:ext>
                  </a:extLst>
                </a:gridCol>
                <a:gridCol w="1439533">
                  <a:extLst>
                    <a:ext uri="{9D8B030D-6E8A-4147-A177-3AD203B41FA5}">
                      <a16:colId xmlns:a16="http://schemas.microsoft.com/office/drawing/2014/main" val="62477489"/>
                    </a:ext>
                  </a:extLst>
                </a:gridCol>
              </a:tblGrid>
              <a:tr h="148725">
                <a:tc rowSpan="2">
                  <a:txBody>
                    <a:bodyPr/>
                    <a:lstStyle/>
                    <a:p>
                      <a:pPr algn="ctr" fontAlgn="ctr"/>
                      <a:r>
                        <a:rPr lang="en-US" sz="900" b="1" i="0" u="none" strike="noStrike">
                          <a:solidFill>
                            <a:srgbClr val="000000"/>
                          </a:solidFill>
                          <a:effectLst/>
                          <a:latin typeface="Cambria" panose="02040503050406030204" pitchFamily="18" charset="0"/>
                        </a:rPr>
                        <a:t>VÙNG MIỀN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gridSpan="2">
                  <a:txBody>
                    <a:bodyPr/>
                    <a:lstStyle/>
                    <a:p>
                      <a:pPr algn="ctr" fontAlgn="ctr"/>
                      <a:r>
                        <a:rPr lang="en-US" sz="900" b="1" i="0" u="none" strike="noStrike">
                          <a:solidFill>
                            <a:srgbClr val="000000"/>
                          </a:solidFill>
                          <a:effectLst/>
                          <a:latin typeface="Cambria" panose="02040503050406030204" pitchFamily="18" charset="0"/>
                        </a:rPr>
                        <a:t>HT &gt;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85 - 100%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50 - 85%</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tc gridSpan="2">
                  <a:txBody>
                    <a:bodyPr/>
                    <a:lstStyle/>
                    <a:p>
                      <a:pPr algn="ctr" fontAlgn="ctr"/>
                      <a:r>
                        <a:rPr lang="en-US" sz="900" b="1" i="0" u="none" strike="noStrike">
                          <a:solidFill>
                            <a:srgbClr val="000000"/>
                          </a:solidFill>
                          <a:effectLst/>
                          <a:latin typeface="Cambria" panose="02040503050406030204" pitchFamily="18" charset="0"/>
                        </a:rPr>
                        <a:t>HT &lt; 50%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00"/>
                    </a:solidFill>
                  </a:tcPr>
                </a:tc>
                <a:tc hMerge="1">
                  <a:txBody>
                    <a:bodyPr/>
                    <a:lstStyle/>
                    <a:p>
                      <a:endParaRPr lang="en-US"/>
                    </a:p>
                  </a:txBody>
                  <a:tcPr/>
                </a:tc>
                <a:extLst>
                  <a:ext uri="{0D108BD9-81ED-4DB2-BD59-A6C34878D82A}">
                    <a16:rowId xmlns:a16="http://schemas.microsoft.com/office/drawing/2014/main" val="2510961483"/>
                  </a:ext>
                </a:extLst>
              </a:tr>
              <a:tr h="148725">
                <a:tc vMerge="1">
                  <a:txBody>
                    <a:bodyPr/>
                    <a:lstStyle/>
                    <a:p>
                      <a:endParaRPr lang="en-US"/>
                    </a:p>
                  </a:txBody>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vi-VN" sz="900" b="1" i="0" u="none" strike="noStrike">
                          <a:solidFill>
                            <a:srgbClr val="000000"/>
                          </a:solidFill>
                          <a:effectLst/>
                          <a:latin typeface="Cambria" panose="02040503050406030204" pitchFamily="18" charset="0"/>
                        </a:rPr>
                        <a:t>Số lượng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tc>
                  <a:txBody>
                    <a:bodyPr/>
                    <a:lstStyle/>
                    <a:p>
                      <a:pPr algn="ctr" fontAlgn="ctr"/>
                      <a:r>
                        <a:rPr lang="en-US" sz="900" b="1" i="0" u="none" strike="noStrike">
                          <a:solidFill>
                            <a:srgbClr val="000000"/>
                          </a:solidFill>
                          <a:effectLst/>
                          <a:latin typeface="Cambria" panose="02040503050406030204" pitchFamily="18" charset="0"/>
                        </a:rPr>
                        <a:t>List tỉnh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5CD"/>
                    </a:solidFill>
                  </a:tcPr>
                </a:tc>
                <a:extLst>
                  <a:ext uri="{0D108BD9-81ED-4DB2-BD59-A6C34878D82A}">
                    <a16:rowId xmlns:a16="http://schemas.microsoft.com/office/drawing/2014/main" val="105041786"/>
                  </a:ext>
                </a:extLst>
              </a:tr>
              <a:tr h="148725">
                <a:tc>
                  <a:txBody>
                    <a:bodyPr/>
                    <a:lstStyle/>
                    <a:p>
                      <a:pPr algn="ctr" fontAlgn="ctr"/>
                      <a:r>
                        <a:rPr lang="en-US" sz="900" b="1" i="0" u="none" strike="noStrike">
                          <a:solidFill>
                            <a:srgbClr val="FF0000"/>
                          </a:solidFill>
                          <a:effectLst/>
                          <a:latin typeface="Cambria" panose="02040503050406030204" pitchFamily="18" charset="0"/>
                        </a:rPr>
                        <a:t>Tổng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14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14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900" b="1" i="0" u="none" strike="noStrike">
                          <a:solidFill>
                            <a:srgbClr val="FF0000"/>
                          </a:solidFill>
                          <a:effectLst/>
                          <a:latin typeface="Cambria" panose="02040503050406030204" pitchFamily="18" charset="0"/>
                        </a:rPr>
                        <a:t>31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71250218"/>
                  </a:ext>
                </a:extLst>
              </a:tr>
              <a:tr h="297450">
                <a:tc>
                  <a:txBody>
                    <a:bodyPr/>
                    <a:lstStyle/>
                    <a:p>
                      <a:pPr algn="l" fontAlgn="ctr"/>
                      <a:r>
                        <a:rPr lang="en-US" sz="900" b="0" i="0" u="none" strike="noStrike">
                          <a:solidFill>
                            <a:srgbClr val="000000"/>
                          </a:solidFill>
                          <a:effectLst/>
                          <a:latin typeface="Cambria" panose="02040503050406030204" pitchFamily="18" charset="0"/>
                        </a:rPr>
                        <a:t>ĐB Sông Cửu Long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CTO</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TGG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VLG, DTP, BTE</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8</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HUG, AGG, LAN, KGG, BLU, STG, TVH, CMU</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627615"/>
                  </a:ext>
                </a:extLst>
              </a:tr>
              <a:tr h="183450">
                <a:tc>
                  <a:txBody>
                    <a:bodyPr/>
                    <a:lstStyle/>
                    <a:p>
                      <a:pPr algn="l" fontAlgn="ctr"/>
                      <a:r>
                        <a:rPr lang="en-US" sz="900" b="0" i="0" u="none" strike="noStrike">
                          <a:solidFill>
                            <a:srgbClr val="000000"/>
                          </a:solidFill>
                          <a:effectLst/>
                          <a:latin typeface="Cambria" panose="02040503050406030204" pitchFamily="18" charset="0"/>
                        </a:rPr>
                        <a:t>Đông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BKN, CBG, PTO, TNN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TQG, QNH, LSN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HGG, BGG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1396306"/>
                  </a:ext>
                </a:extLst>
              </a:tr>
              <a:tr h="149682">
                <a:tc>
                  <a:txBody>
                    <a:bodyPr/>
                    <a:lstStyle/>
                    <a:p>
                      <a:pPr algn="l" fontAlgn="ctr"/>
                      <a:r>
                        <a:rPr lang="en-US" sz="900" b="0" i="0" u="none" strike="noStrike">
                          <a:solidFill>
                            <a:srgbClr val="000000"/>
                          </a:solidFill>
                          <a:effectLst/>
                          <a:latin typeface="Cambria" panose="02040503050406030204" pitchFamily="18" charset="0"/>
                        </a:rPr>
                        <a:t>Duyên hải Nam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BTN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BDH, NTN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QNM, PYN, KHA, QNI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2793636"/>
                  </a:ext>
                </a:extLst>
              </a:tr>
              <a:tr h="149682">
                <a:tc>
                  <a:txBody>
                    <a:bodyPr/>
                    <a:lstStyle/>
                    <a:p>
                      <a:pPr algn="l" fontAlgn="ctr"/>
                      <a:r>
                        <a:rPr lang="en-US" sz="900" b="0" i="0" u="none" strike="noStrike">
                          <a:solidFill>
                            <a:srgbClr val="000000"/>
                          </a:solidFill>
                          <a:effectLst/>
                          <a:latin typeface="Cambria" panose="02040503050406030204" pitchFamily="18" charset="0"/>
                        </a:rPr>
                        <a:t>ĐB Sông Hồng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TBH, HNM</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VPC, BNH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6</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HYN, NDH, HDG, HNI, NBH, HPG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5837171"/>
                  </a:ext>
                </a:extLst>
              </a:tr>
              <a:tr h="149682">
                <a:tc>
                  <a:txBody>
                    <a:bodyPr/>
                    <a:lstStyle/>
                    <a:p>
                      <a:pPr algn="l" fontAlgn="ctr"/>
                      <a:r>
                        <a:rPr lang="en-US" sz="900" b="0" i="0" u="none" strike="noStrike">
                          <a:solidFill>
                            <a:srgbClr val="000000"/>
                          </a:solidFill>
                          <a:effectLst/>
                          <a:latin typeface="Cambria" panose="02040503050406030204" pitchFamily="18" charset="0"/>
                        </a:rPr>
                        <a:t>Tây Bắc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LCU, SLA</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LCI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HBH, YBI, DBN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7841055"/>
                  </a:ext>
                </a:extLst>
              </a:tr>
              <a:tr h="149682">
                <a:tc>
                  <a:txBody>
                    <a:bodyPr/>
                    <a:lstStyle/>
                    <a:p>
                      <a:pPr algn="l" fontAlgn="ctr"/>
                      <a:r>
                        <a:rPr lang="en-US" sz="900" b="0" i="0" u="none" strike="noStrike">
                          <a:solidFill>
                            <a:srgbClr val="000000"/>
                          </a:solidFill>
                          <a:effectLst/>
                          <a:latin typeface="Cambria" panose="02040503050406030204" pitchFamily="18" charset="0"/>
                        </a:rPr>
                        <a:t>Tây Nguyên</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LDG</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GLI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3</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KTM, DCN, DLK</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9989054"/>
                  </a:ext>
                </a:extLst>
              </a:tr>
              <a:tr h="176834">
                <a:tc>
                  <a:txBody>
                    <a:bodyPr/>
                    <a:lstStyle/>
                    <a:p>
                      <a:pPr algn="l" fontAlgn="ctr"/>
                      <a:r>
                        <a:rPr lang="en-US" sz="900" b="0" i="0" u="none" strike="noStrike">
                          <a:solidFill>
                            <a:srgbClr val="000000"/>
                          </a:solidFill>
                          <a:effectLst/>
                          <a:latin typeface="Cambria" panose="02040503050406030204" pitchFamily="18" charset="0"/>
                        </a:rPr>
                        <a:t>Bắc Trung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NAN, QBH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2</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TTH, HTH</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THA</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QTI</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8781895"/>
                  </a:ext>
                </a:extLst>
              </a:tr>
              <a:tr h="149682">
                <a:tc>
                  <a:txBody>
                    <a:bodyPr/>
                    <a:lstStyle/>
                    <a:p>
                      <a:pPr algn="l" fontAlgn="ctr"/>
                      <a:r>
                        <a:rPr lang="en-US" sz="900" b="0" i="0" u="none" strike="noStrike">
                          <a:solidFill>
                            <a:srgbClr val="000000"/>
                          </a:solidFill>
                          <a:effectLst/>
                          <a:latin typeface="Cambria" panose="02040503050406030204" pitchFamily="18" charset="0"/>
                        </a:rPr>
                        <a:t>Đông Nam Bộ</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VTU</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0</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Arial" panose="020B0604020202020204" pitchFamily="34" charset="0"/>
                        </a:rPr>
                        <a:t> </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1</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BPC</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Cambria" panose="02040503050406030204" pitchFamily="18" charset="0"/>
                        </a:rPr>
                        <a:t>4</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900" b="0" i="0" u="none" strike="noStrike">
                          <a:solidFill>
                            <a:srgbClr val="000000"/>
                          </a:solidFill>
                          <a:effectLst/>
                          <a:latin typeface="Cambria" panose="02040503050406030204" pitchFamily="18" charset="0"/>
                        </a:rPr>
                        <a:t>DNI, TNH, BDG, HCM</a:t>
                      </a:r>
                    </a:p>
                  </a:txBody>
                  <a:tcPr marL="5887" marR="5887" marT="588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259925"/>
                  </a:ext>
                </a:extLst>
              </a:tr>
            </a:tbl>
          </a:graphicData>
        </a:graphic>
      </p:graphicFrame>
      <p:sp>
        <p:nvSpPr>
          <p:cNvPr id="16" name="Rectangle 15"/>
          <p:cNvSpPr/>
          <p:nvPr/>
        </p:nvSpPr>
        <p:spPr>
          <a:xfrm>
            <a:off x="4838006" y="4994686"/>
            <a:ext cx="7291694" cy="1774138"/>
          </a:xfrm>
          <a:prstGeom prst="rect">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838006" y="4985662"/>
            <a:ext cx="1221971" cy="338554"/>
          </a:xfrm>
          <a:prstGeom prst="rect">
            <a:avLst/>
          </a:prstGeom>
          <a:noFill/>
        </p:spPr>
        <p:txBody>
          <a:bodyPr wrap="square" rtlCol="0">
            <a:spAutoFit/>
          </a:bodyPr>
          <a:lstStyle/>
          <a:p>
            <a:r>
              <a:rPr lang="en-US" sz="1600" b="1">
                <a:solidFill>
                  <a:schemeClr val="accent2">
                    <a:lumMod val="75000"/>
                  </a:schemeClr>
                </a:solidFill>
                <a:latin typeface="Cambria" panose="02040503050406030204" pitchFamily="18" charset="0"/>
                <a:ea typeface="Cambria" panose="02040503050406030204" pitchFamily="18" charset="0"/>
              </a:rPr>
              <a:t>ĐÁNH GIÁ:</a:t>
            </a:r>
          </a:p>
        </p:txBody>
      </p:sp>
      <p:sp>
        <p:nvSpPr>
          <p:cNvPr id="19" name="TextBox 18"/>
          <p:cNvSpPr txBox="1"/>
          <p:nvPr/>
        </p:nvSpPr>
        <p:spPr>
          <a:xfrm>
            <a:off x="4838006" y="5232005"/>
            <a:ext cx="7291694" cy="1107996"/>
          </a:xfrm>
          <a:prstGeom prst="rect">
            <a:avLst/>
          </a:prstGeom>
          <a:noFill/>
        </p:spPr>
        <p:txBody>
          <a:bodyPr wrap="square" rtlCol="0">
            <a:spAutoFit/>
          </a:bodyPr>
          <a:lstStyle/>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Có </a:t>
            </a:r>
            <a:r>
              <a:rPr lang="en-US" sz="1400" b="1">
                <a:solidFill>
                  <a:srgbClr val="00B050"/>
                </a:solidFill>
                <a:latin typeface="Cambria" panose="02040503050406030204" pitchFamily="18" charset="0"/>
                <a:ea typeface="Cambria" panose="02040503050406030204" pitchFamily="18" charset="0"/>
              </a:rPr>
              <a:t>14/63</a:t>
            </a:r>
            <a:r>
              <a:rPr lang="en-US" sz="1400">
                <a:latin typeface="Cambria" panose="02040503050406030204" pitchFamily="18" charset="0"/>
                <a:ea typeface="Cambria" panose="02040503050406030204" pitchFamily="18" charset="0"/>
              </a:rPr>
              <a:t> tỉnh hoàn thành chỉ tiêu ICT được giao, </a:t>
            </a:r>
            <a:r>
              <a:rPr lang="en-US" sz="1400" b="1">
                <a:solidFill>
                  <a:srgbClr val="00B050"/>
                </a:solidFill>
                <a:latin typeface="Cambria" panose="02040503050406030204" pitchFamily="18" charset="0"/>
                <a:ea typeface="Cambria" panose="02040503050406030204" pitchFamily="18" charset="0"/>
              </a:rPr>
              <a:t>16/63 </a:t>
            </a:r>
            <a:r>
              <a:rPr lang="en-US" sz="1400">
                <a:latin typeface="Cambria" panose="02040503050406030204" pitchFamily="18" charset="0"/>
                <a:ea typeface="Cambria" panose="02040503050406030204" pitchFamily="18" charset="0"/>
              </a:rPr>
              <a:t>tỉnh có nguồn việc ICT 9TĐN &gt; 5 tỷ. Đặc biệt, </a:t>
            </a:r>
            <a:r>
              <a:rPr lang="en-US" sz="1400" b="1">
                <a:solidFill>
                  <a:schemeClr val="tx2"/>
                </a:solidFill>
                <a:latin typeface="Cambria" panose="02040503050406030204" pitchFamily="18" charset="0"/>
                <a:ea typeface="Cambria" panose="02040503050406030204" pitchFamily="18" charset="0"/>
              </a:rPr>
              <a:t>TNN, TBH, NAN &amp; VTU </a:t>
            </a:r>
            <a:r>
              <a:rPr lang="en-US" sz="1400">
                <a:latin typeface="Cambria" panose="02040503050406030204" pitchFamily="18" charset="0"/>
                <a:ea typeface="Cambria" panose="02040503050406030204" pitchFamily="18" charset="0"/>
              </a:rPr>
              <a:t>9TĐN ký được  </a:t>
            </a:r>
            <a:r>
              <a:rPr lang="en-US" sz="1400" b="1">
                <a:solidFill>
                  <a:srgbClr val="00B050"/>
                </a:solidFill>
                <a:latin typeface="Cambria" panose="02040503050406030204" pitchFamily="18" charset="0"/>
                <a:ea typeface="Cambria" panose="02040503050406030204" pitchFamily="18" charset="0"/>
              </a:rPr>
              <a:t>&gt; 10 tỷ</a:t>
            </a:r>
            <a:r>
              <a:rPr lang="en-US" sz="1400">
                <a:latin typeface="Cambria" panose="02040503050406030204" pitchFamily="18" charset="0"/>
                <a:ea typeface="Cambria" panose="02040503050406030204" pitchFamily="18" charset="0"/>
              </a:rPr>
              <a:t> Nguồn việc điện nhẹ.</a:t>
            </a:r>
          </a:p>
          <a:p>
            <a:pPr marL="285750" indent="-285750" algn="just">
              <a:spcBef>
                <a:spcPts val="600"/>
              </a:spcBef>
              <a:buFont typeface="Arial" panose="020B0604020202020204" pitchFamily="34" charset="0"/>
              <a:buChar char="•"/>
            </a:pPr>
            <a:r>
              <a:rPr lang="en-US" sz="1400">
                <a:latin typeface="Cambria" panose="02040503050406030204" pitchFamily="18" charset="0"/>
                <a:ea typeface="Cambria" panose="02040503050406030204" pitchFamily="18" charset="0"/>
              </a:rPr>
              <a:t>Tuy nhiên, có </a:t>
            </a:r>
            <a:r>
              <a:rPr lang="en-US" sz="1400" b="1">
                <a:solidFill>
                  <a:srgbClr val="FF0000"/>
                </a:solidFill>
                <a:latin typeface="Cambria" panose="02040503050406030204" pitchFamily="18" charset="0"/>
                <a:ea typeface="Cambria" panose="02040503050406030204" pitchFamily="18" charset="0"/>
              </a:rPr>
              <a:t>31/63</a:t>
            </a:r>
            <a:r>
              <a:rPr lang="en-US" sz="1400">
                <a:latin typeface="Cambria" panose="02040503050406030204" pitchFamily="18" charset="0"/>
                <a:ea typeface="Cambria" panose="02040503050406030204" pitchFamily="18" charset="0"/>
              </a:rPr>
              <a:t> tỉnh HT &lt; 50% và </a:t>
            </a:r>
            <a:r>
              <a:rPr lang="en-US" sz="1400" b="1">
                <a:solidFill>
                  <a:srgbClr val="FF0000"/>
                </a:solidFill>
                <a:latin typeface="Cambria" panose="02040503050406030204" pitchFamily="18" charset="0"/>
                <a:ea typeface="Cambria" panose="02040503050406030204" pitchFamily="18" charset="0"/>
              </a:rPr>
              <a:t>2/31</a:t>
            </a:r>
            <a:r>
              <a:rPr lang="en-US" sz="1400">
                <a:latin typeface="Cambria" panose="02040503050406030204" pitchFamily="18" charset="0"/>
                <a:ea typeface="Cambria" panose="02040503050406030204" pitchFamily="18" charset="0"/>
              </a:rPr>
              <a:t> tỉnh 9TĐN không có dự án ICT.</a:t>
            </a:r>
          </a:p>
          <a:p>
            <a:pPr marL="285750" indent="-285750" algn="just">
              <a:spcBef>
                <a:spcPts val="600"/>
              </a:spcBef>
              <a:buFont typeface="Arial" panose="020B0604020202020204" pitchFamily="34" charset="0"/>
              <a:buChar char="•"/>
            </a:pPr>
            <a:endParaRPr lang="en-US" sz="14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3"/>
          <a:stretch>
            <a:fillRect/>
          </a:stretch>
        </p:blipFill>
        <p:spPr>
          <a:xfrm>
            <a:off x="0" y="791807"/>
            <a:ext cx="4816084" cy="5846764"/>
          </a:xfrm>
          <a:prstGeom prst="rect">
            <a:avLst/>
          </a:prstGeom>
        </p:spPr>
      </p:pic>
    </p:spTree>
    <p:extLst>
      <p:ext uri="{BB962C8B-B14F-4D97-AF65-F5344CB8AC3E}">
        <p14:creationId xmlns:p14="http://schemas.microsoft.com/office/powerpoint/2010/main" val="2588791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11473829" cy="461665"/>
          </a:xfrm>
          <a:prstGeom prst="rect">
            <a:avLst/>
          </a:prstGeom>
          <a:noFill/>
        </p:spPr>
        <p:txBody>
          <a:bodyPr wrap="square" rtlCol="0">
            <a:spAutoFit/>
          </a:bodyPr>
          <a:lstStyle/>
          <a:p>
            <a:pPr marL="0" marR="0" lvl="0" indent="0" algn="l" defTabSz="1219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1.4.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ĐÁNH</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GIÁ</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CHUNG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KẾT</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QUẢ</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9TĐN</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TỒN</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TẠI</a:t>
            </a:r>
            <a:endParaRPr kumimoji="0" lang="vi-VN" sz="2400" b="1" i="0" u="none" strike="noStrike" kern="1200" cap="none" spc="0" normalizeH="0" baseline="0" noProof="0" dirty="0">
              <a:ln>
                <a:noFill/>
              </a:ln>
              <a:solidFill>
                <a:prstClr val="black"/>
              </a:solidFill>
              <a:effectLst/>
              <a:uLnTx/>
              <a:uFillTx/>
              <a:latin typeface="FS Magistral Bold" panose="020B0804030204080304" pitchFamily="34" charset="0"/>
              <a:ea typeface="+mn-ea"/>
              <a:cs typeface="+mn-cs"/>
            </a:endParaRPr>
          </a:p>
        </p:txBody>
      </p:sp>
      <p:grpSp>
        <p:nvGrpSpPr>
          <p:cNvPr id="44" name="Group 43">
            <a:extLst>
              <a:ext uri="{FF2B5EF4-FFF2-40B4-BE49-F238E27FC236}">
                <a16:creationId xmlns:a16="http://schemas.microsoft.com/office/drawing/2014/main" id="{B54FB075-5786-75BB-B3F2-98A9F076D4A1}"/>
              </a:ext>
            </a:extLst>
          </p:cNvPr>
          <p:cNvGrpSpPr/>
          <p:nvPr/>
        </p:nvGrpSpPr>
        <p:grpSpPr>
          <a:xfrm>
            <a:off x="540007" y="708680"/>
            <a:ext cx="11112302" cy="5301422"/>
            <a:chOff x="838200" y="1932460"/>
            <a:chExt cx="11140018" cy="5301422"/>
          </a:xfrm>
        </p:grpSpPr>
        <p:sp>
          <p:nvSpPr>
            <p:cNvPr id="45" name="Freeform: Shape 3">
              <a:extLst>
                <a:ext uri="{FF2B5EF4-FFF2-40B4-BE49-F238E27FC236}">
                  <a16:creationId xmlns:a16="http://schemas.microsoft.com/office/drawing/2014/main" id="{1AE2F79C-BB32-31DF-F8BF-5182008E1F37}"/>
                </a:ext>
              </a:extLst>
            </p:cNvPr>
            <p:cNvSpPr/>
            <p:nvPr/>
          </p:nvSpPr>
          <p:spPr>
            <a:xfrm>
              <a:off x="1264228" y="1932460"/>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F15F47"/>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46" name="Freeform: Shape 4">
              <a:extLst>
                <a:ext uri="{FF2B5EF4-FFF2-40B4-BE49-F238E27FC236}">
                  <a16:creationId xmlns:a16="http://schemas.microsoft.com/office/drawing/2014/main" id="{59A48CFF-769F-2F57-3E38-6ED1B1AB686B}"/>
                </a:ext>
              </a:extLst>
            </p:cNvPr>
            <p:cNvSpPr/>
            <p:nvPr/>
          </p:nvSpPr>
          <p:spPr>
            <a:xfrm>
              <a:off x="838200" y="3246044"/>
              <a:ext cx="2588326" cy="3987838"/>
            </a:xfrm>
            <a:custGeom>
              <a:avLst/>
              <a:gdLst>
                <a:gd name="connsiteX0" fmla="*/ 0 w 2588326"/>
                <a:gd name="connsiteY0" fmla="*/ 0 h 2811855"/>
                <a:gd name="connsiteX1" fmla="*/ 639041 w 2588326"/>
                <a:gd name="connsiteY1" fmla="*/ 0 h 2811855"/>
                <a:gd name="connsiteX2" fmla="*/ 639041 w 2588326"/>
                <a:gd name="connsiteY2" fmla="*/ 148466 h 2811855"/>
                <a:gd name="connsiteX3" fmla="*/ 148466 w 2588326"/>
                <a:gd name="connsiteY3" fmla="*/ 148466 h 2811855"/>
                <a:gd name="connsiteX4" fmla="*/ 148466 w 2588326"/>
                <a:gd name="connsiteY4" fmla="*/ 2663389 h 2811855"/>
                <a:gd name="connsiteX5" fmla="*/ 2439860 w 2588326"/>
                <a:gd name="connsiteY5" fmla="*/ 2663389 h 2811855"/>
                <a:gd name="connsiteX6" fmla="*/ 2439860 w 2588326"/>
                <a:gd name="connsiteY6" fmla="*/ 148466 h 2811855"/>
                <a:gd name="connsiteX7" fmla="*/ 1949286 w 2588326"/>
                <a:gd name="connsiteY7" fmla="*/ 148466 h 2811855"/>
                <a:gd name="connsiteX8" fmla="*/ 1949286 w 2588326"/>
                <a:gd name="connsiteY8" fmla="*/ 0 h 2811855"/>
                <a:gd name="connsiteX9" fmla="*/ 2588326 w 2588326"/>
                <a:gd name="connsiteY9" fmla="*/ 0 h 2811855"/>
                <a:gd name="connsiteX10" fmla="*/ 2588326 w 2588326"/>
                <a:gd name="connsiteY10" fmla="*/ 2811855 h 2811855"/>
                <a:gd name="connsiteX11" fmla="*/ 0 w 2588326"/>
                <a:gd name="connsiteY11" fmla="*/ 2811855 h 28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88326" h="2811855">
                  <a:moveTo>
                    <a:pt x="0" y="0"/>
                  </a:moveTo>
                  <a:lnTo>
                    <a:pt x="639041" y="0"/>
                  </a:lnTo>
                  <a:lnTo>
                    <a:pt x="639041" y="148466"/>
                  </a:lnTo>
                  <a:lnTo>
                    <a:pt x="148466" y="148466"/>
                  </a:lnTo>
                  <a:lnTo>
                    <a:pt x="148466" y="2663389"/>
                  </a:lnTo>
                  <a:lnTo>
                    <a:pt x="2439860" y="2663389"/>
                  </a:lnTo>
                  <a:lnTo>
                    <a:pt x="2439860" y="148466"/>
                  </a:lnTo>
                  <a:lnTo>
                    <a:pt x="1949286" y="148466"/>
                  </a:lnTo>
                  <a:lnTo>
                    <a:pt x="1949286" y="0"/>
                  </a:lnTo>
                  <a:lnTo>
                    <a:pt x="2588326" y="0"/>
                  </a:lnTo>
                  <a:lnTo>
                    <a:pt x="2588326" y="2811855"/>
                  </a:lnTo>
                  <a:lnTo>
                    <a:pt x="0" y="2811855"/>
                  </a:lnTo>
                  <a:close/>
                </a:path>
              </a:pathLst>
            </a:custGeom>
            <a:solidFill>
              <a:srgbClr val="F15F47"/>
            </a:solidFill>
            <a:ln w="35421"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47" name="Freeform: Shape 5">
              <a:extLst>
                <a:ext uri="{FF2B5EF4-FFF2-40B4-BE49-F238E27FC236}">
                  <a16:creationId xmlns:a16="http://schemas.microsoft.com/office/drawing/2014/main" id="{BE8EA381-DE71-9AB7-E19E-4042149993DF}"/>
                </a:ext>
              </a:extLst>
            </p:cNvPr>
            <p:cNvSpPr/>
            <p:nvPr/>
          </p:nvSpPr>
          <p:spPr>
            <a:xfrm>
              <a:off x="838200" y="2145473"/>
              <a:ext cx="2588326" cy="887559"/>
            </a:xfrm>
            <a:custGeom>
              <a:avLst/>
              <a:gdLst>
                <a:gd name="connsiteX0" fmla="*/ 1807276 w 2588326"/>
                <a:gd name="connsiteY0" fmla="*/ 0 h 887559"/>
                <a:gd name="connsiteX1" fmla="*/ 1807276 w 2588326"/>
                <a:gd name="connsiteY1" fmla="*/ 106507 h 887559"/>
                <a:gd name="connsiteX2" fmla="*/ 2055792 w 2588326"/>
                <a:gd name="connsiteY2" fmla="*/ 355023 h 887559"/>
                <a:gd name="connsiteX3" fmla="*/ 2304308 w 2588326"/>
                <a:gd name="connsiteY3" fmla="*/ 106507 h 887559"/>
                <a:gd name="connsiteX4" fmla="*/ 2304308 w 2588326"/>
                <a:gd name="connsiteY4" fmla="*/ 0 h 887559"/>
                <a:gd name="connsiteX5" fmla="*/ 2588326 w 2588326"/>
                <a:gd name="connsiteY5" fmla="*/ 0 h 887559"/>
                <a:gd name="connsiteX6" fmla="*/ 2588326 w 2588326"/>
                <a:gd name="connsiteY6" fmla="*/ 390525 h 887559"/>
                <a:gd name="connsiteX7" fmla="*/ 2588326 w 2588326"/>
                <a:gd name="connsiteY7" fmla="*/ 497032 h 887559"/>
                <a:gd name="connsiteX8" fmla="*/ 2588326 w 2588326"/>
                <a:gd name="connsiteY8" fmla="*/ 887559 h 887559"/>
                <a:gd name="connsiteX9" fmla="*/ 0 w 2588326"/>
                <a:gd name="connsiteY9" fmla="*/ 887559 h 887559"/>
                <a:gd name="connsiteX10" fmla="*/ 0 w 2588326"/>
                <a:gd name="connsiteY10" fmla="*/ 497034 h 887559"/>
                <a:gd name="connsiteX11" fmla="*/ 0 w 2588326"/>
                <a:gd name="connsiteY11" fmla="*/ 390525 h 887559"/>
                <a:gd name="connsiteX12" fmla="*/ 0 w 2588326"/>
                <a:gd name="connsiteY12" fmla="*/ 2 h 887559"/>
                <a:gd name="connsiteX13" fmla="*/ 284018 w 2588326"/>
                <a:gd name="connsiteY13" fmla="*/ 2 h 887559"/>
                <a:gd name="connsiteX14" fmla="*/ 284018 w 2588326"/>
                <a:gd name="connsiteY14" fmla="*/ 106509 h 887559"/>
                <a:gd name="connsiteX15" fmla="*/ 532534 w 2588326"/>
                <a:gd name="connsiteY15" fmla="*/ 355025 h 887559"/>
                <a:gd name="connsiteX16" fmla="*/ 781050 w 2588326"/>
                <a:gd name="connsiteY16" fmla="*/ 106509 h 887559"/>
                <a:gd name="connsiteX17" fmla="*/ 781050 w 2588326"/>
                <a:gd name="connsiteY17" fmla="*/ 2 h 88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88326" h="887559">
                  <a:moveTo>
                    <a:pt x="1807276" y="0"/>
                  </a:moveTo>
                  <a:lnTo>
                    <a:pt x="1807276" y="106507"/>
                  </a:lnTo>
                  <a:cubicBezTo>
                    <a:pt x="1807276" y="244966"/>
                    <a:pt x="1917333" y="355023"/>
                    <a:pt x="2055792" y="355023"/>
                  </a:cubicBezTo>
                  <a:cubicBezTo>
                    <a:pt x="2194251" y="355023"/>
                    <a:pt x="2304308" y="244966"/>
                    <a:pt x="2304308" y="106507"/>
                  </a:cubicBezTo>
                  <a:lnTo>
                    <a:pt x="2304308" y="0"/>
                  </a:lnTo>
                  <a:lnTo>
                    <a:pt x="2588326" y="0"/>
                  </a:lnTo>
                  <a:lnTo>
                    <a:pt x="2588326" y="390525"/>
                  </a:lnTo>
                  <a:lnTo>
                    <a:pt x="2588326" y="497032"/>
                  </a:lnTo>
                  <a:lnTo>
                    <a:pt x="2588326" y="887559"/>
                  </a:lnTo>
                  <a:lnTo>
                    <a:pt x="0" y="887559"/>
                  </a:lnTo>
                  <a:lnTo>
                    <a:pt x="0" y="497034"/>
                  </a:lnTo>
                  <a:lnTo>
                    <a:pt x="0" y="390525"/>
                  </a:lnTo>
                  <a:lnTo>
                    <a:pt x="0" y="2"/>
                  </a:lnTo>
                  <a:lnTo>
                    <a:pt x="284018" y="2"/>
                  </a:lnTo>
                  <a:lnTo>
                    <a:pt x="284018" y="106509"/>
                  </a:lnTo>
                  <a:cubicBezTo>
                    <a:pt x="284018" y="244968"/>
                    <a:pt x="394075" y="355025"/>
                    <a:pt x="532534" y="355025"/>
                  </a:cubicBezTo>
                  <a:cubicBezTo>
                    <a:pt x="670993" y="355025"/>
                    <a:pt x="781050" y="244968"/>
                    <a:pt x="781050" y="106509"/>
                  </a:cubicBezTo>
                  <a:lnTo>
                    <a:pt x="781050" y="2"/>
                  </a:lnTo>
                  <a:close/>
                </a:path>
              </a:pathLst>
            </a:custGeom>
            <a:solidFill>
              <a:srgbClr val="F15F47"/>
            </a:solidFill>
            <a:ln w="35421" cap="flat">
              <a:noFill/>
              <a:prstDash val="solid"/>
              <a:miter/>
            </a:ln>
          </p:spPr>
          <p:txBody>
            <a:bodyPr bIns="9144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all" spc="0" normalizeH="0" baseline="0" noProof="0">
                  <a:ln>
                    <a:noFill/>
                  </a:ln>
                  <a:solidFill>
                    <a:srgbClr val="FFFFFF"/>
                  </a:solidFill>
                  <a:effectLst/>
                  <a:uLnTx/>
                  <a:uFillTx/>
                  <a:latin typeface="Calibri"/>
                  <a:ea typeface="+mn-ea"/>
                  <a:cs typeface="+mn-cs"/>
                </a:rPr>
                <a:t>KQ hoàn thành 9tđn</a:t>
              </a:r>
              <a:endParaRPr kumimoji="0" lang="en-US" sz="1800" b="1" i="0" u="none" strike="noStrike" kern="0" cap="all" spc="0" normalizeH="0" baseline="0" noProof="0" dirty="0">
                <a:ln>
                  <a:noFill/>
                </a:ln>
                <a:solidFill>
                  <a:srgbClr val="FFFFFF"/>
                </a:solidFill>
                <a:effectLst/>
                <a:uLnTx/>
                <a:uFillTx/>
                <a:latin typeface="Calibri"/>
                <a:ea typeface="+mn-ea"/>
                <a:cs typeface="+mn-cs"/>
              </a:endParaRPr>
            </a:p>
          </p:txBody>
        </p:sp>
        <p:sp>
          <p:nvSpPr>
            <p:cNvPr id="48" name="Freeform: Shape 6">
              <a:extLst>
                <a:ext uri="{FF2B5EF4-FFF2-40B4-BE49-F238E27FC236}">
                  <a16:creationId xmlns:a16="http://schemas.microsoft.com/office/drawing/2014/main" id="{6642C2ED-FE23-EA8A-ABB0-0BC68B1652BC}"/>
                </a:ext>
              </a:extLst>
            </p:cNvPr>
            <p:cNvSpPr/>
            <p:nvPr/>
          </p:nvSpPr>
          <p:spPr>
            <a:xfrm>
              <a:off x="2787486" y="1932460"/>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F15F47"/>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49" name="TextBox 48">
              <a:extLst>
                <a:ext uri="{FF2B5EF4-FFF2-40B4-BE49-F238E27FC236}">
                  <a16:creationId xmlns:a16="http://schemas.microsoft.com/office/drawing/2014/main" id="{0F2C7145-874C-FDA1-EFAA-2A7D373161CC}"/>
                </a:ext>
              </a:extLst>
            </p:cNvPr>
            <p:cNvSpPr txBox="1"/>
            <p:nvPr/>
          </p:nvSpPr>
          <p:spPr>
            <a:xfrm>
              <a:off x="1032369" y="3460712"/>
              <a:ext cx="2216842" cy="3539430"/>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Số Tỉnh hoàn thành doanh thu, nguồn việc còn thấp </a:t>
              </a:r>
              <a:r>
                <a:rPr kumimoji="0" lang="vi-VN" sz="1400" b="1" i="0" u="none" strike="noStrike" kern="0" cap="none" spc="0" normalizeH="0" baseline="0" noProof="1">
                  <a:ln>
                    <a:noFill/>
                  </a:ln>
                  <a:solidFill>
                    <a:srgbClr val="1F497D"/>
                  </a:solidFill>
                  <a:effectLst/>
                  <a:uLnTx/>
                  <a:uFillTx/>
                  <a:latin typeface="Arial" panose="020B0604020202020204" pitchFamily="34" charset="0"/>
                  <a:ea typeface="+mn-ea"/>
                  <a:cs typeface="+mn-cs"/>
                </a:rPr>
                <a:t>(56 /63 Tỉnh không hoàn thành KH DT, 58/63 Tỉnh không HT KH NV) </a:t>
              </a: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không phù hợp tốc độ tăng trưởng N2024. Do yếu tố tư tưởng chỉ làm những việc đã từng làm hoặc những việc đến từ khách hàng cũ mình đang có</a:t>
              </a:r>
              <a:r>
                <a:rPr kumimoji="0" lang="en-US" sz="1400" b="0" i="0" u="none" strike="noStrike" kern="0" cap="none" spc="0" normalizeH="0" baseline="0" noProof="1">
                  <a:ln>
                    <a:noFill/>
                  </a:ln>
                  <a:solidFill>
                    <a:srgbClr val="000000">
                      <a:lumMod val="65000"/>
                      <a:lumOff val="35000"/>
                    </a:srgbClr>
                  </a:solidFill>
                  <a:effectLst/>
                  <a:uLnTx/>
                  <a:uFillTx/>
                  <a:latin typeface="Calibri"/>
                  <a:ea typeface="+mn-ea"/>
                  <a:cs typeface="+mn-cs"/>
                </a:rPr>
                <a:t>.</a:t>
              </a: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 </a:t>
              </a:r>
              <a:endParaRPr kumimoji="0" lang="en-US" sz="1400" b="0" i="0" u="none" strike="noStrike" kern="0" cap="none" spc="0" normalizeH="0" baseline="0" noProof="1">
                <a:ln>
                  <a:noFill/>
                </a:ln>
                <a:solidFill>
                  <a:srgbClr val="000000">
                    <a:lumMod val="65000"/>
                    <a:lumOff val="35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1400" b="0" i="0" u="none" strike="noStrike" kern="0" cap="none" spc="0" normalizeH="0" baseline="0" noProof="1">
                  <a:ln>
                    <a:noFill/>
                  </a:ln>
                  <a:solidFill>
                    <a:srgbClr val="FF0000"/>
                  </a:solidFill>
                  <a:effectLst/>
                  <a:uLnTx/>
                  <a:uFillTx/>
                  <a:latin typeface="Arial" panose="020B0604020202020204" pitchFamily="34" charset="0"/>
                  <a:ea typeface="+mn-ea"/>
                  <a:cs typeface="+mn-cs"/>
                </a:rPr>
                <a:t>► Tư tưởng rụt rè chưa dám làm các DA Cơ điện có tính chất triển khai &amp; thi công có quy mô, triển khai theo nhiều giai đoạn.</a:t>
              </a:r>
            </a:p>
          </p:txBody>
        </p:sp>
        <p:sp>
          <p:nvSpPr>
            <p:cNvPr id="73" name="TextBox 72">
              <a:extLst>
                <a:ext uri="{FF2B5EF4-FFF2-40B4-BE49-F238E27FC236}">
                  <a16:creationId xmlns:a16="http://schemas.microsoft.com/office/drawing/2014/main" id="{0F2C7145-874C-FDA1-EFAA-2A7D373161CC}"/>
                </a:ext>
              </a:extLst>
            </p:cNvPr>
            <p:cNvSpPr txBox="1"/>
            <p:nvPr/>
          </p:nvSpPr>
          <p:spPr>
            <a:xfrm>
              <a:off x="6768031" y="3506879"/>
              <a:ext cx="2112400" cy="3323987"/>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Nguồn lực nhân sự kỹ sư thiết kế chỉ làm được 1,2</a:t>
              </a:r>
              <a:r>
                <a:rPr kumimoji="0" lang="en-US" sz="1400" b="0" i="0" u="none" strike="noStrike" kern="0" cap="none" spc="0" normalizeH="0" baseline="0" noProof="1">
                  <a:ln>
                    <a:noFill/>
                  </a:ln>
                  <a:solidFill>
                    <a:srgbClr val="000000">
                      <a:lumMod val="65000"/>
                      <a:lumOff val="35000"/>
                    </a:srgbClr>
                  </a:solidFill>
                  <a:effectLst/>
                  <a:uLnTx/>
                  <a:uFillTx/>
                  <a:latin typeface="Calibri"/>
                  <a:ea typeface="+mn-ea"/>
                  <a:cs typeface="+mn-cs"/>
                </a:rPr>
                <a:t> sản phẩm</a:t>
              </a: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 chưa kiểm soát được khối lượng, chi phí giá vốn đối với các dự án kết hợp nhiều hệ </a:t>
              </a:r>
              <a:r>
                <a:rPr kumimoji="0" lang="vi-VN" sz="1400" b="1" i="0" u="none" strike="noStrike" kern="0" cap="none" spc="0" normalizeH="0" baseline="0" noProof="1">
                  <a:ln>
                    <a:noFill/>
                  </a:ln>
                  <a:solidFill>
                    <a:srgbClr val="1F497D"/>
                  </a:solidFill>
                  <a:effectLst/>
                  <a:uLnTx/>
                  <a:uFillTx/>
                  <a:latin typeface="Arial" panose="020B0604020202020204" pitchFamily="34" charset="0"/>
                  <a:ea typeface="+mn-ea"/>
                  <a:cs typeface="+mn-cs"/>
                </a:rPr>
                <a:t>(đang phụ thuộc vào thầu phụ nhiều)</a:t>
              </a: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000000">
                      <a:lumMod val="65000"/>
                      <a:lumOff val="35000"/>
                    </a:srgbClr>
                  </a:solidFill>
                  <a:effectLst/>
                  <a:uLnTx/>
                  <a:uFillTx/>
                  <a:latin typeface="Calibri"/>
                  <a:ea typeface="+mn-ea"/>
                  <a:cs typeface="+mn-cs"/>
                </a:rPr>
                <a:t>- Chưa kiểm soát được các chi phí phát sinh và rủi ro công nợ  đối với các dự án triển khai nhiều giai doạn.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1400" b="0" i="0" u="none" strike="noStrike" kern="0" cap="none" spc="0" normalizeH="0" baseline="0" noProof="1">
                  <a:ln>
                    <a:noFill/>
                  </a:ln>
                  <a:solidFill>
                    <a:srgbClr val="FF0000"/>
                  </a:solidFill>
                  <a:effectLst/>
                  <a:uLnTx/>
                  <a:uFillTx/>
                  <a:latin typeface="Arial" panose="020B0604020202020204" pitchFamily="34" charset="0"/>
                  <a:ea typeface="+mn-ea"/>
                  <a:cs typeface="+mn-cs"/>
                </a:rPr>
                <a:t>► Chưa mạnh dạn tham gia vào đấu thầu/ Chào giá xây lắp</a:t>
              </a:r>
              <a:r>
                <a:rPr kumimoji="0" lang="en-US" sz="1400" b="0" i="0" u="none" strike="noStrike" kern="0" cap="none" spc="0" normalizeH="0" baseline="0" noProof="1">
                  <a:ln>
                    <a:noFill/>
                  </a:ln>
                  <a:solidFill>
                    <a:srgbClr val="FF0000"/>
                  </a:solidFill>
                  <a:effectLst/>
                  <a:uLnTx/>
                  <a:uFillTx/>
                  <a:latin typeface="Calibri"/>
                  <a:ea typeface="+mn-ea"/>
                  <a:cs typeface="+mn-cs"/>
                </a:rPr>
                <a:t>.</a:t>
              </a:r>
              <a:endParaRPr kumimoji="0" lang="vi-VN" sz="1400" b="0" i="0" u="none" strike="noStrike" kern="0" cap="none" spc="0" normalizeH="0" baseline="0" noProof="1">
                <a:ln>
                  <a:noFill/>
                </a:ln>
                <a:solidFill>
                  <a:srgbClr val="FF0000"/>
                </a:solidFill>
                <a:effectLst/>
                <a:uLnTx/>
                <a:uFillTx/>
                <a:latin typeface="Arial" panose="020B0604020202020204" pitchFamily="34" charset="0"/>
                <a:ea typeface="+mn-ea"/>
                <a:cs typeface="+mn-cs"/>
              </a:endParaRPr>
            </a:p>
          </p:txBody>
        </p:sp>
        <p:sp>
          <p:nvSpPr>
            <p:cNvPr id="76" name="TextBox 75">
              <a:extLst>
                <a:ext uri="{FF2B5EF4-FFF2-40B4-BE49-F238E27FC236}">
                  <a16:creationId xmlns:a16="http://schemas.microsoft.com/office/drawing/2014/main" id="{0F2C7145-874C-FDA1-EFAA-2A7D373161CC}"/>
                </a:ext>
              </a:extLst>
            </p:cNvPr>
            <p:cNvSpPr txBox="1"/>
            <p:nvPr/>
          </p:nvSpPr>
          <p:spPr>
            <a:xfrm>
              <a:off x="3926200" y="3506879"/>
              <a:ext cx="2117633" cy="3539430"/>
            </a:xfrm>
            <a:prstGeom prst="rect">
              <a:avLst/>
            </a:prstGeom>
            <a:noFill/>
          </p:spPr>
          <p:txBody>
            <a:bodyPr wrap="square" lIns="0" rIns="0" rtlCol="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000000">
                      <a:lumMod val="65000"/>
                      <a:lumOff val="35000"/>
                    </a:srgbClr>
                  </a:solidFill>
                  <a:effectLst/>
                  <a:uLnTx/>
                  <a:uFillTx/>
                  <a:latin typeface="Calibri"/>
                  <a:ea typeface="+mn-ea"/>
                  <a:cs typeface="+mn-cs"/>
                </a:rPr>
                <a:t>- </a:t>
              </a: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Chưa xây dựng được hoặc tận dụng các mối quan hệ trên địa bàn, chỉ dừng ở bước gặp gỡ nhưng chưa duy trì thành nguồn việc. Chưa tận dụng mối quan hệ của lãnh đạo Viettel Tỉnh, VTS.</a:t>
              </a:r>
            </a:p>
            <a:p>
              <a:pPr marL="0" marR="0" lvl="0" indent="-285750" algn="just" defTabSz="914400" rtl="0" eaLnBrk="1" fontAlgn="auto" latinLnBrk="0" hangingPunct="1">
                <a:lnSpc>
                  <a:spcPct val="100000"/>
                </a:lnSpc>
                <a:spcBef>
                  <a:spcPts val="0"/>
                </a:spcBef>
                <a:spcAft>
                  <a:spcPts val="0"/>
                </a:spcAft>
                <a:buClrTx/>
                <a:buSzTx/>
                <a:buFontTx/>
                <a:buChar char="-"/>
                <a:tabLst/>
                <a:defRPr/>
              </a:pPr>
              <a:r>
                <a:rPr kumimoji="0" lang="vi-VN"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ea typeface="+mn-ea"/>
                  <a:cs typeface="+mn-cs"/>
                </a:rPr>
                <a:t>Công tác tiếp xúc các doanh nghiệp trên địa bàn còn e dè, đặc biệt là các doanh nghiệp trong khu công nghiệp và FDI</a:t>
              </a:r>
              <a:r>
                <a:rPr kumimoji="0" lang="en-US" sz="1400" b="0" i="0" u="none" strike="noStrike" kern="0" cap="none" spc="0" normalizeH="0" baseline="0" noProof="1">
                  <a:ln>
                    <a:noFill/>
                  </a:ln>
                  <a:solidFill>
                    <a:srgbClr val="000000">
                      <a:lumMod val="65000"/>
                      <a:lumOff val="35000"/>
                    </a:srgbClr>
                  </a:solidFill>
                  <a:effectLst/>
                  <a:uLnTx/>
                  <a:uFillTx/>
                  <a:latin typeface="Calibri"/>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1">
                  <a:ln>
                    <a:noFill/>
                  </a:ln>
                  <a:solidFill>
                    <a:srgbClr val="000000">
                      <a:lumMod val="65000"/>
                      <a:lumOff val="35000"/>
                    </a:srgbClr>
                  </a:solidFill>
                  <a:effectLst/>
                  <a:uLnTx/>
                  <a:uFillTx/>
                  <a:latin typeface="Calibri"/>
                  <a:ea typeface="+mn-ea"/>
                  <a:cs typeface="+mn-cs"/>
                </a:rPr>
                <a:t> </a:t>
              </a:r>
              <a:r>
                <a:rPr kumimoji="0" lang="vi-VN" sz="1400" b="0" i="0" u="none" strike="noStrike" kern="0" cap="none" spc="0" normalizeH="0" baseline="0" noProof="1">
                  <a:ln>
                    <a:noFill/>
                  </a:ln>
                  <a:solidFill>
                    <a:srgbClr val="FF0000"/>
                  </a:solidFill>
                  <a:effectLst/>
                  <a:uLnTx/>
                  <a:uFillTx/>
                  <a:latin typeface="Arial" panose="020B0604020202020204" pitchFamily="34" charset="0"/>
                  <a:ea typeface="+mn-ea"/>
                  <a:cs typeface="+mn-cs"/>
                </a:rPr>
                <a:t>► </a:t>
              </a:r>
              <a:r>
                <a:rPr kumimoji="0" lang="en-US" sz="1400" b="0" i="0" u="none" strike="noStrike" kern="0" cap="none" spc="0" normalizeH="0" baseline="0" noProof="1">
                  <a:ln>
                    <a:noFill/>
                  </a:ln>
                  <a:solidFill>
                    <a:srgbClr val="FF0000"/>
                  </a:solidFill>
                  <a:effectLst/>
                  <a:uLnTx/>
                  <a:uFillTx/>
                  <a:latin typeface="Calibri"/>
                  <a:ea typeface="+mn-ea"/>
                  <a:cs typeface="+mn-cs"/>
                </a:rPr>
                <a:t>Công tác điều hành và kiểm soát chất lượng tiếp xúc  chưa tốt.</a:t>
              </a:r>
            </a:p>
          </p:txBody>
        </p:sp>
        <p:sp>
          <p:nvSpPr>
            <p:cNvPr id="77" name="TextBox 76">
              <a:extLst>
                <a:ext uri="{FF2B5EF4-FFF2-40B4-BE49-F238E27FC236}">
                  <a16:creationId xmlns:a16="http://schemas.microsoft.com/office/drawing/2014/main" id="{0F2C7145-874C-FDA1-EFAA-2A7D373161CC}"/>
                </a:ext>
              </a:extLst>
            </p:cNvPr>
            <p:cNvSpPr txBox="1"/>
            <p:nvPr/>
          </p:nvSpPr>
          <p:spPr>
            <a:xfrm>
              <a:off x="9581997" y="3460712"/>
              <a:ext cx="2396221" cy="3108543"/>
            </a:xfrm>
            <a:prstGeom prst="rect">
              <a:avLst/>
            </a:prstGeom>
            <a:noFill/>
          </p:spPr>
          <p:txBody>
            <a:bodyPr wrap="square" lIns="0" rIns="0" rtlCol="0" anchor="t">
              <a:spAutoFit/>
            </a:bodyPr>
            <a:lstStyle/>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cs typeface="Arial" panose="020B0604020202020204" pitchFamily="34" charset="0"/>
                </a:rPr>
                <a:t>Apur / dự án  thấp (250 tr)</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cs typeface="Arial" panose="020B0604020202020204" pitchFamily="34" charset="0"/>
                </a:rPr>
                <a:t>Nguồn việc thương mại đang chiếm tỷ trọng lớn (45%).</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cs typeface="Arial" panose="020B0604020202020204" pitchFamily="34" charset="0"/>
                </a:rPr>
                <a:t>Tại tỉnh chưa phân lớp tiếp xúc theo quy mô dự án.</a:t>
              </a:r>
            </a:p>
            <a:p>
              <a:pPr marR="0" lvl="0" algn="just" defTabSz="914400" rtl="0" eaLnBrk="1" fontAlgn="auto" latinLnBrk="0" hangingPunct="1">
                <a:lnSpc>
                  <a:spcPct val="100000"/>
                </a:lnSpc>
                <a:spcBef>
                  <a:spcPts val="0"/>
                </a:spcBef>
                <a:spcAft>
                  <a:spcPts val="0"/>
                </a:spcAft>
                <a:buClrTx/>
                <a:buSzTx/>
                <a:tabLst/>
                <a:defRPr/>
              </a:pPr>
              <a:endParaRPr kumimoji="0" lang="en-US" sz="1400" b="0" i="0" u="none" strike="noStrike" kern="0" cap="none" spc="0" normalizeH="0" baseline="0" noProof="1">
                <a:ln>
                  <a:noFill/>
                </a:ln>
                <a:solidFill>
                  <a:srgbClr val="000000">
                    <a:lumMod val="65000"/>
                    <a:lumOff val="35000"/>
                  </a:srgbClr>
                </a:solidFill>
                <a:effectLst/>
                <a:uLnTx/>
                <a:uFillTx/>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1400" b="0" i="0" u="none" strike="noStrike" kern="0" cap="none" spc="0" normalizeH="0" baseline="0" noProof="1">
                  <a:ln>
                    <a:noFill/>
                  </a:ln>
                  <a:solidFill>
                    <a:srgbClr val="FF0000"/>
                  </a:solidFill>
                  <a:effectLst/>
                  <a:uLnTx/>
                  <a:uFillTx/>
                  <a:latin typeface="Arial" panose="020B0604020202020204" pitchFamily="34" charset="0"/>
                  <a:cs typeface="Arial" panose="020B0604020202020204" pitchFamily="34" charset="0"/>
                </a:rPr>
                <a:t>► </a:t>
              </a:r>
              <a:r>
                <a:rPr kumimoji="0" lang="en-US" sz="1400" b="0" i="0" u="none" strike="noStrike" kern="0" cap="none" spc="0" normalizeH="0" baseline="0" noProof="1">
                  <a:ln>
                    <a:noFill/>
                  </a:ln>
                  <a:solidFill>
                    <a:srgbClr val="FF0000"/>
                  </a:solidFill>
                  <a:effectLst/>
                  <a:uLnTx/>
                  <a:uFillTx/>
                  <a:latin typeface="Arial" panose="020B0604020202020204" pitchFamily="34" charset="0"/>
                  <a:cs typeface="Arial" panose="020B0604020202020204" pitchFamily="34" charset="0"/>
                </a:rPr>
                <a:t>Nguồn việc chưa đảm bảo, tính chất dự án chưa đi đúng định hướng của TCT  (phải làm các dự án có tính chất lắp đặt) để chúng ra có 1 nghề duy trì doanh thu bền vững.</a:t>
              </a:r>
              <a:endParaRPr kumimoji="0" lang="vi-VN" sz="1400" b="0" i="0" u="none" strike="noStrike" kern="0" cap="none" spc="0" normalizeH="0" baseline="0" noProof="1">
                <a:ln>
                  <a:noFill/>
                </a:ln>
                <a:solidFill>
                  <a:srgbClr val="FF0000"/>
                </a:solidFill>
                <a:effectLst/>
                <a:uLnTx/>
                <a:uFillTx/>
                <a:latin typeface="Arial" panose="020B0604020202020204" pitchFamily="34" charset="0"/>
                <a:cs typeface="Arial" panose="020B0604020202020204" pitchFamily="34" charset="0"/>
              </a:endParaRPr>
            </a:p>
          </p:txBody>
        </p:sp>
      </p:grpSp>
      <p:grpSp>
        <p:nvGrpSpPr>
          <p:cNvPr id="51" name="Group 50">
            <a:extLst>
              <a:ext uri="{FF2B5EF4-FFF2-40B4-BE49-F238E27FC236}">
                <a16:creationId xmlns:a16="http://schemas.microsoft.com/office/drawing/2014/main" id="{ECF886AA-F33D-9DBA-E7E7-1AD7FA21C060}"/>
              </a:ext>
            </a:extLst>
          </p:cNvPr>
          <p:cNvGrpSpPr/>
          <p:nvPr/>
        </p:nvGrpSpPr>
        <p:grpSpPr>
          <a:xfrm>
            <a:off x="3373094" y="708680"/>
            <a:ext cx="2607924" cy="5301422"/>
            <a:chOff x="818602" y="1932460"/>
            <a:chExt cx="2607924" cy="5301422"/>
          </a:xfrm>
        </p:grpSpPr>
        <p:sp>
          <p:nvSpPr>
            <p:cNvPr id="52" name="Freeform: Shape 10">
              <a:extLst>
                <a:ext uri="{FF2B5EF4-FFF2-40B4-BE49-F238E27FC236}">
                  <a16:creationId xmlns:a16="http://schemas.microsoft.com/office/drawing/2014/main" id="{7F41665E-38B3-D978-096D-9DC650304AA6}"/>
                </a:ext>
              </a:extLst>
            </p:cNvPr>
            <p:cNvSpPr/>
            <p:nvPr/>
          </p:nvSpPr>
          <p:spPr>
            <a:xfrm>
              <a:off x="1264228" y="1932460"/>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FBA91E"/>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53" name="Freeform: Shape 11">
              <a:extLst>
                <a:ext uri="{FF2B5EF4-FFF2-40B4-BE49-F238E27FC236}">
                  <a16:creationId xmlns:a16="http://schemas.microsoft.com/office/drawing/2014/main" id="{78037E90-D7C0-5E48-98D1-E16BD1591D2E}"/>
                </a:ext>
              </a:extLst>
            </p:cNvPr>
            <p:cNvSpPr/>
            <p:nvPr/>
          </p:nvSpPr>
          <p:spPr>
            <a:xfrm>
              <a:off x="838200" y="3246044"/>
              <a:ext cx="2588326" cy="3987838"/>
            </a:xfrm>
            <a:custGeom>
              <a:avLst/>
              <a:gdLst>
                <a:gd name="connsiteX0" fmla="*/ 0 w 2588326"/>
                <a:gd name="connsiteY0" fmla="*/ 0 h 2811855"/>
                <a:gd name="connsiteX1" fmla="*/ 639041 w 2588326"/>
                <a:gd name="connsiteY1" fmla="*/ 0 h 2811855"/>
                <a:gd name="connsiteX2" fmla="*/ 639041 w 2588326"/>
                <a:gd name="connsiteY2" fmla="*/ 148466 h 2811855"/>
                <a:gd name="connsiteX3" fmla="*/ 148466 w 2588326"/>
                <a:gd name="connsiteY3" fmla="*/ 148466 h 2811855"/>
                <a:gd name="connsiteX4" fmla="*/ 148466 w 2588326"/>
                <a:gd name="connsiteY4" fmla="*/ 2663389 h 2811855"/>
                <a:gd name="connsiteX5" fmla="*/ 2439860 w 2588326"/>
                <a:gd name="connsiteY5" fmla="*/ 2663389 h 2811855"/>
                <a:gd name="connsiteX6" fmla="*/ 2439860 w 2588326"/>
                <a:gd name="connsiteY6" fmla="*/ 148466 h 2811855"/>
                <a:gd name="connsiteX7" fmla="*/ 1949286 w 2588326"/>
                <a:gd name="connsiteY7" fmla="*/ 148466 h 2811855"/>
                <a:gd name="connsiteX8" fmla="*/ 1949286 w 2588326"/>
                <a:gd name="connsiteY8" fmla="*/ 0 h 2811855"/>
                <a:gd name="connsiteX9" fmla="*/ 2588326 w 2588326"/>
                <a:gd name="connsiteY9" fmla="*/ 0 h 2811855"/>
                <a:gd name="connsiteX10" fmla="*/ 2588326 w 2588326"/>
                <a:gd name="connsiteY10" fmla="*/ 2811855 h 2811855"/>
                <a:gd name="connsiteX11" fmla="*/ 0 w 2588326"/>
                <a:gd name="connsiteY11" fmla="*/ 2811855 h 28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88326" h="2811855">
                  <a:moveTo>
                    <a:pt x="0" y="0"/>
                  </a:moveTo>
                  <a:lnTo>
                    <a:pt x="639041" y="0"/>
                  </a:lnTo>
                  <a:lnTo>
                    <a:pt x="639041" y="148466"/>
                  </a:lnTo>
                  <a:lnTo>
                    <a:pt x="148466" y="148466"/>
                  </a:lnTo>
                  <a:lnTo>
                    <a:pt x="148466" y="2663389"/>
                  </a:lnTo>
                  <a:lnTo>
                    <a:pt x="2439860" y="2663389"/>
                  </a:lnTo>
                  <a:lnTo>
                    <a:pt x="2439860" y="148466"/>
                  </a:lnTo>
                  <a:lnTo>
                    <a:pt x="1949286" y="148466"/>
                  </a:lnTo>
                  <a:lnTo>
                    <a:pt x="1949286" y="0"/>
                  </a:lnTo>
                  <a:lnTo>
                    <a:pt x="2588326" y="0"/>
                  </a:lnTo>
                  <a:lnTo>
                    <a:pt x="2588326" y="2811855"/>
                  </a:lnTo>
                  <a:lnTo>
                    <a:pt x="0" y="2811855"/>
                  </a:lnTo>
                  <a:close/>
                </a:path>
              </a:pathLst>
            </a:custGeom>
            <a:solidFill>
              <a:srgbClr val="FBA91E"/>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54" name="Freeform: Shape 12">
              <a:extLst>
                <a:ext uri="{FF2B5EF4-FFF2-40B4-BE49-F238E27FC236}">
                  <a16:creationId xmlns:a16="http://schemas.microsoft.com/office/drawing/2014/main" id="{01DAE313-64C1-88B8-6A7C-6781D4BD3040}"/>
                </a:ext>
              </a:extLst>
            </p:cNvPr>
            <p:cNvSpPr/>
            <p:nvPr/>
          </p:nvSpPr>
          <p:spPr>
            <a:xfrm>
              <a:off x="818602" y="2228067"/>
              <a:ext cx="2588326" cy="887559"/>
            </a:xfrm>
            <a:custGeom>
              <a:avLst/>
              <a:gdLst>
                <a:gd name="connsiteX0" fmla="*/ 1807276 w 2588326"/>
                <a:gd name="connsiteY0" fmla="*/ 0 h 887559"/>
                <a:gd name="connsiteX1" fmla="*/ 1807276 w 2588326"/>
                <a:gd name="connsiteY1" fmla="*/ 106507 h 887559"/>
                <a:gd name="connsiteX2" fmla="*/ 2055792 w 2588326"/>
                <a:gd name="connsiteY2" fmla="*/ 355023 h 887559"/>
                <a:gd name="connsiteX3" fmla="*/ 2304308 w 2588326"/>
                <a:gd name="connsiteY3" fmla="*/ 106507 h 887559"/>
                <a:gd name="connsiteX4" fmla="*/ 2304308 w 2588326"/>
                <a:gd name="connsiteY4" fmla="*/ 0 h 887559"/>
                <a:gd name="connsiteX5" fmla="*/ 2588326 w 2588326"/>
                <a:gd name="connsiteY5" fmla="*/ 0 h 887559"/>
                <a:gd name="connsiteX6" fmla="*/ 2588326 w 2588326"/>
                <a:gd name="connsiteY6" fmla="*/ 390525 h 887559"/>
                <a:gd name="connsiteX7" fmla="*/ 2588326 w 2588326"/>
                <a:gd name="connsiteY7" fmla="*/ 497032 h 887559"/>
                <a:gd name="connsiteX8" fmla="*/ 2588326 w 2588326"/>
                <a:gd name="connsiteY8" fmla="*/ 887559 h 887559"/>
                <a:gd name="connsiteX9" fmla="*/ 0 w 2588326"/>
                <a:gd name="connsiteY9" fmla="*/ 887559 h 887559"/>
                <a:gd name="connsiteX10" fmla="*/ 0 w 2588326"/>
                <a:gd name="connsiteY10" fmla="*/ 497034 h 887559"/>
                <a:gd name="connsiteX11" fmla="*/ 0 w 2588326"/>
                <a:gd name="connsiteY11" fmla="*/ 390525 h 887559"/>
                <a:gd name="connsiteX12" fmla="*/ 0 w 2588326"/>
                <a:gd name="connsiteY12" fmla="*/ 2 h 887559"/>
                <a:gd name="connsiteX13" fmla="*/ 284018 w 2588326"/>
                <a:gd name="connsiteY13" fmla="*/ 2 h 887559"/>
                <a:gd name="connsiteX14" fmla="*/ 284018 w 2588326"/>
                <a:gd name="connsiteY14" fmla="*/ 106509 h 887559"/>
                <a:gd name="connsiteX15" fmla="*/ 532534 w 2588326"/>
                <a:gd name="connsiteY15" fmla="*/ 355025 h 887559"/>
                <a:gd name="connsiteX16" fmla="*/ 781050 w 2588326"/>
                <a:gd name="connsiteY16" fmla="*/ 106509 h 887559"/>
                <a:gd name="connsiteX17" fmla="*/ 781050 w 2588326"/>
                <a:gd name="connsiteY17" fmla="*/ 2 h 88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88326" h="887559">
                  <a:moveTo>
                    <a:pt x="1807276" y="0"/>
                  </a:moveTo>
                  <a:lnTo>
                    <a:pt x="1807276" y="106507"/>
                  </a:lnTo>
                  <a:cubicBezTo>
                    <a:pt x="1807276" y="244966"/>
                    <a:pt x="1917333" y="355023"/>
                    <a:pt x="2055792" y="355023"/>
                  </a:cubicBezTo>
                  <a:cubicBezTo>
                    <a:pt x="2194251" y="355023"/>
                    <a:pt x="2304308" y="244966"/>
                    <a:pt x="2304308" y="106507"/>
                  </a:cubicBezTo>
                  <a:lnTo>
                    <a:pt x="2304308" y="0"/>
                  </a:lnTo>
                  <a:lnTo>
                    <a:pt x="2588326" y="0"/>
                  </a:lnTo>
                  <a:lnTo>
                    <a:pt x="2588326" y="390525"/>
                  </a:lnTo>
                  <a:lnTo>
                    <a:pt x="2588326" y="497032"/>
                  </a:lnTo>
                  <a:lnTo>
                    <a:pt x="2588326" y="887559"/>
                  </a:lnTo>
                  <a:lnTo>
                    <a:pt x="0" y="887559"/>
                  </a:lnTo>
                  <a:lnTo>
                    <a:pt x="0" y="497034"/>
                  </a:lnTo>
                  <a:lnTo>
                    <a:pt x="0" y="390525"/>
                  </a:lnTo>
                  <a:lnTo>
                    <a:pt x="0" y="2"/>
                  </a:lnTo>
                  <a:lnTo>
                    <a:pt x="284018" y="2"/>
                  </a:lnTo>
                  <a:lnTo>
                    <a:pt x="284018" y="106509"/>
                  </a:lnTo>
                  <a:cubicBezTo>
                    <a:pt x="284018" y="244968"/>
                    <a:pt x="394075" y="355025"/>
                    <a:pt x="532534" y="355025"/>
                  </a:cubicBezTo>
                  <a:cubicBezTo>
                    <a:pt x="670993" y="355025"/>
                    <a:pt x="781050" y="244968"/>
                    <a:pt x="781050" y="106509"/>
                  </a:cubicBezTo>
                  <a:lnTo>
                    <a:pt x="781050" y="2"/>
                  </a:lnTo>
                  <a:close/>
                </a:path>
              </a:pathLst>
            </a:custGeom>
            <a:solidFill>
              <a:srgbClr val="FBA91E"/>
            </a:solidFill>
            <a:ln w="35421" cap="flat">
              <a:noFill/>
              <a:prstDash val="solid"/>
              <a:miter/>
            </a:ln>
          </p:spPr>
          <p:txBody>
            <a:bodyPr bIns="9144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all" spc="0" normalizeH="0" baseline="0" noProof="0" dirty="0" err="1">
                  <a:ln>
                    <a:noFill/>
                  </a:ln>
                  <a:solidFill>
                    <a:srgbClr val="FFFFFF"/>
                  </a:solidFill>
                  <a:effectLst/>
                  <a:uLnTx/>
                  <a:uFillTx/>
                  <a:latin typeface="Calibri"/>
                  <a:ea typeface="+mn-ea"/>
                  <a:cs typeface="+mn-cs"/>
                </a:rPr>
                <a:t>CÔng</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TÁc</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tiếp</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XÚC</a:t>
              </a:r>
              <a:endParaRPr kumimoji="0" lang="en-US" sz="1800" b="1" i="0" u="none" strike="noStrike" kern="0" cap="all" spc="0" normalizeH="0" baseline="0" noProof="0" dirty="0">
                <a:ln>
                  <a:noFill/>
                </a:ln>
                <a:solidFill>
                  <a:srgbClr val="FFFFFF"/>
                </a:solidFill>
                <a:effectLst/>
                <a:uLnTx/>
                <a:uFillTx/>
                <a:latin typeface="Calibri"/>
                <a:ea typeface="+mn-ea"/>
                <a:cs typeface="+mn-cs"/>
              </a:endParaRPr>
            </a:p>
          </p:txBody>
        </p:sp>
        <p:sp>
          <p:nvSpPr>
            <p:cNvPr id="55" name="Freeform: Shape 13">
              <a:extLst>
                <a:ext uri="{FF2B5EF4-FFF2-40B4-BE49-F238E27FC236}">
                  <a16:creationId xmlns:a16="http://schemas.microsoft.com/office/drawing/2014/main" id="{A034060F-28CC-F01D-CC9F-2159FE806508}"/>
                </a:ext>
              </a:extLst>
            </p:cNvPr>
            <p:cNvSpPr/>
            <p:nvPr/>
          </p:nvSpPr>
          <p:spPr>
            <a:xfrm>
              <a:off x="2787486" y="1932460"/>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FBA91E"/>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grpSp>
      <p:grpSp>
        <p:nvGrpSpPr>
          <p:cNvPr id="58" name="Group 57">
            <a:extLst>
              <a:ext uri="{FF2B5EF4-FFF2-40B4-BE49-F238E27FC236}">
                <a16:creationId xmlns:a16="http://schemas.microsoft.com/office/drawing/2014/main" id="{9A6F15D3-DB86-DA88-E1E3-FF41891C6DB2}"/>
              </a:ext>
            </a:extLst>
          </p:cNvPr>
          <p:cNvGrpSpPr/>
          <p:nvPr/>
        </p:nvGrpSpPr>
        <p:grpSpPr>
          <a:xfrm>
            <a:off x="6231118" y="800959"/>
            <a:ext cx="2588326" cy="5225921"/>
            <a:chOff x="838200" y="1932460"/>
            <a:chExt cx="2588326" cy="5225921"/>
          </a:xfrm>
        </p:grpSpPr>
        <p:sp>
          <p:nvSpPr>
            <p:cNvPr id="59" name="Freeform: Shape 17">
              <a:extLst>
                <a:ext uri="{FF2B5EF4-FFF2-40B4-BE49-F238E27FC236}">
                  <a16:creationId xmlns:a16="http://schemas.microsoft.com/office/drawing/2014/main" id="{7AE21317-89FF-4141-C62B-9E4B095B1A71}"/>
                </a:ext>
              </a:extLst>
            </p:cNvPr>
            <p:cNvSpPr/>
            <p:nvPr/>
          </p:nvSpPr>
          <p:spPr>
            <a:xfrm>
              <a:off x="1264228" y="1932460"/>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6EA56C"/>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60" name="Freeform: Shape 18">
              <a:extLst>
                <a:ext uri="{FF2B5EF4-FFF2-40B4-BE49-F238E27FC236}">
                  <a16:creationId xmlns:a16="http://schemas.microsoft.com/office/drawing/2014/main" id="{8E1BFDD4-2E4B-541E-3CE9-0905B70BB2A5}"/>
                </a:ext>
              </a:extLst>
            </p:cNvPr>
            <p:cNvSpPr/>
            <p:nvPr/>
          </p:nvSpPr>
          <p:spPr>
            <a:xfrm>
              <a:off x="838200" y="3170543"/>
              <a:ext cx="2588326" cy="3987838"/>
            </a:xfrm>
            <a:custGeom>
              <a:avLst/>
              <a:gdLst>
                <a:gd name="connsiteX0" fmla="*/ 0 w 2588326"/>
                <a:gd name="connsiteY0" fmla="*/ 0 h 2811855"/>
                <a:gd name="connsiteX1" fmla="*/ 639041 w 2588326"/>
                <a:gd name="connsiteY1" fmla="*/ 0 h 2811855"/>
                <a:gd name="connsiteX2" fmla="*/ 639041 w 2588326"/>
                <a:gd name="connsiteY2" fmla="*/ 148466 h 2811855"/>
                <a:gd name="connsiteX3" fmla="*/ 148466 w 2588326"/>
                <a:gd name="connsiteY3" fmla="*/ 148466 h 2811855"/>
                <a:gd name="connsiteX4" fmla="*/ 148466 w 2588326"/>
                <a:gd name="connsiteY4" fmla="*/ 2663389 h 2811855"/>
                <a:gd name="connsiteX5" fmla="*/ 2439860 w 2588326"/>
                <a:gd name="connsiteY5" fmla="*/ 2663389 h 2811855"/>
                <a:gd name="connsiteX6" fmla="*/ 2439860 w 2588326"/>
                <a:gd name="connsiteY6" fmla="*/ 148466 h 2811855"/>
                <a:gd name="connsiteX7" fmla="*/ 1949286 w 2588326"/>
                <a:gd name="connsiteY7" fmla="*/ 148466 h 2811855"/>
                <a:gd name="connsiteX8" fmla="*/ 1949286 w 2588326"/>
                <a:gd name="connsiteY8" fmla="*/ 0 h 2811855"/>
                <a:gd name="connsiteX9" fmla="*/ 2588326 w 2588326"/>
                <a:gd name="connsiteY9" fmla="*/ 0 h 2811855"/>
                <a:gd name="connsiteX10" fmla="*/ 2588326 w 2588326"/>
                <a:gd name="connsiteY10" fmla="*/ 2811855 h 2811855"/>
                <a:gd name="connsiteX11" fmla="*/ 0 w 2588326"/>
                <a:gd name="connsiteY11" fmla="*/ 2811855 h 28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88326" h="2811855">
                  <a:moveTo>
                    <a:pt x="0" y="0"/>
                  </a:moveTo>
                  <a:lnTo>
                    <a:pt x="639041" y="0"/>
                  </a:lnTo>
                  <a:lnTo>
                    <a:pt x="639041" y="148466"/>
                  </a:lnTo>
                  <a:lnTo>
                    <a:pt x="148466" y="148466"/>
                  </a:lnTo>
                  <a:lnTo>
                    <a:pt x="148466" y="2663389"/>
                  </a:lnTo>
                  <a:lnTo>
                    <a:pt x="2439860" y="2663389"/>
                  </a:lnTo>
                  <a:lnTo>
                    <a:pt x="2439860" y="148466"/>
                  </a:lnTo>
                  <a:lnTo>
                    <a:pt x="1949286" y="148466"/>
                  </a:lnTo>
                  <a:lnTo>
                    <a:pt x="1949286" y="0"/>
                  </a:lnTo>
                  <a:lnTo>
                    <a:pt x="2588326" y="0"/>
                  </a:lnTo>
                  <a:lnTo>
                    <a:pt x="2588326" y="2811855"/>
                  </a:lnTo>
                  <a:lnTo>
                    <a:pt x="0" y="2811855"/>
                  </a:lnTo>
                  <a:close/>
                </a:path>
              </a:pathLst>
            </a:custGeom>
            <a:solidFill>
              <a:srgbClr val="6EA56C"/>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61" name="Freeform: Shape 19">
              <a:extLst>
                <a:ext uri="{FF2B5EF4-FFF2-40B4-BE49-F238E27FC236}">
                  <a16:creationId xmlns:a16="http://schemas.microsoft.com/office/drawing/2014/main" id="{FDB7B96C-82EF-9F03-1CDA-E022D8C4BE7C}"/>
                </a:ext>
              </a:extLst>
            </p:cNvPr>
            <p:cNvSpPr/>
            <p:nvPr/>
          </p:nvSpPr>
          <p:spPr>
            <a:xfrm>
              <a:off x="838200" y="2145473"/>
              <a:ext cx="2588326" cy="887559"/>
            </a:xfrm>
            <a:custGeom>
              <a:avLst/>
              <a:gdLst>
                <a:gd name="connsiteX0" fmla="*/ 1807276 w 2588326"/>
                <a:gd name="connsiteY0" fmla="*/ 0 h 887559"/>
                <a:gd name="connsiteX1" fmla="*/ 1807276 w 2588326"/>
                <a:gd name="connsiteY1" fmla="*/ 106507 h 887559"/>
                <a:gd name="connsiteX2" fmla="*/ 2055792 w 2588326"/>
                <a:gd name="connsiteY2" fmla="*/ 355023 h 887559"/>
                <a:gd name="connsiteX3" fmla="*/ 2304308 w 2588326"/>
                <a:gd name="connsiteY3" fmla="*/ 106507 h 887559"/>
                <a:gd name="connsiteX4" fmla="*/ 2304308 w 2588326"/>
                <a:gd name="connsiteY4" fmla="*/ 0 h 887559"/>
                <a:gd name="connsiteX5" fmla="*/ 2588326 w 2588326"/>
                <a:gd name="connsiteY5" fmla="*/ 0 h 887559"/>
                <a:gd name="connsiteX6" fmla="*/ 2588326 w 2588326"/>
                <a:gd name="connsiteY6" fmla="*/ 390525 h 887559"/>
                <a:gd name="connsiteX7" fmla="*/ 2588326 w 2588326"/>
                <a:gd name="connsiteY7" fmla="*/ 497032 h 887559"/>
                <a:gd name="connsiteX8" fmla="*/ 2588326 w 2588326"/>
                <a:gd name="connsiteY8" fmla="*/ 887559 h 887559"/>
                <a:gd name="connsiteX9" fmla="*/ 0 w 2588326"/>
                <a:gd name="connsiteY9" fmla="*/ 887559 h 887559"/>
                <a:gd name="connsiteX10" fmla="*/ 0 w 2588326"/>
                <a:gd name="connsiteY10" fmla="*/ 497034 h 887559"/>
                <a:gd name="connsiteX11" fmla="*/ 0 w 2588326"/>
                <a:gd name="connsiteY11" fmla="*/ 390525 h 887559"/>
                <a:gd name="connsiteX12" fmla="*/ 0 w 2588326"/>
                <a:gd name="connsiteY12" fmla="*/ 2 h 887559"/>
                <a:gd name="connsiteX13" fmla="*/ 284018 w 2588326"/>
                <a:gd name="connsiteY13" fmla="*/ 2 h 887559"/>
                <a:gd name="connsiteX14" fmla="*/ 284018 w 2588326"/>
                <a:gd name="connsiteY14" fmla="*/ 106509 h 887559"/>
                <a:gd name="connsiteX15" fmla="*/ 532534 w 2588326"/>
                <a:gd name="connsiteY15" fmla="*/ 355025 h 887559"/>
                <a:gd name="connsiteX16" fmla="*/ 781050 w 2588326"/>
                <a:gd name="connsiteY16" fmla="*/ 106509 h 887559"/>
                <a:gd name="connsiteX17" fmla="*/ 781050 w 2588326"/>
                <a:gd name="connsiteY17" fmla="*/ 2 h 88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88326" h="887559">
                  <a:moveTo>
                    <a:pt x="1807276" y="0"/>
                  </a:moveTo>
                  <a:lnTo>
                    <a:pt x="1807276" y="106507"/>
                  </a:lnTo>
                  <a:cubicBezTo>
                    <a:pt x="1807276" y="244966"/>
                    <a:pt x="1917333" y="355023"/>
                    <a:pt x="2055792" y="355023"/>
                  </a:cubicBezTo>
                  <a:cubicBezTo>
                    <a:pt x="2194251" y="355023"/>
                    <a:pt x="2304308" y="244966"/>
                    <a:pt x="2304308" y="106507"/>
                  </a:cubicBezTo>
                  <a:lnTo>
                    <a:pt x="2304308" y="0"/>
                  </a:lnTo>
                  <a:lnTo>
                    <a:pt x="2588326" y="0"/>
                  </a:lnTo>
                  <a:lnTo>
                    <a:pt x="2588326" y="390525"/>
                  </a:lnTo>
                  <a:lnTo>
                    <a:pt x="2588326" y="497032"/>
                  </a:lnTo>
                  <a:lnTo>
                    <a:pt x="2588326" y="887559"/>
                  </a:lnTo>
                  <a:lnTo>
                    <a:pt x="0" y="887559"/>
                  </a:lnTo>
                  <a:lnTo>
                    <a:pt x="0" y="497034"/>
                  </a:lnTo>
                  <a:lnTo>
                    <a:pt x="0" y="390525"/>
                  </a:lnTo>
                  <a:lnTo>
                    <a:pt x="0" y="2"/>
                  </a:lnTo>
                  <a:lnTo>
                    <a:pt x="284018" y="2"/>
                  </a:lnTo>
                  <a:lnTo>
                    <a:pt x="284018" y="106509"/>
                  </a:lnTo>
                  <a:cubicBezTo>
                    <a:pt x="284018" y="244968"/>
                    <a:pt x="394075" y="355025"/>
                    <a:pt x="532534" y="355025"/>
                  </a:cubicBezTo>
                  <a:cubicBezTo>
                    <a:pt x="670993" y="355025"/>
                    <a:pt x="781050" y="244968"/>
                    <a:pt x="781050" y="106509"/>
                  </a:cubicBezTo>
                  <a:lnTo>
                    <a:pt x="781050" y="2"/>
                  </a:lnTo>
                  <a:close/>
                </a:path>
              </a:pathLst>
            </a:custGeom>
            <a:solidFill>
              <a:srgbClr val="6EA56C"/>
            </a:solidFill>
            <a:ln w="35421" cap="flat">
              <a:noFill/>
              <a:prstDash val="solid"/>
              <a:miter/>
            </a:ln>
          </p:spPr>
          <p:txBody>
            <a:bodyPr bIns="9144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all" spc="0" normalizeH="0" baseline="0" noProof="0" dirty="0">
                <a:ln>
                  <a:noFill/>
                </a:ln>
                <a:solidFill>
                  <a:srgbClr val="FFFFFF"/>
                </a:solidFill>
                <a:effectLst/>
                <a:uLnTx/>
                <a:uFillTx/>
                <a:latin typeface="Calibri"/>
                <a:ea typeface="+mn-ea"/>
                <a:cs typeface="+mn-cs"/>
              </a:endParaRPr>
            </a:p>
          </p:txBody>
        </p:sp>
        <p:sp>
          <p:nvSpPr>
            <p:cNvPr id="62" name="Freeform: Shape 20">
              <a:extLst>
                <a:ext uri="{FF2B5EF4-FFF2-40B4-BE49-F238E27FC236}">
                  <a16:creationId xmlns:a16="http://schemas.microsoft.com/office/drawing/2014/main" id="{7B4EEE18-A1BC-B538-9738-70C7BA2B5F39}"/>
                </a:ext>
              </a:extLst>
            </p:cNvPr>
            <p:cNvSpPr/>
            <p:nvPr/>
          </p:nvSpPr>
          <p:spPr>
            <a:xfrm>
              <a:off x="2787486" y="1932460"/>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6EA56C"/>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grpSp>
      <p:grpSp>
        <p:nvGrpSpPr>
          <p:cNvPr id="65" name="Group 64">
            <a:extLst>
              <a:ext uri="{FF2B5EF4-FFF2-40B4-BE49-F238E27FC236}">
                <a16:creationId xmlns:a16="http://schemas.microsoft.com/office/drawing/2014/main" id="{FB3C228D-1E8B-ECBE-E039-AD9F43907A54}"/>
              </a:ext>
            </a:extLst>
          </p:cNvPr>
          <p:cNvGrpSpPr/>
          <p:nvPr/>
        </p:nvGrpSpPr>
        <p:grpSpPr>
          <a:xfrm>
            <a:off x="9089673" y="708680"/>
            <a:ext cx="2789138" cy="5291886"/>
            <a:chOff x="838199" y="1932460"/>
            <a:chExt cx="2789138" cy="5291886"/>
          </a:xfrm>
        </p:grpSpPr>
        <p:sp>
          <p:nvSpPr>
            <p:cNvPr id="66" name="Freeform: Shape 24">
              <a:extLst>
                <a:ext uri="{FF2B5EF4-FFF2-40B4-BE49-F238E27FC236}">
                  <a16:creationId xmlns:a16="http://schemas.microsoft.com/office/drawing/2014/main" id="{0546A648-6E4F-8AFF-B59E-B90CE0FA09FC}"/>
                </a:ext>
              </a:extLst>
            </p:cNvPr>
            <p:cNvSpPr/>
            <p:nvPr/>
          </p:nvSpPr>
          <p:spPr>
            <a:xfrm>
              <a:off x="1289395" y="1932460"/>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244470"/>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67" name="Freeform: Shape 25">
              <a:extLst>
                <a:ext uri="{FF2B5EF4-FFF2-40B4-BE49-F238E27FC236}">
                  <a16:creationId xmlns:a16="http://schemas.microsoft.com/office/drawing/2014/main" id="{41D58CCA-F12F-31C3-96C4-C9C6951B4547}"/>
                </a:ext>
              </a:extLst>
            </p:cNvPr>
            <p:cNvSpPr/>
            <p:nvPr/>
          </p:nvSpPr>
          <p:spPr>
            <a:xfrm>
              <a:off x="838199" y="3236508"/>
              <a:ext cx="2789138" cy="3987838"/>
            </a:xfrm>
            <a:custGeom>
              <a:avLst/>
              <a:gdLst>
                <a:gd name="connsiteX0" fmla="*/ 0 w 2588326"/>
                <a:gd name="connsiteY0" fmla="*/ 0 h 2811855"/>
                <a:gd name="connsiteX1" fmla="*/ 639041 w 2588326"/>
                <a:gd name="connsiteY1" fmla="*/ 0 h 2811855"/>
                <a:gd name="connsiteX2" fmla="*/ 639041 w 2588326"/>
                <a:gd name="connsiteY2" fmla="*/ 148466 h 2811855"/>
                <a:gd name="connsiteX3" fmla="*/ 148466 w 2588326"/>
                <a:gd name="connsiteY3" fmla="*/ 148466 h 2811855"/>
                <a:gd name="connsiteX4" fmla="*/ 148466 w 2588326"/>
                <a:gd name="connsiteY4" fmla="*/ 2663389 h 2811855"/>
                <a:gd name="connsiteX5" fmla="*/ 2439860 w 2588326"/>
                <a:gd name="connsiteY5" fmla="*/ 2663389 h 2811855"/>
                <a:gd name="connsiteX6" fmla="*/ 2439860 w 2588326"/>
                <a:gd name="connsiteY6" fmla="*/ 148466 h 2811855"/>
                <a:gd name="connsiteX7" fmla="*/ 1949286 w 2588326"/>
                <a:gd name="connsiteY7" fmla="*/ 148466 h 2811855"/>
                <a:gd name="connsiteX8" fmla="*/ 1949286 w 2588326"/>
                <a:gd name="connsiteY8" fmla="*/ 0 h 2811855"/>
                <a:gd name="connsiteX9" fmla="*/ 2588326 w 2588326"/>
                <a:gd name="connsiteY9" fmla="*/ 0 h 2811855"/>
                <a:gd name="connsiteX10" fmla="*/ 2588326 w 2588326"/>
                <a:gd name="connsiteY10" fmla="*/ 2811855 h 2811855"/>
                <a:gd name="connsiteX11" fmla="*/ 0 w 2588326"/>
                <a:gd name="connsiteY11" fmla="*/ 2811855 h 28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88326" h="2811855">
                  <a:moveTo>
                    <a:pt x="0" y="0"/>
                  </a:moveTo>
                  <a:lnTo>
                    <a:pt x="639041" y="0"/>
                  </a:lnTo>
                  <a:lnTo>
                    <a:pt x="639041" y="148466"/>
                  </a:lnTo>
                  <a:lnTo>
                    <a:pt x="148466" y="148466"/>
                  </a:lnTo>
                  <a:lnTo>
                    <a:pt x="148466" y="2663389"/>
                  </a:lnTo>
                  <a:lnTo>
                    <a:pt x="2439860" y="2663389"/>
                  </a:lnTo>
                  <a:lnTo>
                    <a:pt x="2439860" y="148466"/>
                  </a:lnTo>
                  <a:lnTo>
                    <a:pt x="1949286" y="148466"/>
                  </a:lnTo>
                  <a:lnTo>
                    <a:pt x="1949286" y="0"/>
                  </a:lnTo>
                  <a:lnTo>
                    <a:pt x="2588326" y="0"/>
                  </a:lnTo>
                  <a:lnTo>
                    <a:pt x="2588326" y="2811855"/>
                  </a:lnTo>
                  <a:lnTo>
                    <a:pt x="0" y="2811855"/>
                  </a:lnTo>
                  <a:close/>
                </a:path>
              </a:pathLst>
            </a:custGeom>
            <a:solidFill>
              <a:srgbClr val="244470"/>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68" name="Freeform: Shape 26">
              <a:extLst>
                <a:ext uri="{FF2B5EF4-FFF2-40B4-BE49-F238E27FC236}">
                  <a16:creationId xmlns:a16="http://schemas.microsoft.com/office/drawing/2014/main" id="{8550A4AA-07A3-7A51-E25B-0C395B371FEF}"/>
                </a:ext>
              </a:extLst>
            </p:cNvPr>
            <p:cNvSpPr/>
            <p:nvPr/>
          </p:nvSpPr>
          <p:spPr>
            <a:xfrm>
              <a:off x="838199" y="2145473"/>
              <a:ext cx="2789137" cy="887559"/>
            </a:xfrm>
            <a:custGeom>
              <a:avLst/>
              <a:gdLst>
                <a:gd name="connsiteX0" fmla="*/ 1807276 w 2588326"/>
                <a:gd name="connsiteY0" fmla="*/ 0 h 887559"/>
                <a:gd name="connsiteX1" fmla="*/ 1807276 w 2588326"/>
                <a:gd name="connsiteY1" fmla="*/ 106507 h 887559"/>
                <a:gd name="connsiteX2" fmla="*/ 2055792 w 2588326"/>
                <a:gd name="connsiteY2" fmla="*/ 355023 h 887559"/>
                <a:gd name="connsiteX3" fmla="*/ 2304308 w 2588326"/>
                <a:gd name="connsiteY3" fmla="*/ 106507 h 887559"/>
                <a:gd name="connsiteX4" fmla="*/ 2304308 w 2588326"/>
                <a:gd name="connsiteY4" fmla="*/ 0 h 887559"/>
                <a:gd name="connsiteX5" fmla="*/ 2588326 w 2588326"/>
                <a:gd name="connsiteY5" fmla="*/ 0 h 887559"/>
                <a:gd name="connsiteX6" fmla="*/ 2588326 w 2588326"/>
                <a:gd name="connsiteY6" fmla="*/ 390525 h 887559"/>
                <a:gd name="connsiteX7" fmla="*/ 2588326 w 2588326"/>
                <a:gd name="connsiteY7" fmla="*/ 497032 h 887559"/>
                <a:gd name="connsiteX8" fmla="*/ 2588326 w 2588326"/>
                <a:gd name="connsiteY8" fmla="*/ 887559 h 887559"/>
                <a:gd name="connsiteX9" fmla="*/ 0 w 2588326"/>
                <a:gd name="connsiteY9" fmla="*/ 887559 h 887559"/>
                <a:gd name="connsiteX10" fmla="*/ 0 w 2588326"/>
                <a:gd name="connsiteY10" fmla="*/ 497034 h 887559"/>
                <a:gd name="connsiteX11" fmla="*/ 0 w 2588326"/>
                <a:gd name="connsiteY11" fmla="*/ 390525 h 887559"/>
                <a:gd name="connsiteX12" fmla="*/ 0 w 2588326"/>
                <a:gd name="connsiteY12" fmla="*/ 2 h 887559"/>
                <a:gd name="connsiteX13" fmla="*/ 284018 w 2588326"/>
                <a:gd name="connsiteY13" fmla="*/ 2 h 887559"/>
                <a:gd name="connsiteX14" fmla="*/ 284018 w 2588326"/>
                <a:gd name="connsiteY14" fmla="*/ 106509 h 887559"/>
                <a:gd name="connsiteX15" fmla="*/ 532534 w 2588326"/>
                <a:gd name="connsiteY15" fmla="*/ 355025 h 887559"/>
                <a:gd name="connsiteX16" fmla="*/ 781050 w 2588326"/>
                <a:gd name="connsiteY16" fmla="*/ 106509 h 887559"/>
                <a:gd name="connsiteX17" fmla="*/ 781050 w 2588326"/>
                <a:gd name="connsiteY17" fmla="*/ 2 h 88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88326" h="887559">
                  <a:moveTo>
                    <a:pt x="1807276" y="0"/>
                  </a:moveTo>
                  <a:lnTo>
                    <a:pt x="1807276" y="106507"/>
                  </a:lnTo>
                  <a:cubicBezTo>
                    <a:pt x="1807276" y="244966"/>
                    <a:pt x="1917333" y="355023"/>
                    <a:pt x="2055792" y="355023"/>
                  </a:cubicBezTo>
                  <a:cubicBezTo>
                    <a:pt x="2194251" y="355023"/>
                    <a:pt x="2304308" y="244966"/>
                    <a:pt x="2304308" y="106507"/>
                  </a:cubicBezTo>
                  <a:lnTo>
                    <a:pt x="2304308" y="0"/>
                  </a:lnTo>
                  <a:lnTo>
                    <a:pt x="2588326" y="0"/>
                  </a:lnTo>
                  <a:lnTo>
                    <a:pt x="2588326" y="390525"/>
                  </a:lnTo>
                  <a:lnTo>
                    <a:pt x="2588326" y="497032"/>
                  </a:lnTo>
                  <a:lnTo>
                    <a:pt x="2588326" y="887559"/>
                  </a:lnTo>
                  <a:lnTo>
                    <a:pt x="0" y="887559"/>
                  </a:lnTo>
                  <a:lnTo>
                    <a:pt x="0" y="497034"/>
                  </a:lnTo>
                  <a:lnTo>
                    <a:pt x="0" y="390525"/>
                  </a:lnTo>
                  <a:lnTo>
                    <a:pt x="0" y="2"/>
                  </a:lnTo>
                  <a:lnTo>
                    <a:pt x="284018" y="2"/>
                  </a:lnTo>
                  <a:lnTo>
                    <a:pt x="284018" y="106509"/>
                  </a:lnTo>
                  <a:cubicBezTo>
                    <a:pt x="284018" y="244968"/>
                    <a:pt x="394075" y="355025"/>
                    <a:pt x="532534" y="355025"/>
                  </a:cubicBezTo>
                  <a:cubicBezTo>
                    <a:pt x="670993" y="355025"/>
                    <a:pt x="781050" y="244968"/>
                    <a:pt x="781050" y="106509"/>
                  </a:cubicBezTo>
                  <a:lnTo>
                    <a:pt x="781050" y="2"/>
                  </a:lnTo>
                  <a:close/>
                </a:path>
              </a:pathLst>
            </a:custGeom>
            <a:solidFill>
              <a:srgbClr val="244470"/>
            </a:solidFill>
            <a:ln w="35421" cap="flat">
              <a:noFill/>
              <a:prstDash val="solid"/>
              <a:miter/>
            </a:ln>
          </p:spPr>
          <p:txBody>
            <a:bodyPr bIns="9144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all" spc="0" normalizeH="0" baseline="0" noProof="0" dirty="0" err="1">
                  <a:ln>
                    <a:noFill/>
                  </a:ln>
                  <a:solidFill>
                    <a:srgbClr val="FFFFFF"/>
                  </a:solidFill>
                  <a:effectLst/>
                  <a:uLnTx/>
                  <a:uFillTx/>
                  <a:latin typeface="Calibri"/>
                  <a:ea typeface="+mn-ea"/>
                  <a:cs typeface="+mn-cs"/>
                </a:rPr>
                <a:t>CHẤT</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LƯỢNG</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NGUỒN</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VIỆC</a:t>
              </a:r>
              <a:endParaRPr kumimoji="0" lang="en-US" sz="1800" b="1" i="0" u="none" strike="noStrike" kern="0" cap="all" spc="0" normalizeH="0" baseline="0" noProof="0" dirty="0">
                <a:ln>
                  <a:noFill/>
                </a:ln>
                <a:solidFill>
                  <a:srgbClr val="FFFFFF"/>
                </a:solidFill>
                <a:effectLst/>
                <a:uLnTx/>
                <a:uFillTx/>
                <a:latin typeface="Calibri"/>
                <a:ea typeface="+mn-ea"/>
                <a:cs typeface="+mn-cs"/>
              </a:endParaRPr>
            </a:p>
          </p:txBody>
        </p:sp>
        <p:sp>
          <p:nvSpPr>
            <p:cNvPr id="69" name="Freeform: Shape 27">
              <a:extLst>
                <a:ext uri="{FF2B5EF4-FFF2-40B4-BE49-F238E27FC236}">
                  <a16:creationId xmlns:a16="http://schemas.microsoft.com/office/drawing/2014/main" id="{4F54B826-26B8-92CE-59D1-323699B28B87}"/>
                </a:ext>
              </a:extLst>
            </p:cNvPr>
            <p:cNvSpPr/>
            <p:nvPr/>
          </p:nvSpPr>
          <p:spPr>
            <a:xfrm>
              <a:off x="2975333" y="1965886"/>
              <a:ext cx="213013" cy="426027"/>
            </a:xfrm>
            <a:custGeom>
              <a:avLst/>
              <a:gdLst>
                <a:gd name="connsiteX0" fmla="*/ 106507 w 213013"/>
                <a:gd name="connsiteY0" fmla="*/ 426027 h 426027"/>
                <a:gd name="connsiteX1" fmla="*/ 213014 w 213013"/>
                <a:gd name="connsiteY1" fmla="*/ 319521 h 426027"/>
                <a:gd name="connsiteX2" fmla="*/ 213014 w 213013"/>
                <a:gd name="connsiteY2" fmla="*/ 106507 h 426027"/>
                <a:gd name="connsiteX3" fmla="*/ 106507 w 213013"/>
                <a:gd name="connsiteY3" fmla="*/ 0 h 426027"/>
                <a:gd name="connsiteX4" fmla="*/ 0 w 213013"/>
                <a:gd name="connsiteY4" fmla="*/ 106507 h 426027"/>
                <a:gd name="connsiteX5" fmla="*/ 0 w 213013"/>
                <a:gd name="connsiteY5" fmla="*/ 319521 h 426027"/>
                <a:gd name="connsiteX6" fmla="*/ 106507 w 213013"/>
                <a:gd name="connsiteY6" fmla="*/ 426027 h 42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013" h="426027">
                  <a:moveTo>
                    <a:pt x="106507" y="426027"/>
                  </a:moveTo>
                  <a:cubicBezTo>
                    <a:pt x="166861" y="426027"/>
                    <a:pt x="213014" y="379874"/>
                    <a:pt x="213014" y="319521"/>
                  </a:cubicBezTo>
                  <a:lnTo>
                    <a:pt x="213014" y="106507"/>
                  </a:lnTo>
                  <a:cubicBezTo>
                    <a:pt x="213014" y="46153"/>
                    <a:pt x="166861" y="0"/>
                    <a:pt x="106507" y="0"/>
                  </a:cubicBezTo>
                  <a:cubicBezTo>
                    <a:pt x="46153" y="0"/>
                    <a:pt x="0" y="46153"/>
                    <a:pt x="0" y="106507"/>
                  </a:cubicBezTo>
                  <a:lnTo>
                    <a:pt x="0" y="319521"/>
                  </a:lnTo>
                  <a:cubicBezTo>
                    <a:pt x="0" y="379874"/>
                    <a:pt x="46153" y="426027"/>
                    <a:pt x="106507" y="426027"/>
                  </a:cubicBezTo>
                  <a:close/>
                </a:path>
              </a:pathLst>
            </a:custGeom>
            <a:solidFill>
              <a:srgbClr val="244470"/>
            </a:solidFill>
            <a:ln w="3542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grpSp>
      <p:sp>
        <p:nvSpPr>
          <p:cNvPr id="2" name="TextBox 1"/>
          <p:cNvSpPr txBox="1"/>
          <p:nvPr/>
        </p:nvSpPr>
        <p:spPr>
          <a:xfrm>
            <a:off x="1270161" y="1849100"/>
            <a:ext cx="112801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15F47"/>
                </a:solidFill>
                <a:effectLst/>
                <a:uLnTx/>
                <a:uFillTx/>
                <a:latin typeface="Arial Black" panose="020B0A04020102020204" pitchFamily="34" charset="0"/>
                <a:ea typeface="+mn-ea"/>
                <a:cs typeface="+mn-cs"/>
              </a:rPr>
              <a:t>01</a:t>
            </a:r>
          </a:p>
        </p:txBody>
      </p:sp>
      <p:sp>
        <p:nvSpPr>
          <p:cNvPr id="72" name="TextBox 71"/>
          <p:cNvSpPr txBox="1"/>
          <p:nvPr/>
        </p:nvSpPr>
        <p:spPr>
          <a:xfrm>
            <a:off x="4122846" y="1849100"/>
            <a:ext cx="112801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BA91E"/>
                </a:solidFill>
                <a:effectLst/>
                <a:uLnTx/>
                <a:uFillTx/>
                <a:latin typeface="Arial Black" panose="020B0A04020102020204" pitchFamily="34" charset="0"/>
                <a:ea typeface="+mn-ea"/>
                <a:cs typeface="+mn-cs"/>
              </a:rPr>
              <a:t>02</a:t>
            </a:r>
          </a:p>
        </p:txBody>
      </p:sp>
      <p:sp>
        <p:nvSpPr>
          <p:cNvPr id="74" name="TextBox 73"/>
          <p:cNvSpPr txBox="1"/>
          <p:nvPr/>
        </p:nvSpPr>
        <p:spPr>
          <a:xfrm>
            <a:off x="6955934" y="1849100"/>
            <a:ext cx="112801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6EA56C"/>
                </a:solidFill>
                <a:effectLst/>
                <a:uLnTx/>
                <a:uFillTx/>
                <a:latin typeface="Arial Black" panose="020B0A04020102020204" pitchFamily="34" charset="0"/>
                <a:ea typeface="+mn-ea"/>
                <a:cs typeface="+mn-cs"/>
              </a:rPr>
              <a:t>03</a:t>
            </a:r>
          </a:p>
        </p:txBody>
      </p:sp>
      <p:sp>
        <p:nvSpPr>
          <p:cNvPr id="75" name="TextBox 74"/>
          <p:cNvSpPr txBox="1"/>
          <p:nvPr/>
        </p:nvSpPr>
        <p:spPr>
          <a:xfrm>
            <a:off x="9789022" y="1867988"/>
            <a:ext cx="112801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1F497D"/>
                </a:solidFill>
                <a:effectLst/>
                <a:uLnTx/>
                <a:uFillTx/>
                <a:latin typeface="Arial Black" panose="020B0A04020102020204" pitchFamily="34" charset="0"/>
                <a:ea typeface="+mn-ea"/>
                <a:cs typeface="+mn-cs"/>
              </a:rPr>
              <a:t>04</a:t>
            </a:r>
          </a:p>
        </p:txBody>
      </p:sp>
      <p:sp>
        <p:nvSpPr>
          <p:cNvPr id="3" name="Rectangle 2"/>
          <p:cNvSpPr/>
          <p:nvPr/>
        </p:nvSpPr>
        <p:spPr>
          <a:xfrm>
            <a:off x="6353931" y="1435146"/>
            <a:ext cx="2226892"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all" spc="0" normalizeH="0" baseline="0" noProof="0" dirty="0" err="1">
                <a:ln>
                  <a:noFill/>
                </a:ln>
                <a:solidFill>
                  <a:srgbClr val="FFFFFF"/>
                </a:solidFill>
                <a:effectLst/>
                <a:uLnTx/>
                <a:uFillTx/>
                <a:latin typeface="Calibri"/>
                <a:ea typeface="+mn-ea"/>
                <a:cs typeface="+mn-cs"/>
              </a:rPr>
              <a:t>CHÀO</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THẦU</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CƠ</a:t>
            </a:r>
            <a:r>
              <a:rPr kumimoji="0" lang="en-US" sz="1800" b="1" i="0" u="none" strike="noStrike" kern="0" cap="all" spc="0" normalizeH="0" baseline="0" noProof="0" dirty="0">
                <a:ln>
                  <a:noFill/>
                </a:ln>
                <a:solidFill>
                  <a:srgbClr val="FFFFFF"/>
                </a:solidFill>
                <a:effectLst/>
                <a:uLnTx/>
                <a:uFillTx/>
                <a:latin typeface="Calibri"/>
                <a:ea typeface="+mn-ea"/>
                <a:cs typeface="+mn-cs"/>
              </a:rPr>
              <a:t> </a:t>
            </a:r>
            <a:r>
              <a:rPr kumimoji="0" lang="en-US" sz="1800" b="1" i="0" u="none" strike="noStrike" kern="0" cap="all" spc="0" normalizeH="0" baseline="0" noProof="0" dirty="0" err="1">
                <a:ln>
                  <a:noFill/>
                </a:ln>
                <a:solidFill>
                  <a:srgbClr val="FFFFFF"/>
                </a:solidFill>
                <a:effectLst/>
                <a:uLnTx/>
                <a:uFillTx/>
                <a:latin typeface="Calibri"/>
                <a:ea typeface="+mn-ea"/>
                <a:cs typeface="+mn-cs"/>
              </a:rPr>
              <a:t>ĐIỆN</a:t>
            </a:r>
            <a:endParaRPr kumimoji="0" lang="en-US" sz="1800" b="1" i="0" u="none" strike="noStrike" kern="0" cap="all"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3885490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algn="ctr" defTabSz="1219232">
                <a:defRPr/>
              </a:pPr>
              <a:endParaRPr lang="zh-CN" altLang="en-US" sz="2400">
                <a:solidFill>
                  <a:prstClr val="white"/>
                </a:solidFill>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11473829" cy="461665"/>
          </a:xfrm>
          <a:prstGeom prst="rect">
            <a:avLst/>
          </a:prstGeom>
          <a:noFill/>
        </p:spPr>
        <p:txBody>
          <a:bodyPr wrap="square" rtlCol="0">
            <a:spAutoFit/>
          </a:bodyPr>
          <a:lstStyle/>
          <a:p>
            <a:pPr defTabSz="1219232">
              <a:defRPr/>
            </a:pPr>
            <a:r>
              <a:rPr lang="en-US" sz="2400" b="1">
                <a:solidFill>
                  <a:schemeClr val="accent2">
                    <a:lumMod val="75000"/>
                  </a:schemeClr>
                </a:solidFill>
                <a:latin typeface="FS Magistral Bold" panose="020B0804030204080304" pitchFamily="34" charset="0"/>
              </a:rPr>
              <a:t>1.5. BÀI HỌC KINH NGHIỆM</a:t>
            </a:r>
            <a:endParaRPr lang="vi-VN" sz="2400" b="1" err="1">
              <a:latin typeface="FS Magistral Bold" panose="020B0804030204080304" pitchFamily="34" charset="0"/>
            </a:endParaRPr>
          </a:p>
        </p:txBody>
      </p:sp>
      <p:sp>
        <p:nvSpPr>
          <p:cNvPr id="35" name="TextBox 34">
            <a:extLst>
              <a:ext uri="{FF2B5EF4-FFF2-40B4-BE49-F238E27FC236}">
                <a16:creationId xmlns:a16="http://schemas.microsoft.com/office/drawing/2014/main" id="{FDEEE2C6-A388-C3D0-2A3B-6496AD929191}"/>
              </a:ext>
            </a:extLst>
          </p:cNvPr>
          <p:cNvSpPr txBox="1"/>
          <p:nvPr/>
        </p:nvSpPr>
        <p:spPr>
          <a:xfrm>
            <a:off x="173765" y="3823591"/>
            <a:ext cx="3253522" cy="369332"/>
          </a:xfrm>
          <a:prstGeom prst="rect">
            <a:avLst/>
          </a:prstGeom>
          <a:noFill/>
        </p:spPr>
        <p:txBody>
          <a:bodyPr wrap="square" lIns="0" rIns="0" rtlCol="0" anchor="b">
            <a:spAutoFit/>
          </a:bodyPr>
          <a:lstStyle/>
          <a:p>
            <a:pPr algn="r"/>
            <a:r>
              <a:rPr lang="en-US" b="1" noProof="1">
                <a:latin typeface="Cambria" panose="02040503050406030204" pitchFamily="18" charset="0"/>
                <a:ea typeface="Cambria" panose="02040503050406030204" pitchFamily="18" charset="0"/>
              </a:rPr>
              <a:t>TẬN DỤNG CÁC MỐI QUAN HỆ</a:t>
            </a:r>
          </a:p>
        </p:txBody>
      </p:sp>
      <p:sp>
        <p:nvSpPr>
          <p:cNvPr id="37" name="TextBox 36">
            <a:extLst>
              <a:ext uri="{FF2B5EF4-FFF2-40B4-BE49-F238E27FC236}">
                <a16:creationId xmlns:a16="http://schemas.microsoft.com/office/drawing/2014/main" id="{DE6011FB-6E6B-3F3A-6BB6-FB7F72066E8C}"/>
              </a:ext>
            </a:extLst>
          </p:cNvPr>
          <p:cNvSpPr txBox="1"/>
          <p:nvPr/>
        </p:nvSpPr>
        <p:spPr>
          <a:xfrm>
            <a:off x="1629839" y="1108386"/>
            <a:ext cx="1797447" cy="369332"/>
          </a:xfrm>
          <a:prstGeom prst="rect">
            <a:avLst/>
          </a:prstGeom>
          <a:noFill/>
        </p:spPr>
        <p:txBody>
          <a:bodyPr wrap="square" lIns="0" rIns="0" rtlCol="0" anchor="b">
            <a:spAutoFit/>
          </a:bodyPr>
          <a:lstStyle/>
          <a:p>
            <a:pPr algn="r"/>
            <a:r>
              <a:rPr lang="vi-VN" b="1" noProof="1">
                <a:latin typeface="Cambria" panose="02040503050406030204" pitchFamily="18" charset="0"/>
                <a:ea typeface="Cambria" panose="02040503050406030204" pitchFamily="18" charset="0"/>
              </a:rPr>
              <a:t>TƯ TƯỞNG</a:t>
            </a:r>
          </a:p>
        </p:txBody>
      </p:sp>
      <p:sp>
        <p:nvSpPr>
          <p:cNvPr id="38" name="TextBox 37">
            <a:extLst>
              <a:ext uri="{FF2B5EF4-FFF2-40B4-BE49-F238E27FC236}">
                <a16:creationId xmlns:a16="http://schemas.microsoft.com/office/drawing/2014/main" id="{69808FC6-906D-2B2F-88AF-BE2BD50B43C4}"/>
              </a:ext>
            </a:extLst>
          </p:cNvPr>
          <p:cNvSpPr txBox="1"/>
          <p:nvPr/>
        </p:nvSpPr>
        <p:spPr>
          <a:xfrm>
            <a:off x="282826" y="1398267"/>
            <a:ext cx="3348120" cy="1384995"/>
          </a:xfrm>
          <a:prstGeom prst="rect">
            <a:avLst/>
          </a:prstGeom>
          <a:noFill/>
        </p:spPr>
        <p:txBody>
          <a:bodyPr wrap="square" lIns="0" rIns="0" rtlCol="0" anchor="ctr">
            <a:spAutoFit/>
          </a:bodyPr>
          <a:lstStyle/>
          <a:p>
            <a:pPr algn="just"/>
            <a:r>
              <a:rPr lang="vi-VN" sz="1400" noProof="1">
                <a:solidFill>
                  <a:schemeClr val="tx1">
                    <a:lumMod val="85000"/>
                    <a:lumOff val="15000"/>
                  </a:schemeClr>
                </a:solidFill>
                <a:latin typeface="Cambria" panose="02040503050406030204" pitchFamily="18" charset="0"/>
                <a:ea typeface="Cambria" panose="02040503050406030204" pitchFamily="18" charset="0"/>
              </a:rPr>
              <a:t>Đả thông tư tưởng GĐ CNCT, TP phải làm các dự án cơ điện có tính chất lắp đặt, A</a:t>
            </a:r>
            <a:r>
              <a:rPr lang="en-US" sz="1400" noProof="1">
                <a:solidFill>
                  <a:schemeClr val="tx1">
                    <a:lumMod val="85000"/>
                    <a:lumOff val="15000"/>
                  </a:schemeClr>
                </a:solidFill>
                <a:latin typeface="Cambria" panose="02040503050406030204" pitchFamily="18" charset="0"/>
                <a:ea typeface="Cambria" panose="02040503050406030204" pitchFamily="18" charset="0"/>
              </a:rPr>
              <a:t>RPU</a:t>
            </a:r>
            <a:r>
              <a:rPr lang="vi-VN" sz="1400" noProof="1">
                <a:solidFill>
                  <a:schemeClr val="tx1">
                    <a:lumMod val="85000"/>
                    <a:lumOff val="15000"/>
                  </a:schemeClr>
                </a:solidFill>
                <a:latin typeface="Cambria" panose="02040503050406030204" pitchFamily="18" charset="0"/>
                <a:ea typeface="Cambria" panose="02040503050406030204" pitchFamily="18" charset="0"/>
              </a:rPr>
              <a:t>/dự án</a:t>
            </a:r>
            <a:r>
              <a:rPr lang="en-US" sz="1400" noProof="1">
                <a:solidFill>
                  <a:schemeClr val="tx1">
                    <a:lumMod val="85000"/>
                    <a:lumOff val="15000"/>
                  </a:schemeClr>
                </a:solidFill>
                <a:latin typeface="Cambria" panose="02040503050406030204" pitchFamily="18" charset="0"/>
                <a:ea typeface="Cambria" panose="02040503050406030204" pitchFamily="18" charset="0"/>
              </a:rPr>
              <a:t> ≥</a:t>
            </a:r>
            <a:r>
              <a:rPr lang="vi-VN" sz="1400" noProof="1">
                <a:solidFill>
                  <a:schemeClr val="tx1">
                    <a:lumMod val="85000"/>
                    <a:lumOff val="15000"/>
                  </a:schemeClr>
                </a:solidFill>
                <a:latin typeface="Cambria" panose="02040503050406030204" pitchFamily="18" charset="0"/>
                <a:ea typeface="Cambria" panose="02040503050406030204" pitchFamily="18" charset="0"/>
              </a:rPr>
              <a:t> 500 tr  </a:t>
            </a:r>
            <a:endParaRPr lang="en-US" sz="1400" noProof="1">
              <a:solidFill>
                <a:schemeClr val="tx1">
                  <a:lumMod val="85000"/>
                  <a:lumOff val="15000"/>
                </a:schemeClr>
              </a:solidFill>
              <a:latin typeface="Cambria" panose="02040503050406030204" pitchFamily="18" charset="0"/>
              <a:ea typeface="Cambria" panose="02040503050406030204" pitchFamily="18" charset="0"/>
            </a:endParaRPr>
          </a:p>
          <a:p>
            <a:pPr algn="just"/>
            <a:endParaRPr lang="en-US" sz="1400" noProof="1">
              <a:solidFill>
                <a:schemeClr val="tx1">
                  <a:lumMod val="65000"/>
                  <a:lumOff val="35000"/>
                </a:schemeClr>
              </a:solidFill>
              <a:latin typeface="Cambria" panose="02040503050406030204" pitchFamily="18" charset="0"/>
              <a:ea typeface="Cambria" panose="02040503050406030204" pitchFamily="18" charset="0"/>
            </a:endParaRPr>
          </a:p>
          <a:p>
            <a:pPr algn="just"/>
            <a:r>
              <a:rPr lang="vi-VN" sz="1400" kern="0" noProof="1">
                <a:solidFill>
                  <a:srgbClr val="FF0000"/>
                </a:solidFill>
              </a:rPr>
              <a:t>►</a:t>
            </a:r>
            <a:r>
              <a:rPr lang="vi-VN" sz="1400" b="1" noProof="1">
                <a:solidFill>
                  <a:srgbClr val="FF0000"/>
                </a:solidFill>
                <a:latin typeface="Cambria" panose="02040503050406030204" pitchFamily="18" charset="0"/>
                <a:ea typeface="Cambria" panose="02040503050406030204" pitchFamily="18" charset="0"/>
              </a:rPr>
              <a:t> Mục tiêu: Hình thành 1 nghề Cung cấp và triển khai hệ thống Cơ điện </a:t>
            </a:r>
          </a:p>
        </p:txBody>
      </p:sp>
      <p:pic>
        <p:nvPicPr>
          <p:cNvPr id="39" name="Graphic 44" descr="Lights On with solid fill">
            <a:extLst>
              <a:ext uri="{FF2B5EF4-FFF2-40B4-BE49-F238E27FC236}">
                <a16:creationId xmlns:a16="http://schemas.microsoft.com/office/drawing/2014/main" id="{7D5A4FE3-13F9-6514-16C2-0BB1A2F8D0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8243" y="1639696"/>
            <a:ext cx="685800" cy="685800"/>
          </a:xfrm>
          <a:prstGeom prst="rect">
            <a:avLst/>
          </a:prstGeom>
        </p:spPr>
      </p:pic>
      <p:pic>
        <p:nvPicPr>
          <p:cNvPr id="40" name="Graphic 45" descr="Bullseye with solid fill">
            <a:extLst>
              <a:ext uri="{FF2B5EF4-FFF2-40B4-BE49-F238E27FC236}">
                <a16:creationId xmlns:a16="http://schemas.microsoft.com/office/drawing/2014/main" id="{5386E533-BBEB-9112-A695-468D8A70FFF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326282" y="1639696"/>
            <a:ext cx="685800" cy="685800"/>
          </a:xfrm>
          <a:prstGeom prst="rect">
            <a:avLst/>
          </a:prstGeom>
        </p:spPr>
      </p:pic>
      <p:pic>
        <p:nvPicPr>
          <p:cNvPr id="41" name="Graphic 46" descr="Gears with solid fill">
            <a:extLst>
              <a:ext uri="{FF2B5EF4-FFF2-40B4-BE49-F238E27FC236}">
                <a16:creationId xmlns:a16="http://schemas.microsoft.com/office/drawing/2014/main" id="{EA118B79-C3F6-3EFF-4696-AAA34AEFAAEF}"/>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4958243" y="3001500"/>
            <a:ext cx="685800" cy="685800"/>
          </a:xfrm>
          <a:prstGeom prst="rect">
            <a:avLst/>
          </a:prstGeom>
        </p:spPr>
      </p:pic>
      <p:pic>
        <p:nvPicPr>
          <p:cNvPr id="42" name="Graphic 47" descr="Handshake with solid fill">
            <a:extLst>
              <a:ext uri="{FF2B5EF4-FFF2-40B4-BE49-F238E27FC236}">
                <a16:creationId xmlns:a16="http://schemas.microsoft.com/office/drawing/2014/main" id="{C55710E9-A882-2E03-7162-29A9ABA0C5A5}"/>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326282" y="3001500"/>
            <a:ext cx="685800" cy="685800"/>
          </a:xfrm>
          <a:prstGeom prst="rect">
            <a:avLst/>
          </a:prstGeom>
        </p:spPr>
      </p:pic>
      <p:grpSp>
        <p:nvGrpSpPr>
          <p:cNvPr id="43" name="Group 42">
            <a:extLst>
              <a:ext uri="{FF2B5EF4-FFF2-40B4-BE49-F238E27FC236}">
                <a16:creationId xmlns:a16="http://schemas.microsoft.com/office/drawing/2014/main" id="{10BBA267-200D-0704-39B3-85E5FD29D015}"/>
              </a:ext>
            </a:extLst>
          </p:cNvPr>
          <p:cNvGrpSpPr/>
          <p:nvPr/>
        </p:nvGrpSpPr>
        <p:grpSpPr>
          <a:xfrm flipH="1">
            <a:off x="3598889" y="2493273"/>
            <a:ext cx="2553382" cy="1702255"/>
            <a:chOff x="5869033" y="3373484"/>
            <a:chExt cx="3404509" cy="2269673"/>
          </a:xfrm>
        </p:grpSpPr>
        <p:sp>
          <p:nvSpPr>
            <p:cNvPr id="50" name="Freeform: Shape 17">
              <a:extLst>
                <a:ext uri="{FF2B5EF4-FFF2-40B4-BE49-F238E27FC236}">
                  <a16:creationId xmlns:a16="http://schemas.microsoft.com/office/drawing/2014/main" id="{4790F59A-B5AB-2586-946E-BD0BF23EB0A4}"/>
                </a:ext>
              </a:extLst>
            </p:cNvPr>
            <p:cNvSpPr/>
            <p:nvPr/>
          </p:nvSpPr>
          <p:spPr>
            <a:xfrm>
              <a:off x="5869033" y="3373484"/>
              <a:ext cx="3404509" cy="2269673"/>
            </a:xfrm>
            <a:custGeom>
              <a:avLst/>
              <a:gdLst>
                <a:gd name="connsiteX0" fmla="*/ 1371600 w 4114800"/>
                <a:gd name="connsiteY0" fmla="*/ 548640 h 2743200"/>
                <a:gd name="connsiteX1" fmla="*/ 548640 w 4114800"/>
                <a:gd name="connsiteY1" fmla="*/ 1371600 h 2743200"/>
                <a:gd name="connsiteX2" fmla="*/ 1371600 w 4114800"/>
                <a:gd name="connsiteY2" fmla="*/ 2194560 h 2743200"/>
                <a:gd name="connsiteX3" fmla="*/ 2194560 w 4114800"/>
                <a:gd name="connsiteY3" fmla="*/ 1371600 h 2743200"/>
                <a:gd name="connsiteX4" fmla="*/ 1371600 w 4114800"/>
                <a:gd name="connsiteY4" fmla="*/ 548640 h 2743200"/>
                <a:gd name="connsiteX5" fmla="*/ 1371600 w 4114800"/>
                <a:gd name="connsiteY5" fmla="*/ 0 h 2743200"/>
                <a:gd name="connsiteX6" fmla="*/ 2743200 w 4114800"/>
                <a:gd name="connsiteY6" fmla="*/ 1371600 h 2743200"/>
                <a:gd name="connsiteX7" fmla="*/ 2508953 w 4114800"/>
                <a:gd name="connsiteY7" fmla="*/ 2138475 h 2743200"/>
                <a:gd name="connsiteX8" fmla="*/ 2467013 w 4114800"/>
                <a:gd name="connsiteY8" fmla="*/ 2194560 h 2743200"/>
                <a:gd name="connsiteX9" fmla="*/ 3889468 w 4114800"/>
                <a:gd name="connsiteY9" fmla="*/ 2194560 h 2743200"/>
                <a:gd name="connsiteX10" fmla="*/ 4114800 w 4114800"/>
                <a:gd name="connsiteY10" fmla="*/ 2468880 h 2743200"/>
                <a:gd name="connsiteX11" fmla="*/ 3889468 w 4114800"/>
                <a:gd name="connsiteY11" fmla="*/ 2743200 h 2743200"/>
                <a:gd name="connsiteX12" fmla="*/ 1371600 w 4114800"/>
                <a:gd name="connsiteY12" fmla="*/ 2743200 h 2743200"/>
                <a:gd name="connsiteX13" fmla="*/ 0 w 4114800"/>
                <a:gd name="connsiteY13" fmla="*/ 1371600 h 2743200"/>
                <a:gd name="connsiteX14" fmla="*/ 1371600 w 4114800"/>
                <a:gd name="connsiteY14"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2743200">
                  <a:moveTo>
                    <a:pt x="1371600" y="548640"/>
                  </a:moveTo>
                  <a:cubicBezTo>
                    <a:pt x="917092" y="548640"/>
                    <a:pt x="548640" y="917092"/>
                    <a:pt x="548640" y="1371600"/>
                  </a:cubicBezTo>
                  <a:cubicBezTo>
                    <a:pt x="548640" y="1826108"/>
                    <a:pt x="917092" y="2194560"/>
                    <a:pt x="1371600" y="2194560"/>
                  </a:cubicBezTo>
                  <a:cubicBezTo>
                    <a:pt x="1826108" y="2194560"/>
                    <a:pt x="2194560" y="1826108"/>
                    <a:pt x="2194560" y="1371600"/>
                  </a:cubicBezTo>
                  <a:cubicBezTo>
                    <a:pt x="2194560" y="917092"/>
                    <a:pt x="1826108" y="548640"/>
                    <a:pt x="1371600" y="548640"/>
                  </a:cubicBezTo>
                  <a:close/>
                  <a:moveTo>
                    <a:pt x="1371600" y="0"/>
                  </a:moveTo>
                  <a:cubicBezTo>
                    <a:pt x="2129114" y="0"/>
                    <a:pt x="2743200" y="614086"/>
                    <a:pt x="2743200" y="1371600"/>
                  </a:cubicBezTo>
                  <a:cubicBezTo>
                    <a:pt x="2743200" y="1655668"/>
                    <a:pt x="2656844" y="1919566"/>
                    <a:pt x="2508953" y="2138475"/>
                  </a:cubicBezTo>
                  <a:lnTo>
                    <a:pt x="2467013" y="2194560"/>
                  </a:lnTo>
                  <a:lnTo>
                    <a:pt x="3889468" y="2194560"/>
                  </a:lnTo>
                  <a:lnTo>
                    <a:pt x="4114800" y="2468880"/>
                  </a:lnTo>
                  <a:lnTo>
                    <a:pt x="3889468" y="2743200"/>
                  </a:lnTo>
                  <a:lnTo>
                    <a:pt x="1371600" y="2743200"/>
                  </a:lnTo>
                  <a:cubicBezTo>
                    <a:pt x="614086" y="2743200"/>
                    <a:pt x="0" y="2129114"/>
                    <a:pt x="0" y="1371600"/>
                  </a:cubicBezTo>
                  <a:cubicBezTo>
                    <a:pt x="0" y="614086"/>
                    <a:pt x="614086" y="0"/>
                    <a:pt x="1371600"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56" name="Freeform: Shape 18">
              <a:extLst>
                <a:ext uri="{FF2B5EF4-FFF2-40B4-BE49-F238E27FC236}">
                  <a16:creationId xmlns:a16="http://schemas.microsoft.com/office/drawing/2014/main" id="{BCD8916D-6700-29CB-C955-75B5EFC29EA9}"/>
                </a:ext>
              </a:extLst>
            </p:cNvPr>
            <p:cNvSpPr/>
            <p:nvPr/>
          </p:nvSpPr>
          <p:spPr>
            <a:xfrm>
              <a:off x="7004957" y="4612821"/>
              <a:ext cx="1125843" cy="576402"/>
            </a:xfrm>
            <a:custGeom>
              <a:avLst/>
              <a:gdLst>
                <a:gd name="connsiteX0" fmla="*/ 669281 w 1125843"/>
                <a:gd name="connsiteY0" fmla="*/ 0 h 576402"/>
                <a:gd name="connsiteX1" fmla="*/ 1125843 w 1125843"/>
                <a:gd name="connsiteY1" fmla="*/ 0 h 576402"/>
                <a:gd name="connsiteX2" fmla="*/ 1120673 w 1125843"/>
                <a:gd name="connsiteY2" fmla="*/ 68324 h 576402"/>
                <a:gd name="connsiteX3" fmla="*/ 939937 w 1125843"/>
                <a:gd name="connsiteY3" fmla="*/ 529998 h 576402"/>
                <a:gd name="connsiteX4" fmla="*/ 905237 w 1125843"/>
                <a:gd name="connsiteY4" fmla="*/ 576402 h 576402"/>
                <a:gd name="connsiteX5" fmla="*/ 0 w 1125843"/>
                <a:gd name="connsiteY5" fmla="*/ 576402 h 576402"/>
                <a:gd name="connsiteX6" fmla="*/ 0 w 1125843"/>
                <a:gd name="connsiteY6" fmla="*/ 576293 h 576402"/>
                <a:gd name="connsiteX7" fmla="*/ 136139 w 1125843"/>
                <a:gd name="connsiteY7" fmla="*/ 562569 h 576402"/>
                <a:gd name="connsiteX8" fmla="*/ 136164 w 1125843"/>
                <a:gd name="connsiteY8" fmla="*/ 562561 h 576402"/>
                <a:gd name="connsiteX9" fmla="*/ 233030 w 1125843"/>
                <a:gd name="connsiteY9" fmla="*/ 535085 h 576402"/>
                <a:gd name="connsiteX10" fmla="*/ 251364 w 1125843"/>
                <a:gd name="connsiteY10" fmla="*/ 526801 h 576402"/>
                <a:gd name="connsiteX11" fmla="*/ 263951 w 1125843"/>
                <a:gd name="connsiteY11" fmla="*/ 522894 h 576402"/>
                <a:gd name="connsiteX12" fmla="*/ 283523 w 1125843"/>
                <a:gd name="connsiteY12" fmla="*/ 512271 h 576402"/>
                <a:gd name="connsiteX13" fmla="*/ 323471 w 1125843"/>
                <a:gd name="connsiteY13" fmla="*/ 494221 h 576402"/>
                <a:gd name="connsiteX14" fmla="*/ 360500 w 1125843"/>
                <a:gd name="connsiteY14" fmla="*/ 470489 h 576402"/>
                <a:gd name="connsiteX15" fmla="*/ 379612 w 1125843"/>
                <a:gd name="connsiteY15" fmla="*/ 460115 h 576402"/>
                <a:gd name="connsiteX16" fmla="*/ 389794 w 1125843"/>
                <a:gd name="connsiteY16" fmla="*/ 451714 h 576402"/>
                <a:gd name="connsiteX17" fmla="*/ 406307 w 1125843"/>
                <a:gd name="connsiteY17" fmla="*/ 441131 h 576402"/>
                <a:gd name="connsiteX18" fmla="*/ 480357 w 1125843"/>
                <a:gd name="connsiteY18" fmla="*/ 376993 h 576402"/>
                <a:gd name="connsiteX19" fmla="*/ 480384 w 1125843"/>
                <a:gd name="connsiteY19" fmla="*/ 376971 h 576402"/>
                <a:gd name="connsiteX20" fmla="*/ 480408 w 1125843"/>
                <a:gd name="connsiteY20" fmla="*/ 376942 h 576402"/>
                <a:gd name="connsiteX21" fmla="*/ 544543 w 1125843"/>
                <a:gd name="connsiteY21" fmla="*/ 302895 h 576402"/>
                <a:gd name="connsiteX22" fmla="*/ 555126 w 1125843"/>
                <a:gd name="connsiteY22" fmla="*/ 286382 h 576402"/>
                <a:gd name="connsiteX23" fmla="*/ 563528 w 1125843"/>
                <a:gd name="connsiteY23" fmla="*/ 276199 h 576402"/>
                <a:gd name="connsiteX24" fmla="*/ 573903 w 1125843"/>
                <a:gd name="connsiteY24" fmla="*/ 257085 h 576402"/>
                <a:gd name="connsiteX25" fmla="*/ 597633 w 1125843"/>
                <a:gd name="connsiteY25" fmla="*/ 220058 h 576402"/>
                <a:gd name="connsiteX26" fmla="*/ 615682 w 1125843"/>
                <a:gd name="connsiteY26" fmla="*/ 180112 h 576402"/>
                <a:gd name="connsiteX27" fmla="*/ 626307 w 1125843"/>
                <a:gd name="connsiteY27" fmla="*/ 160538 h 576402"/>
                <a:gd name="connsiteX28" fmla="*/ 630214 w 1125843"/>
                <a:gd name="connsiteY28" fmla="*/ 147949 h 576402"/>
                <a:gd name="connsiteX29" fmla="*/ 638498 w 1125843"/>
                <a:gd name="connsiteY29" fmla="*/ 129617 h 576402"/>
                <a:gd name="connsiteX30" fmla="*/ 665974 w 1125843"/>
                <a:gd name="connsiteY30" fmla="*/ 32750 h 576402"/>
                <a:gd name="connsiteX31" fmla="*/ 665982 w 1125843"/>
                <a:gd name="connsiteY31" fmla="*/ 32726 h 57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25843" h="576402">
                  <a:moveTo>
                    <a:pt x="669281" y="0"/>
                  </a:moveTo>
                  <a:lnTo>
                    <a:pt x="1125843" y="0"/>
                  </a:lnTo>
                  <a:lnTo>
                    <a:pt x="1120673" y="68324"/>
                  </a:lnTo>
                  <a:cubicBezTo>
                    <a:pt x="1094842" y="237378"/>
                    <a:pt x="1031709" y="394157"/>
                    <a:pt x="939937" y="529998"/>
                  </a:cubicBezTo>
                  <a:lnTo>
                    <a:pt x="905237" y="576402"/>
                  </a:lnTo>
                  <a:lnTo>
                    <a:pt x="0" y="576402"/>
                  </a:lnTo>
                  <a:lnTo>
                    <a:pt x="0" y="576293"/>
                  </a:lnTo>
                  <a:lnTo>
                    <a:pt x="136139" y="562569"/>
                  </a:lnTo>
                  <a:lnTo>
                    <a:pt x="136164" y="562561"/>
                  </a:lnTo>
                  <a:lnTo>
                    <a:pt x="233030" y="535085"/>
                  </a:lnTo>
                  <a:lnTo>
                    <a:pt x="251364" y="526801"/>
                  </a:lnTo>
                  <a:lnTo>
                    <a:pt x="263951" y="522894"/>
                  </a:lnTo>
                  <a:lnTo>
                    <a:pt x="283523" y="512271"/>
                  </a:lnTo>
                  <a:lnTo>
                    <a:pt x="323471" y="494221"/>
                  </a:lnTo>
                  <a:lnTo>
                    <a:pt x="360500" y="470489"/>
                  </a:lnTo>
                  <a:lnTo>
                    <a:pt x="379612" y="460115"/>
                  </a:lnTo>
                  <a:lnTo>
                    <a:pt x="389794" y="451714"/>
                  </a:lnTo>
                  <a:lnTo>
                    <a:pt x="406307" y="441131"/>
                  </a:lnTo>
                  <a:lnTo>
                    <a:pt x="480357" y="376993"/>
                  </a:lnTo>
                  <a:lnTo>
                    <a:pt x="480384" y="376971"/>
                  </a:lnTo>
                  <a:lnTo>
                    <a:pt x="480408" y="376942"/>
                  </a:lnTo>
                  <a:lnTo>
                    <a:pt x="544543" y="302895"/>
                  </a:lnTo>
                  <a:lnTo>
                    <a:pt x="555126" y="286382"/>
                  </a:lnTo>
                  <a:lnTo>
                    <a:pt x="563528" y="276199"/>
                  </a:lnTo>
                  <a:lnTo>
                    <a:pt x="573903" y="257085"/>
                  </a:lnTo>
                  <a:lnTo>
                    <a:pt x="597633" y="220058"/>
                  </a:lnTo>
                  <a:lnTo>
                    <a:pt x="615682" y="180112"/>
                  </a:lnTo>
                  <a:lnTo>
                    <a:pt x="626307" y="160538"/>
                  </a:lnTo>
                  <a:lnTo>
                    <a:pt x="630214" y="147949"/>
                  </a:lnTo>
                  <a:lnTo>
                    <a:pt x="638498" y="129617"/>
                  </a:lnTo>
                  <a:lnTo>
                    <a:pt x="665974" y="32750"/>
                  </a:lnTo>
                  <a:lnTo>
                    <a:pt x="665982" y="32726"/>
                  </a:lnTo>
                  <a:close/>
                </a:path>
              </a:pathLst>
            </a:custGeom>
            <a:gradFill flip="none" rotWithShape="1">
              <a:gsLst>
                <a:gs pos="0">
                  <a:schemeClr val="tx1">
                    <a:alpha val="0"/>
                  </a:schemeClr>
                </a:gs>
                <a:gs pos="64000">
                  <a:schemeClr val="tx1">
                    <a:alpha val="20000"/>
                  </a:schemeClr>
                </a:gs>
                <a:gs pos="73000">
                  <a:schemeClr val="tx1">
                    <a:alpha val="30000"/>
                  </a:schemeClr>
                </a:gs>
                <a:gs pos="100000">
                  <a:schemeClr val="tx1">
                    <a:alpha val="5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57" name="Group 56">
            <a:extLst>
              <a:ext uri="{FF2B5EF4-FFF2-40B4-BE49-F238E27FC236}">
                <a16:creationId xmlns:a16="http://schemas.microsoft.com/office/drawing/2014/main" id="{9BBC4FFD-C0F8-EE18-F7DB-DBA67231233D}"/>
              </a:ext>
            </a:extLst>
          </p:cNvPr>
          <p:cNvGrpSpPr/>
          <p:nvPr/>
        </p:nvGrpSpPr>
        <p:grpSpPr>
          <a:xfrm>
            <a:off x="5818055" y="2493272"/>
            <a:ext cx="2553382" cy="1702255"/>
            <a:chOff x="5869033" y="3373484"/>
            <a:chExt cx="3404509" cy="2269673"/>
          </a:xfrm>
        </p:grpSpPr>
        <p:sp>
          <p:nvSpPr>
            <p:cNvPr id="63" name="Freeform: Shape 21">
              <a:extLst>
                <a:ext uri="{FF2B5EF4-FFF2-40B4-BE49-F238E27FC236}">
                  <a16:creationId xmlns:a16="http://schemas.microsoft.com/office/drawing/2014/main" id="{40637095-1BF8-F079-BEB0-250949A9410C}"/>
                </a:ext>
              </a:extLst>
            </p:cNvPr>
            <p:cNvSpPr/>
            <p:nvPr/>
          </p:nvSpPr>
          <p:spPr>
            <a:xfrm>
              <a:off x="5869033" y="3373484"/>
              <a:ext cx="3404509" cy="2269673"/>
            </a:xfrm>
            <a:custGeom>
              <a:avLst/>
              <a:gdLst>
                <a:gd name="connsiteX0" fmla="*/ 1371600 w 4114800"/>
                <a:gd name="connsiteY0" fmla="*/ 548640 h 2743200"/>
                <a:gd name="connsiteX1" fmla="*/ 548640 w 4114800"/>
                <a:gd name="connsiteY1" fmla="*/ 1371600 h 2743200"/>
                <a:gd name="connsiteX2" fmla="*/ 1371600 w 4114800"/>
                <a:gd name="connsiteY2" fmla="*/ 2194560 h 2743200"/>
                <a:gd name="connsiteX3" fmla="*/ 2194560 w 4114800"/>
                <a:gd name="connsiteY3" fmla="*/ 1371600 h 2743200"/>
                <a:gd name="connsiteX4" fmla="*/ 1371600 w 4114800"/>
                <a:gd name="connsiteY4" fmla="*/ 548640 h 2743200"/>
                <a:gd name="connsiteX5" fmla="*/ 1371600 w 4114800"/>
                <a:gd name="connsiteY5" fmla="*/ 0 h 2743200"/>
                <a:gd name="connsiteX6" fmla="*/ 2743200 w 4114800"/>
                <a:gd name="connsiteY6" fmla="*/ 1371600 h 2743200"/>
                <a:gd name="connsiteX7" fmla="*/ 2508953 w 4114800"/>
                <a:gd name="connsiteY7" fmla="*/ 2138475 h 2743200"/>
                <a:gd name="connsiteX8" fmla="*/ 2467013 w 4114800"/>
                <a:gd name="connsiteY8" fmla="*/ 2194560 h 2743200"/>
                <a:gd name="connsiteX9" fmla="*/ 3889468 w 4114800"/>
                <a:gd name="connsiteY9" fmla="*/ 2194560 h 2743200"/>
                <a:gd name="connsiteX10" fmla="*/ 4114800 w 4114800"/>
                <a:gd name="connsiteY10" fmla="*/ 2468880 h 2743200"/>
                <a:gd name="connsiteX11" fmla="*/ 3889468 w 4114800"/>
                <a:gd name="connsiteY11" fmla="*/ 2743200 h 2743200"/>
                <a:gd name="connsiteX12" fmla="*/ 1371600 w 4114800"/>
                <a:gd name="connsiteY12" fmla="*/ 2743200 h 2743200"/>
                <a:gd name="connsiteX13" fmla="*/ 0 w 4114800"/>
                <a:gd name="connsiteY13" fmla="*/ 1371600 h 2743200"/>
                <a:gd name="connsiteX14" fmla="*/ 1371600 w 4114800"/>
                <a:gd name="connsiteY14"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2743200">
                  <a:moveTo>
                    <a:pt x="1371600" y="548640"/>
                  </a:moveTo>
                  <a:cubicBezTo>
                    <a:pt x="917092" y="548640"/>
                    <a:pt x="548640" y="917092"/>
                    <a:pt x="548640" y="1371600"/>
                  </a:cubicBezTo>
                  <a:cubicBezTo>
                    <a:pt x="548640" y="1826108"/>
                    <a:pt x="917092" y="2194560"/>
                    <a:pt x="1371600" y="2194560"/>
                  </a:cubicBezTo>
                  <a:cubicBezTo>
                    <a:pt x="1826108" y="2194560"/>
                    <a:pt x="2194560" y="1826108"/>
                    <a:pt x="2194560" y="1371600"/>
                  </a:cubicBezTo>
                  <a:cubicBezTo>
                    <a:pt x="2194560" y="917092"/>
                    <a:pt x="1826108" y="548640"/>
                    <a:pt x="1371600" y="548640"/>
                  </a:cubicBezTo>
                  <a:close/>
                  <a:moveTo>
                    <a:pt x="1371600" y="0"/>
                  </a:moveTo>
                  <a:cubicBezTo>
                    <a:pt x="2129114" y="0"/>
                    <a:pt x="2743200" y="614086"/>
                    <a:pt x="2743200" y="1371600"/>
                  </a:cubicBezTo>
                  <a:cubicBezTo>
                    <a:pt x="2743200" y="1655668"/>
                    <a:pt x="2656844" y="1919566"/>
                    <a:pt x="2508953" y="2138475"/>
                  </a:cubicBezTo>
                  <a:lnTo>
                    <a:pt x="2467013" y="2194560"/>
                  </a:lnTo>
                  <a:lnTo>
                    <a:pt x="3889468" y="2194560"/>
                  </a:lnTo>
                  <a:lnTo>
                    <a:pt x="4114800" y="2468880"/>
                  </a:lnTo>
                  <a:lnTo>
                    <a:pt x="3889468" y="2743200"/>
                  </a:lnTo>
                  <a:lnTo>
                    <a:pt x="1371600" y="2743200"/>
                  </a:lnTo>
                  <a:cubicBezTo>
                    <a:pt x="614086" y="2743200"/>
                    <a:pt x="0" y="2129114"/>
                    <a:pt x="0" y="1371600"/>
                  </a:cubicBezTo>
                  <a:cubicBezTo>
                    <a:pt x="0" y="614086"/>
                    <a:pt x="614086" y="0"/>
                    <a:pt x="137160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64" name="Freeform: Shape 22">
              <a:extLst>
                <a:ext uri="{FF2B5EF4-FFF2-40B4-BE49-F238E27FC236}">
                  <a16:creationId xmlns:a16="http://schemas.microsoft.com/office/drawing/2014/main" id="{5A61A661-ED7F-4E5B-7FAE-428C22D6F572}"/>
                </a:ext>
              </a:extLst>
            </p:cNvPr>
            <p:cNvSpPr/>
            <p:nvPr/>
          </p:nvSpPr>
          <p:spPr>
            <a:xfrm>
              <a:off x="7004957" y="4612821"/>
              <a:ext cx="1125843" cy="576402"/>
            </a:xfrm>
            <a:custGeom>
              <a:avLst/>
              <a:gdLst>
                <a:gd name="connsiteX0" fmla="*/ 669281 w 1125843"/>
                <a:gd name="connsiteY0" fmla="*/ 0 h 576402"/>
                <a:gd name="connsiteX1" fmla="*/ 1125843 w 1125843"/>
                <a:gd name="connsiteY1" fmla="*/ 0 h 576402"/>
                <a:gd name="connsiteX2" fmla="*/ 1120673 w 1125843"/>
                <a:gd name="connsiteY2" fmla="*/ 68324 h 576402"/>
                <a:gd name="connsiteX3" fmla="*/ 939937 w 1125843"/>
                <a:gd name="connsiteY3" fmla="*/ 529998 h 576402"/>
                <a:gd name="connsiteX4" fmla="*/ 905237 w 1125843"/>
                <a:gd name="connsiteY4" fmla="*/ 576402 h 576402"/>
                <a:gd name="connsiteX5" fmla="*/ 0 w 1125843"/>
                <a:gd name="connsiteY5" fmla="*/ 576402 h 576402"/>
                <a:gd name="connsiteX6" fmla="*/ 0 w 1125843"/>
                <a:gd name="connsiteY6" fmla="*/ 576293 h 576402"/>
                <a:gd name="connsiteX7" fmla="*/ 136139 w 1125843"/>
                <a:gd name="connsiteY7" fmla="*/ 562569 h 576402"/>
                <a:gd name="connsiteX8" fmla="*/ 136164 w 1125843"/>
                <a:gd name="connsiteY8" fmla="*/ 562561 h 576402"/>
                <a:gd name="connsiteX9" fmla="*/ 233030 w 1125843"/>
                <a:gd name="connsiteY9" fmla="*/ 535085 h 576402"/>
                <a:gd name="connsiteX10" fmla="*/ 251364 w 1125843"/>
                <a:gd name="connsiteY10" fmla="*/ 526801 h 576402"/>
                <a:gd name="connsiteX11" fmla="*/ 263951 w 1125843"/>
                <a:gd name="connsiteY11" fmla="*/ 522894 h 576402"/>
                <a:gd name="connsiteX12" fmla="*/ 283523 w 1125843"/>
                <a:gd name="connsiteY12" fmla="*/ 512271 h 576402"/>
                <a:gd name="connsiteX13" fmla="*/ 323471 w 1125843"/>
                <a:gd name="connsiteY13" fmla="*/ 494221 h 576402"/>
                <a:gd name="connsiteX14" fmla="*/ 360500 w 1125843"/>
                <a:gd name="connsiteY14" fmla="*/ 470489 h 576402"/>
                <a:gd name="connsiteX15" fmla="*/ 379612 w 1125843"/>
                <a:gd name="connsiteY15" fmla="*/ 460115 h 576402"/>
                <a:gd name="connsiteX16" fmla="*/ 389794 w 1125843"/>
                <a:gd name="connsiteY16" fmla="*/ 451714 h 576402"/>
                <a:gd name="connsiteX17" fmla="*/ 406307 w 1125843"/>
                <a:gd name="connsiteY17" fmla="*/ 441131 h 576402"/>
                <a:gd name="connsiteX18" fmla="*/ 480357 w 1125843"/>
                <a:gd name="connsiteY18" fmla="*/ 376993 h 576402"/>
                <a:gd name="connsiteX19" fmla="*/ 480384 w 1125843"/>
                <a:gd name="connsiteY19" fmla="*/ 376971 h 576402"/>
                <a:gd name="connsiteX20" fmla="*/ 480408 w 1125843"/>
                <a:gd name="connsiteY20" fmla="*/ 376942 h 576402"/>
                <a:gd name="connsiteX21" fmla="*/ 544543 w 1125843"/>
                <a:gd name="connsiteY21" fmla="*/ 302895 h 576402"/>
                <a:gd name="connsiteX22" fmla="*/ 555126 w 1125843"/>
                <a:gd name="connsiteY22" fmla="*/ 286382 h 576402"/>
                <a:gd name="connsiteX23" fmla="*/ 563528 w 1125843"/>
                <a:gd name="connsiteY23" fmla="*/ 276199 h 576402"/>
                <a:gd name="connsiteX24" fmla="*/ 573903 w 1125843"/>
                <a:gd name="connsiteY24" fmla="*/ 257085 h 576402"/>
                <a:gd name="connsiteX25" fmla="*/ 597633 w 1125843"/>
                <a:gd name="connsiteY25" fmla="*/ 220058 h 576402"/>
                <a:gd name="connsiteX26" fmla="*/ 615682 w 1125843"/>
                <a:gd name="connsiteY26" fmla="*/ 180112 h 576402"/>
                <a:gd name="connsiteX27" fmla="*/ 626307 w 1125843"/>
                <a:gd name="connsiteY27" fmla="*/ 160538 h 576402"/>
                <a:gd name="connsiteX28" fmla="*/ 630214 w 1125843"/>
                <a:gd name="connsiteY28" fmla="*/ 147949 h 576402"/>
                <a:gd name="connsiteX29" fmla="*/ 638498 w 1125843"/>
                <a:gd name="connsiteY29" fmla="*/ 129617 h 576402"/>
                <a:gd name="connsiteX30" fmla="*/ 665974 w 1125843"/>
                <a:gd name="connsiteY30" fmla="*/ 32750 h 576402"/>
                <a:gd name="connsiteX31" fmla="*/ 665982 w 1125843"/>
                <a:gd name="connsiteY31" fmla="*/ 32726 h 57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25843" h="576402">
                  <a:moveTo>
                    <a:pt x="669281" y="0"/>
                  </a:moveTo>
                  <a:lnTo>
                    <a:pt x="1125843" y="0"/>
                  </a:lnTo>
                  <a:lnTo>
                    <a:pt x="1120673" y="68324"/>
                  </a:lnTo>
                  <a:cubicBezTo>
                    <a:pt x="1094842" y="237378"/>
                    <a:pt x="1031709" y="394157"/>
                    <a:pt x="939937" y="529998"/>
                  </a:cubicBezTo>
                  <a:lnTo>
                    <a:pt x="905237" y="576402"/>
                  </a:lnTo>
                  <a:lnTo>
                    <a:pt x="0" y="576402"/>
                  </a:lnTo>
                  <a:lnTo>
                    <a:pt x="0" y="576293"/>
                  </a:lnTo>
                  <a:lnTo>
                    <a:pt x="136139" y="562569"/>
                  </a:lnTo>
                  <a:lnTo>
                    <a:pt x="136164" y="562561"/>
                  </a:lnTo>
                  <a:lnTo>
                    <a:pt x="233030" y="535085"/>
                  </a:lnTo>
                  <a:lnTo>
                    <a:pt x="251364" y="526801"/>
                  </a:lnTo>
                  <a:lnTo>
                    <a:pt x="263951" y="522894"/>
                  </a:lnTo>
                  <a:lnTo>
                    <a:pt x="283523" y="512271"/>
                  </a:lnTo>
                  <a:lnTo>
                    <a:pt x="323471" y="494221"/>
                  </a:lnTo>
                  <a:lnTo>
                    <a:pt x="360500" y="470489"/>
                  </a:lnTo>
                  <a:lnTo>
                    <a:pt x="379612" y="460115"/>
                  </a:lnTo>
                  <a:lnTo>
                    <a:pt x="389794" y="451714"/>
                  </a:lnTo>
                  <a:lnTo>
                    <a:pt x="406307" y="441131"/>
                  </a:lnTo>
                  <a:lnTo>
                    <a:pt x="480357" y="376993"/>
                  </a:lnTo>
                  <a:lnTo>
                    <a:pt x="480384" y="376971"/>
                  </a:lnTo>
                  <a:lnTo>
                    <a:pt x="480408" y="376942"/>
                  </a:lnTo>
                  <a:lnTo>
                    <a:pt x="544543" y="302895"/>
                  </a:lnTo>
                  <a:lnTo>
                    <a:pt x="555126" y="286382"/>
                  </a:lnTo>
                  <a:lnTo>
                    <a:pt x="563528" y="276199"/>
                  </a:lnTo>
                  <a:lnTo>
                    <a:pt x="573903" y="257085"/>
                  </a:lnTo>
                  <a:lnTo>
                    <a:pt x="597633" y="220058"/>
                  </a:lnTo>
                  <a:lnTo>
                    <a:pt x="615682" y="180112"/>
                  </a:lnTo>
                  <a:lnTo>
                    <a:pt x="626307" y="160538"/>
                  </a:lnTo>
                  <a:lnTo>
                    <a:pt x="630214" y="147949"/>
                  </a:lnTo>
                  <a:lnTo>
                    <a:pt x="638498" y="129617"/>
                  </a:lnTo>
                  <a:lnTo>
                    <a:pt x="665974" y="32750"/>
                  </a:lnTo>
                  <a:lnTo>
                    <a:pt x="665982" y="32726"/>
                  </a:lnTo>
                  <a:close/>
                </a:path>
              </a:pathLst>
            </a:custGeom>
            <a:gradFill flip="none" rotWithShape="1">
              <a:gsLst>
                <a:gs pos="0">
                  <a:schemeClr val="tx1">
                    <a:alpha val="0"/>
                  </a:schemeClr>
                </a:gs>
                <a:gs pos="64000">
                  <a:schemeClr val="tx1">
                    <a:alpha val="20000"/>
                  </a:schemeClr>
                </a:gs>
                <a:gs pos="73000">
                  <a:schemeClr val="tx1">
                    <a:alpha val="30000"/>
                  </a:schemeClr>
                </a:gs>
                <a:gs pos="100000">
                  <a:schemeClr val="tx1">
                    <a:alpha val="5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70" name="Group 69">
            <a:extLst>
              <a:ext uri="{FF2B5EF4-FFF2-40B4-BE49-F238E27FC236}">
                <a16:creationId xmlns:a16="http://schemas.microsoft.com/office/drawing/2014/main" id="{467792EB-AF2E-8FA8-EAD9-467D7D0D9CCE}"/>
              </a:ext>
            </a:extLst>
          </p:cNvPr>
          <p:cNvGrpSpPr/>
          <p:nvPr/>
        </p:nvGrpSpPr>
        <p:grpSpPr>
          <a:xfrm rot="10800000" flipH="1">
            <a:off x="5818055" y="1131469"/>
            <a:ext cx="2553382" cy="1702255"/>
            <a:chOff x="5869033" y="3373484"/>
            <a:chExt cx="3404509" cy="2269673"/>
          </a:xfrm>
        </p:grpSpPr>
        <p:sp>
          <p:nvSpPr>
            <p:cNvPr id="71" name="Freeform: Shape 9">
              <a:extLst>
                <a:ext uri="{FF2B5EF4-FFF2-40B4-BE49-F238E27FC236}">
                  <a16:creationId xmlns:a16="http://schemas.microsoft.com/office/drawing/2014/main" id="{C0E46D0E-7C5C-71BA-8826-BD6295AF564D}"/>
                </a:ext>
              </a:extLst>
            </p:cNvPr>
            <p:cNvSpPr/>
            <p:nvPr/>
          </p:nvSpPr>
          <p:spPr>
            <a:xfrm>
              <a:off x="5869033" y="3373484"/>
              <a:ext cx="3404509" cy="2269673"/>
            </a:xfrm>
            <a:custGeom>
              <a:avLst/>
              <a:gdLst>
                <a:gd name="connsiteX0" fmla="*/ 1371600 w 4114800"/>
                <a:gd name="connsiteY0" fmla="*/ 548640 h 2743200"/>
                <a:gd name="connsiteX1" fmla="*/ 548640 w 4114800"/>
                <a:gd name="connsiteY1" fmla="*/ 1371600 h 2743200"/>
                <a:gd name="connsiteX2" fmla="*/ 1371600 w 4114800"/>
                <a:gd name="connsiteY2" fmla="*/ 2194560 h 2743200"/>
                <a:gd name="connsiteX3" fmla="*/ 2194560 w 4114800"/>
                <a:gd name="connsiteY3" fmla="*/ 1371600 h 2743200"/>
                <a:gd name="connsiteX4" fmla="*/ 1371600 w 4114800"/>
                <a:gd name="connsiteY4" fmla="*/ 548640 h 2743200"/>
                <a:gd name="connsiteX5" fmla="*/ 1371600 w 4114800"/>
                <a:gd name="connsiteY5" fmla="*/ 0 h 2743200"/>
                <a:gd name="connsiteX6" fmla="*/ 2743200 w 4114800"/>
                <a:gd name="connsiteY6" fmla="*/ 1371600 h 2743200"/>
                <a:gd name="connsiteX7" fmla="*/ 2508953 w 4114800"/>
                <a:gd name="connsiteY7" fmla="*/ 2138475 h 2743200"/>
                <a:gd name="connsiteX8" fmla="*/ 2467013 w 4114800"/>
                <a:gd name="connsiteY8" fmla="*/ 2194560 h 2743200"/>
                <a:gd name="connsiteX9" fmla="*/ 3889468 w 4114800"/>
                <a:gd name="connsiteY9" fmla="*/ 2194560 h 2743200"/>
                <a:gd name="connsiteX10" fmla="*/ 4114800 w 4114800"/>
                <a:gd name="connsiteY10" fmla="*/ 2468880 h 2743200"/>
                <a:gd name="connsiteX11" fmla="*/ 3889468 w 4114800"/>
                <a:gd name="connsiteY11" fmla="*/ 2743200 h 2743200"/>
                <a:gd name="connsiteX12" fmla="*/ 1371600 w 4114800"/>
                <a:gd name="connsiteY12" fmla="*/ 2743200 h 2743200"/>
                <a:gd name="connsiteX13" fmla="*/ 0 w 4114800"/>
                <a:gd name="connsiteY13" fmla="*/ 1371600 h 2743200"/>
                <a:gd name="connsiteX14" fmla="*/ 1371600 w 4114800"/>
                <a:gd name="connsiteY14"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2743200">
                  <a:moveTo>
                    <a:pt x="1371600" y="548640"/>
                  </a:moveTo>
                  <a:cubicBezTo>
                    <a:pt x="917092" y="548640"/>
                    <a:pt x="548640" y="917092"/>
                    <a:pt x="548640" y="1371600"/>
                  </a:cubicBezTo>
                  <a:cubicBezTo>
                    <a:pt x="548640" y="1826108"/>
                    <a:pt x="917092" y="2194560"/>
                    <a:pt x="1371600" y="2194560"/>
                  </a:cubicBezTo>
                  <a:cubicBezTo>
                    <a:pt x="1826108" y="2194560"/>
                    <a:pt x="2194560" y="1826108"/>
                    <a:pt x="2194560" y="1371600"/>
                  </a:cubicBezTo>
                  <a:cubicBezTo>
                    <a:pt x="2194560" y="917092"/>
                    <a:pt x="1826108" y="548640"/>
                    <a:pt x="1371600" y="548640"/>
                  </a:cubicBezTo>
                  <a:close/>
                  <a:moveTo>
                    <a:pt x="1371600" y="0"/>
                  </a:moveTo>
                  <a:cubicBezTo>
                    <a:pt x="2129114" y="0"/>
                    <a:pt x="2743200" y="614086"/>
                    <a:pt x="2743200" y="1371600"/>
                  </a:cubicBezTo>
                  <a:cubicBezTo>
                    <a:pt x="2743200" y="1655668"/>
                    <a:pt x="2656844" y="1919566"/>
                    <a:pt x="2508953" y="2138475"/>
                  </a:cubicBezTo>
                  <a:lnTo>
                    <a:pt x="2467013" y="2194560"/>
                  </a:lnTo>
                  <a:lnTo>
                    <a:pt x="3889468" y="2194560"/>
                  </a:lnTo>
                  <a:lnTo>
                    <a:pt x="4114800" y="2468880"/>
                  </a:lnTo>
                  <a:lnTo>
                    <a:pt x="3889468" y="2743200"/>
                  </a:lnTo>
                  <a:lnTo>
                    <a:pt x="1371600" y="2743200"/>
                  </a:lnTo>
                  <a:cubicBezTo>
                    <a:pt x="614086" y="2743200"/>
                    <a:pt x="0" y="2129114"/>
                    <a:pt x="0" y="1371600"/>
                  </a:cubicBezTo>
                  <a:cubicBezTo>
                    <a:pt x="0" y="614086"/>
                    <a:pt x="614086" y="0"/>
                    <a:pt x="1371600"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78" name="Freeform: Shape 10">
              <a:extLst>
                <a:ext uri="{FF2B5EF4-FFF2-40B4-BE49-F238E27FC236}">
                  <a16:creationId xmlns:a16="http://schemas.microsoft.com/office/drawing/2014/main" id="{064C44A3-E5AB-496C-68DE-6D2B41E904AF}"/>
                </a:ext>
              </a:extLst>
            </p:cNvPr>
            <p:cNvSpPr/>
            <p:nvPr/>
          </p:nvSpPr>
          <p:spPr>
            <a:xfrm>
              <a:off x="7004957" y="4612821"/>
              <a:ext cx="1125843" cy="576402"/>
            </a:xfrm>
            <a:custGeom>
              <a:avLst/>
              <a:gdLst>
                <a:gd name="connsiteX0" fmla="*/ 669281 w 1125843"/>
                <a:gd name="connsiteY0" fmla="*/ 0 h 576402"/>
                <a:gd name="connsiteX1" fmla="*/ 1125843 w 1125843"/>
                <a:gd name="connsiteY1" fmla="*/ 0 h 576402"/>
                <a:gd name="connsiteX2" fmla="*/ 1120673 w 1125843"/>
                <a:gd name="connsiteY2" fmla="*/ 68324 h 576402"/>
                <a:gd name="connsiteX3" fmla="*/ 939937 w 1125843"/>
                <a:gd name="connsiteY3" fmla="*/ 529998 h 576402"/>
                <a:gd name="connsiteX4" fmla="*/ 905237 w 1125843"/>
                <a:gd name="connsiteY4" fmla="*/ 576402 h 576402"/>
                <a:gd name="connsiteX5" fmla="*/ 0 w 1125843"/>
                <a:gd name="connsiteY5" fmla="*/ 576402 h 576402"/>
                <a:gd name="connsiteX6" fmla="*/ 0 w 1125843"/>
                <a:gd name="connsiteY6" fmla="*/ 576293 h 576402"/>
                <a:gd name="connsiteX7" fmla="*/ 136139 w 1125843"/>
                <a:gd name="connsiteY7" fmla="*/ 562569 h 576402"/>
                <a:gd name="connsiteX8" fmla="*/ 136164 w 1125843"/>
                <a:gd name="connsiteY8" fmla="*/ 562561 h 576402"/>
                <a:gd name="connsiteX9" fmla="*/ 233030 w 1125843"/>
                <a:gd name="connsiteY9" fmla="*/ 535085 h 576402"/>
                <a:gd name="connsiteX10" fmla="*/ 251364 w 1125843"/>
                <a:gd name="connsiteY10" fmla="*/ 526801 h 576402"/>
                <a:gd name="connsiteX11" fmla="*/ 263951 w 1125843"/>
                <a:gd name="connsiteY11" fmla="*/ 522894 h 576402"/>
                <a:gd name="connsiteX12" fmla="*/ 283523 w 1125843"/>
                <a:gd name="connsiteY12" fmla="*/ 512271 h 576402"/>
                <a:gd name="connsiteX13" fmla="*/ 323471 w 1125843"/>
                <a:gd name="connsiteY13" fmla="*/ 494221 h 576402"/>
                <a:gd name="connsiteX14" fmla="*/ 360500 w 1125843"/>
                <a:gd name="connsiteY14" fmla="*/ 470489 h 576402"/>
                <a:gd name="connsiteX15" fmla="*/ 379612 w 1125843"/>
                <a:gd name="connsiteY15" fmla="*/ 460115 h 576402"/>
                <a:gd name="connsiteX16" fmla="*/ 389794 w 1125843"/>
                <a:gd name="connsiteY16" fmla="*/ 451714 h 576402"/>
                <a:gd name="connsiteX17" fmla="*/ 406307 w 1125843"/>
                <a:gd name="connsiteY17" fmla="*/ 441131 h 576402"/>
                <a:gd name="connsiteX18" fmla="*/ 480357 w 1125843"/>
                <a:gd name="connsiteY18" fmla="*/ 376993 h 576402"/>
                <a:gd name="connsiteX19" fmla="*/ 480384 w 1125843"/>
                <a:gd name="connsiteY19" fmla="*/ 376971 h 576402"/>
                <a:gd name="connsiteX20" fmla="*/ 480408 w 1125843"/>
                <a:gd name="connsiteY20" fmla="*/ 376942 h 576402"/>
                <a:gd name="connsiteX21" fmla="*/ 544543 w 1125843"/>
                <a:gd name="connsiteY21" fmla="*/ 302895 h 576402"/>
                <a:gd name="connsiteX22" fmla="*/ 555126 w 1125843"/>
                <a:gd name="connsiteY22" fmla="*/ 286382 h 576402"/>
                <a:gd name="connsiteX23" fmla="*/ 563528 w 1125843"/>
                <a:gd name="connsiteY23" fmla="*/ 276199 h 576402"/>
                <a:gd name="connsiteX24" fmla="*/ 573903 w 1125843"/>
                <a:gd name="connsiteY24" fmla="*/ 257085 h 576402"/>
                <a:gd name="connsiteX25" fmla="*/ 597633 w 1125843"/>
                <a:gd name="connsiteY25" fmla="*/ 220058 h 576402"/>
                <a:gd name="connsiteX26" fmla="*/ 615682 w 1125843"/>
                <a:gd name="connsiteY26" fmla="*/ 180112 h 576402"/>
                <a:gd name="connsiteX27" fmla="*/ 626307 w 1125843"/>
                <a:gd name="connsiteY27" fmla="*/ 160538 h 576402"/>
                <a:gd name="connsiteX28" fmla="*/ 630214 w 1125843"/>
                <a:gd name="connsiteY28" fmla="*/ 147949 h 576402"/>
                <a:gd name="connsiteX29" fmla="*/ 638498 w 1125843"/>
                <a:gd name="connsiteY29" fmla="*/ 129617 h 576402"/>
                <a:gd name="connsiteX30" fmla="*/ 665974 w 1125843"/>
                <a:gd name="connsiteY30" fmla="*/ 32750 h 576402"/>
                <a:gd name="connsiteX31" fmla="*/ 665982 w 1125843"/>
                <a:gd name="connsiteY31" fmla="*/ 32726 h 57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25843" h="576402">
                  <a:moveTo>
                    <a:pt x="669281" y="0"/>
                  </a:moveTo>
                  <a:lnTo>
                    <a:pt x="1125843" y="0"/>
                  </a:lnTo>
                  <a:lnTo>
                    <a:pt x="1120673" y="68324"/>
                  </a:lnTo>
                  <a:cubicBezTo>
                    <a:pt x="1094842" y="237378"/>
                    <a:pt x="1031709" y="394157"/>
                    <a:pt x="939937" y="529998"/>
                  </a:cubicBezTo>
                  <a:lnTo>
                    <a:pt x="905237" y="576402"/>
                  </a:lnTo>
                  <a:lnTo>
                    <a:pt x="0" y="576402"/>
                  </a:lnTo>
                  <a:lnTo>
                    <a:pt x="0" y="576293"/>
                  </a:lnTo>
                  <a:lnTo>
                    <a:pt x="136139" y="562569"/>
                  </a:lnTo>
                  <a:lnTo>
                    <a:pt x="136164" y="562561"/>
                  </a:lnTo>
                  <a:lnTo>
                    <a:pt x="233030" y="535085"/>
                  </a:lnTo>
                  <a:lnTo>
                    <a:pt x="251364" y="526801"/>
                  </a:lnTo>
                  <a:lnTo>
                    <a:pt x="263951" y="522894"/>
                  </a:lnTo>
                  <a:lnTo>
                    <a:pt x="283523" y="512271"/>
                  </a:lnTo>
                  <a:lnTo>
                    <a:pt x="323471" y="494221"/>
                  </a:lnTo>
                  <a:lnTo>
                    <a:pt x="360500" y="470489"/>
                  </a:lnTo>
                  <a:lnTo>
                    <a:pt x="379612" y="460115"/>
                  </a:lnTo>
                  <a:lnTo>
                    <a:pt x="389794" y="451714"/>
                  </a:lnTo>
                  <a:lnTo>
                    <a:pt x="406307" y="441131"/>
                  </a:lnTo>
                  <a:lnTo>
                    <a:pt x="480357" y="376993"/>
                  </a:lnTo>
                  <a:lnTo>
                    <a:pt x="480384" y="376971"/>
                  </a:lnTo>
                  <a:lnTo>
                    <a:pt x="480408" y="376942"/>
                  </a:lnTo>
                  <a:lnTo>
                    <a:pt x="544543" y="302895"/>
                  </a:lnTo>
                  <a:lnTo>
                    <a:pt x="555126" y="286382"/>
                  </a:lnTo>
                  <a:lnTo>
                    <a:pt x="563528" y="276199"/>
                  </a:lnTo>
                  <a:lnTo>
                    <a:pt x="573903" y="257085"/>
                  </a:lnTo>
                  <a:lnTo>
                    <a:pt x="597633" y="220058"/>
                  </a:lnTo>
                  <a:lnTo>
                    <a:pt x="615682" y="180112"/>
                  </a:lnTo>
                  <a:lnTo>
                    <a:pt x="626307" y="160538"/>
                  </a:lnTo>
                  <a:lnTo>
                    <a:pt x="630214" y="147949"/>
                  </a:lnTo>
                  <a:lnTo>
                    <a:pt x="638498" y="129617"/>
                  </a:lnTo>
                  <a:lnTo>
                    <a:pt x="665974" y="32750"/>
                  </a:lnTo>
                  <a:lnTo>
                    <a:pt x="665982" y="32726"/>
                  </a:lnTo>
                  <a:close/>
                </a:path>
              </a:pathLst>
            </a:custGeom>
            <a:gradFill flip="none" rotWithShape="1">
              <a:gsLst>
                <a:gs pos="0">
                  <a:schemeClr val="tx1">
                    <a:alpha val="0"/>
                  </a:schemeClr>
                </a:gs>
                <a:gs pos="64000">
                  <a:schemeClr val="tx1">
                    <a:alpha val="20000"/>
                  </a:schemeClr>
                </a:gs>
                <a:gs pos="73000">
                  <a:schemeClr val="tx1">
                    <a:alpha val="30000"/>
                  </a:schemeClr>
                </a:gs>
                <a:gs pos="100000">
                  <a:schemeClr val="tx1">
                    <a:alpha val="5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79" name="Group 78">
            <a:extLst>
              <a:ext uri="{FF2B5EF4-FFF2-40B4-BE49-F238E27FC236}">
                <a16:creationId xmlns:a16="http://schemas.microsoft.com/office/drawing/2014/main" id="{35B954DE-E3DF-F395-A8D4-CB909A24412B}"/>
              </a:ext>
            </a:extLst>
          </p:cNvPr>
          <p:cNvGrpSpPr/>
          <p:nvPr/>
        </p:nvGrpSpPr>
        <p:grpSpPr>
          <a:xfrm rot="10800000">
            <a:off x="3598889" y="1131469"/>
            <a:ext cx="2553382" cy="1702255"/>
            <a:chOff x="5869033" y="3373484"/>
            <a:chExt cx="3404509" cy="2269673"/>
          </a:xfrm>
        </p:grpSpPr>
        <p:sp>
          <p:nvSpPr>
            <p:cNvPr id="80" name="Freeform: Shape 13">
              <a:extLst>
                <a:ext uri="{FF2B5EF4-FFF2-40B4-BE49-F238E27FC236}">
                  <a16:creationId xmlns:a16="http://schemas.microsoft.com/office/drawing/2014/main" id="{02C3C382-A625-CB42-FEE6-6C36F4746270}"/>
                </a:ext>
              </a:extLst>
            </p:cNvPr>
            <p:cNvSpPr/>
            <p:nvPr/>
          </p:nvSpPr>
          <p:spPr>
            <a:xfrm>
              <a:off x="5869033" y="3373484"/>
              <a:ext cx="3404509" cy="2269673"/>
            </a:xfrm>
            <a:custGeom>
              <a:avLst/>
              <a:gdLst>
                <a:gd name="connsiteX0" fmla="*/ 1371600 w 4114800"/>
                <a:gd name="connsiteY0" fmla="*/ 548640 h 2743200"/>
                <a:gd name="connsiteX1" fmla="*/ 548640 w 4114800"/>
                <a:gd name="connsiteY1" fmla="*/ 1371600 h 2743200"/>
                <a:gd name="connsiteX2" fmla="*/ 1371600 w 4114800"/>
                <a:gd name="connsiteY2" fmla="*/ 2194560 h 2743200"/>
                <a:gd name="connsiteX3" fmla="*/ 2194560 w 4114800"/>
                <a:gd name="connsiteY3" fmla="*/ 1371600 h 2743200"/>
                <a:gd name="connsiteX4" fmla="*/ 1371600 w 4114800"/>
                <a:gd name="connsiteY4" fmla="*/ 548640 h 2743200"/>
                <a:gd name="connsiteX5" fmla="*/ 1371600 w 4114800"/>
                <a:gd name="connsiteY5" fmla="*/ 0 h 2743200"/>
                <a:gd name="connsiteX6" fmla="*/ 2743200 w 4114800"/>
                <a:gd name="connsiteY6" fmla="*/ 1371600 h 2743200"/>
                <a:gd name="connsiteX7" fmla="*/ 2508953 w 4114800"/>
                <a:gd name="connsiteY7" fmla="*/ 2138475 h 2743200"/>
                <a:gd name="connsiteX8" fmla="*/ 2467013 w 4114800"/>
                <a:gd name="connsiteY8" fmla="*/ 2194560 h 2743200"/>
                <a:gd name="connsiteX9" fmla="*/ 3889468 w 4114800"/>
                <a:gd name="connsiteY9" fmla="*/ 2194560 h 2743200"/>
                <a:gd name="connsiteX10" fmla="*/ 4114800 w 4114800"/>
                <a:gd name="connsiteY10" fmla="*/ 2468880 h 2743200"/>
                <a:gd name="connsiteX11" fmla="*/ 3889468 w 4114800"/>
                <a:gd name="connsiteY11" fmla="*/ 2743200 h 2743200"/>
                <a:gd name="connsiteX12" fmla="*/ 1371600 w 4114800"/>
                <a:gd name="connsiteY12" fmla="*/ 2743200 h 2743200"/>
                <a:gd name="connsiteX13" fmla="*/ 0 w 4114800"/>
                <a:gd name="connsiteY13" fmla="*/ 1371600 h 2743200"/>
                <a:gd name="connsiteX14" fmla="*/ 1371600 w 4114800"/>
                <a:gd name="connsiteY14"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2743200">
                  <a:moveTo>
                    <a:pt x="1371600" y="548640"/>
                  </a:moveTo>
                  <a:cubicBezTo>
                    <a:pt x="917092" y="548640"/>
                    <a:pt x="548640" y="917092"/>
                    <a:pt x="548640" y="1371600"/>
                  </a:cubicBezTo>
                  <a:cubicBezTo>
                    <a:pt x="548640" y="1826108"/>
                    <a:pt x="917092" y="2194560"/>
                    <a:pt x="1371600" y="2194560"/>
                  </a:cubicBezTo>
                  <a:cubicBezTo>
                    <a:pt x="1826108" y="2194560"/>
                    <a:pt x="2194560" y="1826108"/>
                    <a:pt x="2194560" y="1371600"/>
                  </a:cubicBezTo>
                  <a:cubicBezTo>
                    <a:pt x="2194560" y="917092"/>
                    <a:pt x="1826108" y="548640"/>
                    <a:pt x="1371600" y="548640"/>
                  </a:cubicBezTo>
                  <a:close/>
                  <a:moveTo>
                    <a:pt x="1371600" y="0"/>
                  </a:moveTo>
                  <a:cubicBezTo>
                    <a:pt x="2129114" y="0"/>
                    <a:pt x="2743200" y="614086"/>
                    <a:pt x="2743200" y="1371600"/>
                  </a:cubicBezTo>
                  <a:cubicBezTo>
                    <a:pt x="2743200" y="1655668"/>
                    <a:pt x="2656844" y="1919566"/>
                    <a:pt x="2508953" y="2138475"/>
                  </a:cubicBezTo>
                  <a:lnTo>
                    <a:pt x="2467013" y="2194560"/>
                  </a:lnTo>
                  <a:lnTo>
                    <a:pt x="3889468" y="2194560"/>
                  </a:lnTo>
                  <a:lnTo>
                    <a:pt x="4114800" y="2468880"/>
                  </a:lnTo>
                  <a:lnTo>
                    <a:pt x="3889468" y="2743200"/>
                  </a:lnTo>
                  <a:lnTo>
                    <a:pt x="1371600" y="2743200"/>
                  </a:lnTo>
                  <a:cubicBezTo>
                    <a:pt x="614086" y="2743200"/>
                    <a:pt x="0" y="2129114"/>
                    <a:pt x="0" y="1371600"/>
                  </a:cubicBezTo>
                  <a:cubicBezTo>
                    <a:pt x="0" y="614086"/>
                    <a:pt x="614086" y="0"/>
                    <a:pt x="13716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81" name="Freeform: Shape 14">
              <a:extLst>
                <a:ext uri="{FF2B5EF4-FFF2-40B4-BE49-F238E27FC236}">
                  <a16:creationId xmlns:a16="http://schemas.microsoft.com/office/drawing/2014/main" id="{6E0F028E-E7DF-F8DC-E9E5-D03A41C81D5C}"/>
                </a:ext>
              </a:extLst>
            </p:cNvPr>
            <p:cNvSpPr/>
            <p:nvPr/>
          </p:nvSpPr>
          <p:spPr>
            <a:xfrm>
              <a:off x="7004957" y="4612821"/>
              <a:ext cx="1125843" cy="576402"/>
            </a:xfrm>
            <a:custGeom>
              <a:avLst/>
              <a:gdLst>
                <a:gd name="connsiteX0" fmla="*/ 669281 w 1125843"/>
                <a:gd name="connsiteY0" fmla="*/ 0 h 576402"/>
                <a:gd name="connsiteX1" fmla="*/ 1125843 w 1125843"/>
                <a:gd name="connsiteY1" fmla="*/ 0 h 576402"/>
                <a:gd name="connsiteX2" fmla="*/ 1120673 w 1125843"/>
                <a:gd name="connsiteY2" fmla="*/ 68324 h 576402"/>
                <a:gd name="connsiteX3" fmla="*/ 939937 w 1125843"/>
                <a:gd name="connsiteY3" fmla="*/ 529998 h 576402"/>
                <a:gd name="connsiteX4" fmla="*/ 905237 w 1125843"/>
                <a:gd name="connsiteY4" fmla="*/ 576402 h 576402"/>
                <a:gd name="connsiteX5" fmla="*/ 0 w 1125843"/>
                <a:gd name="connsiteY5" fmla="*/ 576402 h 576402"/>
                <a:gd name="connsiteX6" fmla="*/ 0 w 1125843"/>
                <a:gd name="connsiteY6" fmla="*/ 576293 h 576402"/>
                <a:gd name="connsiteX7" fmla="*/ 136139 w 1125843"/>
                <a:gd name="connsiteY7" fmla="*/ 562569 h 576402"/>
                <a:gd name="connsiteX8" fmla="*/ 136164 w 1125843"/>
                <a:gd name="connsiteY8" fmla="*/ 562561 h 576402"/>
                <a:gd name="connsiteX9" fmla="*/ 233030 w 1125843"/>
                <a:gd name="connsiteY9" fmla="*/ 535085 h 576402"/>
                <a:gd name="connsiteX10" fmla="*/ 251364 w 1125843"/>
                <a:gd name="connsiteY10" fmla="*/ 526801 h 576402"/>
                <a:gd name="connsiteX11" fmla="*/ 263951 w 1125843"/>
                <a:gd name="connsiteY11" fmla="*/ 522894 h 576402"/>
                <a:gd name="connsiteX12" fmla="*/ 283523 w 1125843"/>
                <a:gd name="connsiteY12" fmla="*/ 512271 h 576402"/>
                <a:gd name="connsiteX13" fmla="*/ 323471 w 1125843"/>
                <a:gd name="connsiteY13" fmla="*/ 494221 h 576402"/>
                <a:gd name="connsiteX14" fmla="*/ 360500 w 1125843"/>
                <a:gd name="connsiteY14" fmla="*/ 470489 h 576402"/>
                <a:gd name="connsiteX15" fmla="*/ 379612 w 1125843"/>
                <a:gd name="connsiteY15" fmla="*/ 460115 h 576402"/>
                <a:gd name="connsiteX16" fmla="*/ 389794 w 1125843"/>
                <a:gd name="connsiteY16" fmla="*/ 451714 h 576402"/>
                <a:gd name="connsiteX17" fmla="*/ 406307 w 1125843"/>
                <a:gd name="connsiteY17" fmla="*/ 441131 h 576402"/>
                <a:gd name="connsiteX18" fmla="*/ 480357 w 1125843"/>
                <a:gd name="connsiteY18" fmla="*/ 376993 h 576402"/>
                <a:gd name="connsiteX19" fmla="*/ 480384 w 1125843"/>
                <a:gd name="connsiteY19" fmla="*/ 376971 h 576402"/>
                <a:gd name="connsiteX20" fmla="*/ 480408 w 1125843"/>
                <a:gd name="connsiteY20" fmla="*/ 376942 h 576402"/>
                <a:gd name="connsiteX21" fmla="*/ 544543 w 1125843"/>
                <a:gd name="connsiteY21" fmla="*/ 302895 h 576402"/>
                <a:gd name="connsiteX22" fmla="*/ 555126 w 1125843"/>
                <a:gd name="connsiteY22" fmla="*/ 286382 h 576402"/>
                <a:gd name="connsiteX23" fmla="*/ 563528 w 1125843"/>
                <a:gd name="connsiteY23" fmla="*/ 276199 h 576402"/>
                <a:gd name="connsiteX24" fmla="*/ 573903 w 1125843"/>
                <a:gd name="connsiteY24" fmla="*/ 257085 h 576402"/>
                <a:gd name="connsiteX25" fmla="*/ 597633 w 1125843"/>
                <a:gd name="connsiteY25" fmla="*/ 220058 h 576402"/>
                <a:gd name="connsiteX26" fmla="*/ 615682 w 1125843"/>
                <a:gd name="connsiteY26" fmla="*/ 180112 h 576402"/>
                <a:gd name="connsiteX27" fmla="*/ 626307 w 1125843"/>
                <a:gd name="connsiteY27" fmla="*/ 160538 h 576402"/>
                <a:gd name="connsiteX28" fmla="*/ 630214 w 1125843"/>
                <a:gd name="connsiteY28" fmla="*/ 147949 h 576402"/>
                <a:gd name="connsiteX29" fmla="*/ 638498 w 1125843"/>
                <a:gd name="connsiteY29" fmla="*/ 129617 h 576402"/>
                <a:gd name="connsiteX30" fmla="*/ 665974 w 1125843"/>
                <a:gd name="connsiteY30" fmla="*/ 32750 h 576402"/>
                <a:gd name="connsiteX31" fmla="*/ 665982 w 1125843"/>
                <a:gd name="connsiteY31" fmla="*/ 32726 h 57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25843" h="576402">
                  <a:moveTo>
                    <a:pt x="669281" y="0"/>
                  </a:moveTo>
                  <a:lnTo>
                    <a:pt x="1125843" y="0"/>
                  </a:lnTo>
                  <a:lnTo>
                    <a:pt x="1120673" y="68324"/>
                  </a:lnTo>
                  <a:cubicBezTo>
                    <a:pt x="1094842" y="237378"/>
                    <a:pt x="1031709" y="394157"/>
                    <a:pt x="939937" y="529998"/>
                  </a:cubicBezTo>
                  <a:lnTo>
                    <a:pt x="905237" y="576402"/>
                  </a:lnTo>
                  <a:lnTo>
                    <a:pt x="0" y="576402"/>
                  </a:lnTo>
                  <a:lnTo>
                    <a:pt x="0" y="576293"/>
                  </a:lnTo>
                  <a:lnTo>
                    <a:pt x="136139" y="562569"/>
                  </a:lnTo>
                  <a:lnTo>
                    <a:pt x="136164" y="562561"/>
                  </a:lnTo>
                  <a:lnTo>
                    <a:pt x="233030" y="535085"/>
                  </a:lnTo>
                  <a:lnTo>
                    <a:pt x="251364" y="526801"/>
                  </a:lnTo>
                  <a:lnTo>
                    <a:pt x="263951" y="522894"/>
                  </a:lnTo>
                  <a:lnTo>
                    <a:pt x="283523" y="512271"/>
                  </a:lnTo>
                  <a:lnTo>
                    <a:pt x="323471" y="494221"/>
                  </a:lnTo>
                  <a:lnTo>
                    <a:pt x="360500" y="470489"/>
                  </a:lnTo>
                  <a:lnTo>
                    <a:pt x="379612" y="460115"/>
                  </a:lnTo>
                  <a:lnTo>
                    <a:pt x="389794" y="451714"/>
                  </a:lnTo>
                  <a:lnTo>
                    <a:pt x="406307" y="441131"/>
                  </a:lnTo>
                  <a:lnTo>
                    <a:pt x="480357" y="376993"/>
                  </a:lnTo>
                  <a:lnTo>
                    <a:pt x="480384" y="376971"/>
                  </a:lnTo>
                  <a:lnTo>
                    <a:pt x="480408" y="376942"/>
                  </a:lnTo>
                  <a:lnTo>
                    <a:pt x="544543" y="302895"/>
                  </a:lnTo>
                  <a:lnTo>
                    <a:pt x="555126" y="286382"/>
                  </a:lnTo>
                  <a:lnTo>
                    <a:pt x="563528" y="276199"/>
                  </a:lnTo>
                  <a:lnTo>
                    <a:pt x="573903" y="257085"/>
                  </a:lnTo>
                  <a:lnTo>
                    <a:pt x="597633" y="220058"/>
                  </a:lnTo>
                  <a:lnTo>
                    <a:pt x="615682" y="180112"/>
                  </a:lnTo>
                  <a:lnTo>
                    <a:pt x="626307" y="160538"/>
                  </a:lnTo>
                  <a:lnTo>
                    <a:pt x="630214" y="147949"/>
                  </a:lnTo>
                  <a:lnTo>
                    <a:pt x="638498" y="129617"/>
                  </a:lnTo>
                  <a:lnTo>
                    <a:pt x="665974" y="32750"/>
                  </a:lnTo>
                  <a:lnTo>
                    <a:pt x="665982" y="32726"/>
                  </a:lnTo>
                  <a:close/>
                </a:path>
              </a:pathLst>
            </a:custGeom>
            <a:gradFill flip="none" rotWithShape="1">
              <a:gsLst>
                <a:gs pos="0">
                  <a:schemeClr val="tx1">
                    <a:alpha val="0"/>
                  </a:schemeClr>
                </a:gs>
                <a:gs pos="64000">
                  <a:schemeClr val="tx1">
                    <a:alpha val="20000"/>
                  </a:schemeClr>
                </a:gs>
                <a:gs pos="73000">
                  <a:schemeClr val="tx1">
                    <a:alpha val="30000"/>
                  </a:schemeClr>
                </a:gs>
                <a:gs pos="100000">
                  <a:schemeClr val="tx1">
                    <a:alpha val="5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pic>
        <p:nvPicPr>
          <p:cNvPr id="82" name="Graphic 36" descr="Badge 4 with solid fill">
            <a:extLst>
              <a:ext uri="{FF2B5EF4-FFF2-40B4-BE49-F238E27FC236}">
                <a16:creationId xmlns:a16="http://schemas.microsoft.com/office/drawing/2014/main" id="{56E8202A-D157-A6C2-B5AA-75639798076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04958" y="3885248"/>
            <a:ext cx="280109" cy="280109"/>
          </a:xfrm>
          <a:prstGeom prst="rect">
            <a:avLst/>
          </a:prstGeom>
        </p:spPr>
      </p:pic>
      <p:pic>
        <p:nvPicPr>
          <p:cNvPr id="83" name="Graphic 38" descr="Badge 3 with solid fill">
            <a:extLst>
              <a:ext uri="{FF2B5EF4-FFF2-40B4-BE49-F238E27FC236}">
                <a16:creationId xmlns:a16="http://schemas.microsoft.com/office/drawing/2014/main" id="{8818AD41-9C31-2E44-58D5-99B6272F62B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885258" y="3885248"/>
            <a:ext cx="280109" cy="280109"/>
          </a:xfrm>
          <a:prstGeom prst="rect">
            <a:avLst/>
          </a:prstGeom>
        </p:spPr>
      </p:pic>
      <p:pic>
        <p:nvPicPr>
          <p:cNvPr id="84" name="Graphic 40" descr="Badge with solid fill">
            <a:extLst>
              <a:ext uri="{FF2B5EF4-FFF2-40B4-BE49-F238E27FC236}">
                <a16:creationId xmlns:a16="http://schemas.microsoft.com/office/drawing/2014/main" id="{244B2D7E-C688-7B51-70C1-7961EBCB1BA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85258" y="1171190"/>
            <a:ext cx="280109" cy="280109"/>
          </a:xfrm>
          <a:prstGeom prst="rect">
            <a:avLst/>
          </a:prstGeom>
        </p:spPr>
      </p:pic>
      <p:pic>
        <p:nvPicPr>
          <p:cNvPr id="85" name="Graphic 42" descr="Badge 1 with solid fill">
            <a:extLst>
              <a:ext uri="{FF2B5EF4-FFF2-40B4-BE49-F238E27FC236}">
                <a16:creationId xmlns:a16="http://schemas.microsoft.com/office/drawing/2014/main" id="{81B389AE-E59A-6A3C-2D2C-68A9E7E1D58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804958" y="1171190"/>
            <a:ext cx="280109" cy="280109"/>
          </a:xfrm>
          <a:prstGeom prst="rect">
            <a:avLst/>
          </a:prstGeom>
        </p:spPr>
      </p:pic>
      <p:sp>
        <p:nvSpPr>
          <p:cNvPr id="86" name="TextBox 85">
            <a:extLst>
              <a:ext uri="{FF2B5EF4-FFF2-40B4-BE49-F238E27FC236}">
                <a16:creationId xmlns:a16="http://schemas.microsoft.com/office/drawing/2014/main" id="{C664B009-FB10-5CE3-8F2A-D1EDE6582B24}"/>
              </a:ext>
            </a:extLst>
          </p:cNvPr>
          <p:cNvSpPr txBox="1"/>
          <p:nvPr/>
        </p:nvSpPr>
        <p:spPr>
          <a:xfrm>
            <a:off x="8517025" y="3823591"/>
            <a:ext cx="2247956" cy="369332"/>
          </a:xfrm>
          <a:prstGeom prst="rect">
            <a:avLst/>
          </a:prstGeom>
          <a:noFill/>
        </p:spPr>
        <p:txBody>
          <a:bodyPr wrap="square" lIns="0" rIns="0" rtlCol="0" anchor="b">
            <a:spAutoFit/>
          </a:bodyPr>
          <a:lstStyle/>
          <a:p>
            <a:r>
              <a:rPr lang="en-US" b="1" noProof="1">
                <a:latin typeface="Cambria" panose="02040503050406030204" pitchFamily="18" charset="0"/>
                <a:ea typeface="Cambria" panose="02040503050406030204" pitchFamily="18" charset="0"/>
              </a:rPr>
              <a:t>CÔNG TÁC ĐẤU THẦU</a:t>
            </a:r>
          </a:p>
        </p:txBody>
      </p:sp>
      <p:sp>
        <p:nvSpPr>
          <p:cNvPr id="88" name="TextBox 87">
            <a:extLst>
              <a:ext uri="{FF2B5EF4-FFF2-40B4-BE49-F238E27FC236}">
                <a16:creationId xmlns:a16="http://schemas.microsoft.com/office/drawing/2014/main" id="{EAFBB15B-7BAF-41E3-4D84-9BF112CCB4AD}"/>
              </a:ext>
            </a:extLst>
          </p:cNvPr>
          <p:cNvSpPr txBox="1"/>
          <p:nvPr/>
        </p:nvSpPr>
        <p:spPr>
          <a:xfrm>
            <a:off x="8517025" y="1108386"/>
            <a:ext cx="1797447" cy="369332"/>
          </a:xfrm>
          <a:prstGeom prst="rect">
            <a:avLst/>
          </a:prstGeom>
          <a:noFill/>
        </p:spPr>
        <p:txBody>
          <a:bodyPr wrap="square" lIns="0" rIns="0" rtlCol="0" anchor="b">
            <a:spAutoFit/>
          </a:bodyPr>
          <a:lstStyle/>
          <a:p>
            <a:r>
              <a:rPr lang="en-US" b="1" noProof="1">
                <a:latin typeface="Cambria" panose="02040503050406030204" pitchFamily="18" charset="0"/>
                <a:ea typeface="Cambria" panose="02040503050406030204" pitchFamily="18" charset="0"/>
              </a:rPr>
              <a:t>TÍNH LAN TỎA</a:t>
            </a:r>
          </a:p>
        </p:txBody>
      </p:sp>
      <p:sp>
        <p:nvSpPr>
          <p:cNvPr id="90" name="TextBox 89">
            <a:extLst>
              <a:ext uri="{FF2B5EF4-FFF2-40B4-BE49-F238E27FC236}">
                <a16:creationId xmlns:a16="http://schemas.microsoft.com/office/drawing/2014/main" id="{69808FC6-906D-2B2F-88AF-BE2BD50B43C4}"/>
              </a:ext>
            </a:extLst>
          </p:cNvPr>
          <p:cNvSpPr txBox="1"/>
          <p:nvPr/>
        </p:nvSpPr>
        <p:spPr>
          <a:xfrm>
            <a:off x="8545448" y="1398267"/>
            <a:ext cx="3348120" cy="1600438"/>
          </a:xfrm>
          <a:prstGeom prst="rect">
            <a:avLst/>
          </a:prstGeom>
          <a:noFill/>
        </p:spPr>
        <p:txBody>
          <a:bodyPr wrap="square" lIns="0" rIns="0" rtlCol="0" anchor="ctr">
            <a:spAutoFit/>
          </a:bodyPr>
          <a:lstStyle/>
          <a:p>
            <a:pPr marL="285750" indent="-285750" algn="just">
              <a:buFont typeface="Wingdings" panose="05000000000000000000" pitchFamily="2" charset="2"/>
              <a:buChar char="ü"/>
            </a:pPr>
            <a:r>
              <a:rPr lang="vi-VN" sz="1400" noProof="1">
                <a:solidFill>
                  <a:schemeClr val="tx1">
                    <a:lumMod val="85000"/>
                    <a:lumOff val="15000"/>
                  </a:schemeClr>
                </a:solidFill>
                <a:latin typeface="Cambria" panose="02040503050406030204" pitchFamily="18" charset="0"/>
                <a:ea typeface="Cambria" panose="02040503050406030204" pitchFamily="18" charset="0"/>
              </a:rPr>
              <a:t>Mỗi Tỉnh phải có ít nhất 1 dự án cơ điện điển hình trên địa bàn</a:t>
            </a:r>
            <a:endParaRPr lang="en-US" sz="1400" noProof="1">
              <a:solidFill>
                <a:schemeClr val="tx1">
                  <a:lumMod val="85000"/>
                  <a:lumOff val="15000"/>
                </a:schemeClr>
              </a:solidFill>
              <a:latin typeface="Cambria" panose="02040503050406030204" pitchFamily="18" charset="0"/>
              <a:ea typeface="Cambria" panose="02040503050406030204" pitchFamily="18" charset="0"/>
            </a:endParaRPr>
          </a:p>
          <a:p>
            <a:pPr algn="just"/>
            <a:r>
              <a:rPr lang="vi-VN" sz="1400" noProof="1">
                <a:solidFill>
                  <a:schemeClr val="tx1">
                    <a:lumMod val="65000"/>
                    <a:lumOff val="35000"/>
                  </a:schemeClr>
                </a:solidFill>
                <a:latin typeface="Cambria" panose="02040503050406030204" pitchFamily="18" charset="0"/>
                <a:ea typeface="Cambria" panose="02040503050406030204" pitchFamily="18" charset="0"/>
              </a:rPr>
              <a:t> </a:t>
            </a:r>
            <a:r>
              <a:rPr lang="vi-VN" sz="1400" kern="0" noProof="1">
                <a:solidFill>
                  <a:srgbClr val="FF0000"/>
                </a:solidFill>
              </a:rPr>
              <a:t>► </a:t>
            </a:r>
            <a:r>
              <a:rPr lang="vi-VN" sz="1400" b="1" noProof="1">
                <a:solidFill>
                  <a:srgbClr val="FF0000"/>
                </a:solidFill>
                <a:latin typeface="Cambria" panose="02040503050406030204" pitchFamily="18" charset="0"/>
                <a:ea typeface="Cambria" panose="02040503050406030204" pitchFamily="18" charset="0"/>
              </a:rPr>
              <a:t>Tạo hiệu ứng lan tỏa và  bùng nổ B2B</a:t>
            </a:r>
            <a:endParaRPr lang="en-US" sz="1400" b="1" noProof="1">
              <a:solidFill>
                <a:srgbClr val="FF0000"/>
              </a:solidFill>
              <a:latin typeface="Cambria" panose="02040503050406030204" pitchFamily="18" charset="0"/>
              <a:ea typeface="Cambria" panose="02040503050406030204" pitchFamily="18" charset="0"/>
            </a:endParaRPr>
          </a:p>
          <a:p>
            <a:pPr algn="just"/>
            <a:endParaRPr lang="vi-VN" sz="1400" b="1" noProof="1">
              <a:solidFill>
                <a:srgbClr val="FF0000"/>
              </a:solidFill>
              <a:latin typeface="Cambria" panose="02040503050406030204" pitchFamily="18" charset="0"/>
              <a:ea typeface="Cambria" panose="02040503050406030204" pitchFamily="18" charset="0"/>
            </a:endParaRPr>
          </a:p>
          <a:p>
            <a:pPr marL="285750" indent="-285750" algn="just">
              <a:buFont typeface="Wingdings" panose="05000000000000000000" pitchFamily="2" charset="2"/>
              <a:buChar char="ü"/>
            </a:pPr>
            <a:r>
              <a:rPr lang="vi-VN" sz="1400" noProof="1">
                <a:solidFill>
                  <a:schemeClr val="tx1">
                    <a:lumMod val="85000"/>
                    <a:lumOff val="15000"/>
                  </a:schemeClr>
                </a:solidFill>
                <a:latin typeface="Cambria" panose="02040503050406030204" pitchFamily="18" charset="0"/>
                <a:ea typeface="Cambria" panose="02040503050406030204" pitchFamily="18" charset="0"/>
              </a:rPr>
              <a:t>Tại tỉnh nếu có 1 dự án Xây dựng thì phải </a:t>
            </a:r>
            <a:r>
              <a:rPr lang="en-US" sz="1400" noProof="1">
                <a:solidFill>
                  <a:schemeClr val="tx1">
                    <a:lumMod val="85000"/>
                    <a:lumOff val="15000"/>
                  </a:schemeClr>
                </a:solidFill>
                <a:latin typeface="Cambria" panose="02040503050406030204" pitchFamily="18" charset="0"/>
                <a:ea typeface="Cambria" panose="02040503050406030204" pitchFamily="18" charset="0"/>
              </a:rPr>
              <a:t>đi kèm</a:t>
            </a:r>
            <a:r>
              <a:rPr lang="vi-VN" sz="1400" noProof="1">
                <a:solidFill>
                  <a:schemeClr val="tx1">
                    <a:lumMod val="85000"/>
                    <a:lumOff val="15000"/>
                  </a:schemeClr>
                </a:solidFill>
                <a:latin typeface="Cambria" panose="02040503050406030204" pitchFamily="18" charset="0"/>
                <a:ea typeface="Cambria" panose="02040503050406030204" pitchFamily="18" charset="0"/>
              </a:rPr>
              <a:t> 1 dự án cơ điện để kiện toàn hệ sinh thái sản phẩm.</a:t>
            </a:r>
          </a:p>
        </p:txBody>
      </p:sp>
      <p:sp>
        <p:nvSpPr>
          <p:cNvPr id="91" name="TextBox 90">
            <a:extLst>
              <a:ext uri="{FF2B5EF4-FFF2-40B4-BE49-F238E27FC236}">
                <a16:creationId xmlns:a16="http://schemas.microsoft.com/office/drawing/2014/main" id="{69808FC6-906D-2B2F-88AF-BE2BD50B43C4}"/>
              </a:ext>
            </a:extLst>
          </p:cNvPr>
          <p:cNvSpPr txBox="1"/>
          <p:nvPr/>
        </p:nvSpPr>
        <p:spPr>
          <a:xfrm>
            <a:off x="282826" y="4204813"/>
            <a:ext cx="3348120" cy="1384995"/>
          </a:xfrm>
          <a:prstGeom prst="rect">
            <a:avLst/>
          </a:prstGeom>
          <a:noFill/>
        </p:spPr>
        <p:txBody>
          <a:bodyPr wrap="square" lIns="0" rIns="0" rtlCol="0" anchor="ctr">
            <a:spAutoFit/>
          </a:bodyPr>
          <a:lstStyle/>
          <a:p>
            <a:pPr algn="just"/>
            <a:r>
              <a:rPr lang="vi-VN" sz="1400" noProof="1">
                <a:solidFill>
                  <a:schemeClr val="tx1">
                    <a:lumMod val="85000"/>
                    <a:lumOff val="15000"/>
                  </a:schemeClr>
                </a:solidFill>
                <a:latin typeface="Cambria" panose="02040503050406030204" pitchFamily="18" charset="0"/>
                <a:ea typeface="Cambria" panose="02040503050406030204" pitchFamily="18" charset="0"/>
              </a:rPr>
              <a:t>Tận dụng triệt để các mối quan hệ: GĐ Viettel Tỉnh, PGĐ CNTT Viettel Tỉnh, cơ quan lãnh đạo Tỉnh, CA Tỉnh, xã, Điện lực, viễn thông, quân đội, …các tổ chuyên gia chấm thầu, đơn vị TVGS, thiết kế, đơn vị môi giới….</a:t>
            </a:r>
          </a:p>
        </p:txBody>
      </p:sp>
      <p:sp>
        <p:nvSpPr>
          <p:cNvPr id="92" name="TextBox 91">
            <a:extLst>
              <a:ext uri="{FF2B5EF4-FFF2-40B4-BE49-F238E27FC236}">
                <a16:creationId xmlns:a16="http://schemas.microsoft.com/office/drawing/2014/main" id="{69808FC6-906D-2B2F-88AF-BE2BD50B43C4}"/>
              </a:ext>
            </a:extLst>
          </p:cNvPr>
          <p:cNvSpPr txBox="1"/>
          <p:nvPr/>
        </p:nvSpPr>
        <p:spPr>
          <a:xfrm>
            <a:off x="8545448" y="4165357"/>
            <a:ext cx="3348120" cy="2246769"/>
          </a:xfrm>
          <a:prstGeom prst="rect">
            <a:avLst/>
          </a:prstGeom>
          <a:noFill/>
        </p:spPr>
        <p:txBody>
          <a:bodyPr wrap="square" lIns="0" rIns="0" rtlCol="0" anchor="ctr">
            <a:spAutoFit/>
          </a:bodyPr>
          <a:lstStyle/>
          <a:p>
            <a:pPr marL="285750" indent="-285750" algn="just">
              <a:buFont typeface="Wingdings" panose="05000000000000000000" pitchFamily="2" charset="2"/>
              <a:buChar char="ü"/>
            </a:pPr>
            <a:r>
              <a:rPr lang="vi-VN" sz="1400" noProof="1">
                <a:solidFill>
                  <a:schemeClr val="tx1">
                    <a:lumMod val="85000"/>
                    <a:lumOff val="15000"/>
                  </a:schemeClr>
                </a:solidFill>
                <a:latin typeface="Cambria" panose="02040503050406030204" pitchFamily="18" charset="0"/>
                <a:ea typeface="Cambria" panose="02040503050406030204" pitchFamily="18" charset="0"/>
              </a:rPr>
              <a:t>CNCT phải tham gia thầu (thương mại &amp; Xây lắp) kể cả khi chưa có quan hệ, thầu online các cơ hội thành công vẫn có (QNH, QTI, VTU, TGG..) </a:t>
            </a:r>
            <a:endParaRPr lang="en-US" sz="1400" noProof="1">
              <a:solidFill>
                <a:schemeClr val="tx1">
                  <a:lumMod val="85000"/>
                  <a:lumOff val="15000"/>
                </a:schemeClr>
              </a:solidFill>
              <a:latin typeface="Cambria" panose="02040503050406030204" pitchFamily="18" charset="0"/>
              <a:ea typeface="Cambria" panose="02040503050406030204" pitchFamily="18" charset="0"/>
            </a:endParaRPr>
          </a:p>
          <a:p>
            <a:pPr algn="just"/>
            <a:r>
              <a:rPr lang="vi-VN" sz="1400" kern="0" noProof="1">
                <a:solidFill>
                  <a:srgbClr val="FF0000"/>
                </a:solidFill>
              </a:rPr>
              <a:t>► </a:t>
            </a:r>
            <a:r>
              <a:rPr lang="vi-VN" sz="1400" b="1" noProof="1">
                <a:solidFill>
                  <a:srgbClr val="FF0000"/>
                </a:solidFill>
                <a:latin typeface="Cambria" panose="02040503050406030204" pitchFamily="18" charset="0"/>
                <a:ea typeface="Cambria" panose="02040503050406030204" pitchFamily="18" charset="0"/>
              </a:rPr>
              <a:t>Các Tỉnh tự ti chưa có mối quan hệ vẫn tham gia thầu.</a:t>
            </a:r>
            <a:endParaRPr lang="en-US" sz="1400" b="1" noProof="1">
              <a:solidFill>
                <a:srgbClr val="FF0000"/>
              </a:solidFill>
              <a:latin typeface="Cambria" panose="02040503050406030204" pitchFamily="18" charset="0"/>
              <a:ea typeface="Cambria" panose="02040503050406030204" pitchFamily="18" charset="0"/>
            </a:endParaRPr>
          </a:p>
          <a:p>
            <a:pPr algn="just"/>
            <a:endParaRPr lang="vi-VN" sz="1400" b="1" noProof="1">
              <a:solidFill>
                <a:srgbClr val="FF0000"/>
              </a:solidFill>
              <a:latin typeface="Cambria" panose="02040503050406030204" pitchFamily="18" charset="0"/>
              <a:ea typeface="Cambria" panose="02040503050406030204" pitchFamily="18" charset="0"/>
            </a:endParaRPr>
          </a:p>
          <a:p>
            <a:pPr marL="285750" indent="-285750" algn="just">
              <a:buFont typeface="Wingdings" panose="05000000000000000000" pitchFamily="2" charset="2"/>
              <a:buChar char="ü"/>
            </a:pPr>
            <a:r>
              <a:rPr lang="vi-VN" sz="1400" noProof="1">
                <a:solidFill>
                  <a:schemeClr val="tx1">
                    <a:lumMod val="85000"/>
                    <a:lumOff val="15000"/>
                  </a:schemeClr>
                </a:solidFill>
                <a:latin typeface="Cambria" panose="02040503050406030204" pitchFamily="18" charset="0"/>
                <a:ea typeface="Cambria" panose="02040503050406030204" pitchFamily="18" charset="0"/>
              </a:rPr>
              <a:t>XD bộ máy đủ năng lực để tính toán giá cả, cơ hội thị trường </a:t>
            </a:r>
            <a:endParaRPr lang="en-US" sz="1400" noProof="1">
              <a:solidFill>
                <a:schemeClr val="tx1">
                  <a:lumMod val="85000"/>
                  <a:lumOff val="15000"/>
                </a:schemeClr>
              </a:solidFill>
              <a:latin typeface="Cambria" panose="02040503050406030204" pitchFamily="18" charset="0"/>
              <a:ea typeface="Cambria" panose="02040503050406030204" pitchFamily="18" charset="0"/>
            </a:endParaRPr>
          </a:p>
          <a:p>
            <a:pPr algn="just"/>
            <a:r>
              <a:rPr lang="vi-VN" sz="1400" kern="0" noProof="1">
                <a:solidFill>
                  <a:srgbClr val="FF0000"/>
                </a:solidFill>
              </a:rPr>
              <a:t>► </a:t>
            </a:r>
            <a:r>
              <a:rPr lang="vi-VN" sz="1400" b="1" noProof="1">
                <a:solidFill>
                  <a:srgbClr val="FF0000"/>
                </a:solidFill>
                <a:latin typeface="Cambria" panose="02040503050406030204" pitchFamily="18" charset="0"/>
                <a:ea typeface="Cambria" panose="02040503050406030204" pitchFamily="18" charset="0"/>
              </a:rPr>
              <a:t>Cơ hội trúng thầu tốt hơn</a:t>
            </a:r>
          </a:p>
        </p:txBody>
      </p:sp>
    </p:spTree>
    <p:extLst>
      <p:ext uri="{BB962C8B-B14F-4D97-AF65-F5344CB8AC3E}">
        <p14:creationId xmlns:p14="http://schemas.microsoft.com/office/powerpoint/2010/main" val="898943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占位符 3" descr="图片包含 游戏机, 键盘, 电脑&#10;&#10;描述已自动生成"/>
          <p:cNvPicPr>
            <a:picLocks noGrp="1" noChangeAspect="1"/>
          </p:cNvPicPr>
          <p:nvPr>
            <p:ph type="pic" sz="quarter" idx="10"/>
          </p:nvPr>
        </p:nvPicPr>
        <p:blipFill>
          <a:blip r:embed="rId3"/>
          <a:stretch>
            <a:fillRect/>
          </a:stretch>
        </p:blipFill>
        <p:spPr/>
      </p:pic>
      <p:sp>
        <p:nvSpPr>
          <p:cNvPr id="37" name="Rectangle 36"/>
          <p:cNvSpPr/>
          <p:nvPr/>
        </p:nvSpPr>
        <p:spPr>
          <a:xfrm>
            <a:off x="0" y="0"/>
            <a:ext cx="12192000" cy="6858000"/>
          </a:xfrm>
          <a:prstGeom prst="rect">
            <a:avLst/>
          </a:prstGeom>
          <a:gradFill>
            <a:gsLst>
              <a:gs pos="0">
                <a:schemeClr val="bg1">
                  <a:alpha val="88000"/>
                </a:schemeClr>
              </a:gs>
              <a:gs pos="100000">
                <a:schemeClr val="bg1">
                  <a:alpha val="88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微软雅黑"/>
              <a:cs typeface="+mn-ea"/>
              <a:sym typeface="+mn-lt"/>
            </a:endParaRPr>
          </a:p>
        </p:txBody>
      </p:sp>
      <p:grpSp>
        <p:nvGrpSpPr>
          <p:cNvPr id="24" name="Group 23"/>
          <p:cNvGrpSpPr/>
          <p:nvPr/>
        </p:nvGrpSpPr>
        <p:grpSpPr>
          <a:xfrm>
            <a:off x="4175316" y="2613025"/>
            <a:ext cx="3714369" cy="1630680"/>
            <a:chOff x="782404" y="2526632"/>
            <a:chExt cx="3714369" cy="1630680"/>
          </a:xfrm>
        </p:grpSpPr>
        <p:grpSp>
          <p:nvGrpSpPr>
            <p:cNvPr id="20" name="Group 19"/>
            <p:cNvGrpSpPr/>
            <p:nvPr/>
          </p:nvGrpSpPr>
          <p:grpSpPr>
            <a:xfrm>
              <a:off x="782404" y="2526632"/>
              <a:ext cx="3714369" cy="0"/>
              <a:chOff x="782404" y="2374232"/>
              <a:chExt cx="3714369" cy="0"/>
            </a:xfrm>
          </p:grpSpPr>
          <p:cxnSp>
            <p:nvCxnSpPr>
              <p:cNvPr id="18" name="Straight Connector 17"/>
              <p:cNvCxnSpPr/>
              <p:nvPr/>
            </p:nvCxnSpPr>
            <p:spPr>
              <a:xfrm>
                <a:off x="782404" y="2374232"/>
                <a:ext cx="3714369"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82404" y="2374232"/>
                <a:ext cx="104992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782404" y="4157312"/>
              <a:ext cx="3714369" cy="0"/>
              <a:chOff x="782404" y="2374232"/>
              <a:chExt cx="3714369" cy="0"/>
            </a:xfrm>
          </p:grpSpPr>
          <p:cxnSp>
            <p:nvCxnSpPr>
              <p:cNvPr id="22" name="Straight Connector 21"/>
              <p:cNvCxnSpPr/>
              <p:nvPr/>
            </p:nvCxnSpPr>
            <p:spPr>
              <a:xfrm>
                <a:off x="782404" y="2374232"/>
                <a:ext cx="3714369"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82404" y="2374232"/>
                <a:ext cx="104992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grpSp>
        <p:nvGrpSpPr>
          <p:cNvPr id="32" name="Group 31"/>
          <p:cNvGrpSpPr/>
          <p:nvPr/>
        </p:nvGrpSpPr>
        <p:grpSpPr>
          <a:xfrm>
            <a:off x="1" y="4705350"/>
            <a:ext cx="2152650" cy="2152650"/>
            <a:chOff x="0" y="4114805"/>
            <a:chExt cx="2743195" cy="2743195"/>
          </a:xfrm>
          <a:gradFill>
            <a:gsLst>
              <a:gs pos="0">
                <a:srgbClr val="FE4444"/>
              </a:gs>
              <a:gs pos="100000">
                <a:srgbClr val="832B2B"/>
              </a:gs>
            </a:gsLst>
            <a:lin scaled="0"/>
          </a:gradFill>
        </p:grpSpPr>
        <p:sp>
          <p:nvSpPr>
            <p:cNvPr id="30" name="Graphic 3"/>
            <p:cNvSpPr/>
            <p:nvPr/>
          </p:nvSpPr>
          <p:spPr>
            <a:xfrm flipH="1" flipV="1">
              <a:off x="0" y="4114805"/>
              <a:ext cx="2743195" cy="274319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微软雅黑"/>
                <a:cs typeface="+mn-ea"/>
                <a:sym typeface="+mn-lt"/>
              </a:endParaRPr>
            </a:p>
          </p:txBody>
        </p:sp>
        <p:sp>
          <p:nvSpPr>
            <p:cNvPr id="31" name="Graphic 3"/>
            <p:cNvSpPr/>
            <p:nvPr/>
          </p:nvSpPr>
          <p:spPr>
            <a:xfrm flipH="1" flipV="1">
              <a:off x="0" y="4320545"/>
              <a:ext cx="2537455" cy="253745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微软雅黑"/>
                <a:cs typeface="+mn-ea"/>
                <a:sym typeface="+mn-lt"/>
              </a:endParaRPr>
            </a:p>
          </p:txBody>
        </p:sp>
      </p:grpSp>
      <p:grpSp>
        <p:nvGrpSpPr>
          <p:cNvPr id="33" name="Group 32"/>
          <p:cNvGrpSpPr/>
          <p:nvPr/>
        </p:nvGrpSpPr>
        <p:grpSpPr>
          <a:xfrm flipH="1" flipV="1">
            <a:off x="10039350" y="0"/>
            <a:ext cx="2152650" cy="2152650"/>
            <a:chOff x="0" y="4114805"/>
            <a:chExt cx="2743195" cy="2743195"/>
          </a:xfrm>
          <a:gradFill>
            <a:gsLst>
              <a:gs pos="0">
                <a:srgbClr val="FE4444"/>
              </a:gs>
              <a:gs pos="100000">
                <a:srgbClr val="832B2B"/>
              </a:gs>
            </a:gsLst>
            <a:lin scaled="0"/>
          </a:gradFill>
        </p:grpSpPr>
        <p:sp>
          <p:nvSpPr>
            <p:cNvPr id="34" name="Graphic 3"/>
            <p:cNvSpPr/>
            <p:nvPr/>
          </p:nvSpPr>
          <p:spPr>
            <a:xfrm flipH="1" flipV="1">
              <a:off x="0" y="4114805"/>
              <a:ext cx="2743195" cy="274319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微软雅黑"/>
                <a:cs typeface="+mn-ea"/>
                <a:sym typeface="+mn-lt"/>
              </a:endParaRPr>
            </a:p>
          </p:txBody>
        </p:sp>
        <p:sp>
          <p:nvSpPr>
            <p:cNvPr id="35" name="Graphic 3"/>
            <p:cNvSpPr/>
            <p:nvPr/>
          </p:nvSpPr>
          <p:spPr>
            <a:xfrm flipH="1" flipV="1">
              <a:off x="0" y="4320545"/>
              <a:ext cx="2537455" cy="253745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ea typeface="微软雅黑"/>
                <a:cs typeface="+mn-ea"/>
                <a:sym typeface="+mn-lt"/>
              </a:endParaRPr>
            </a:p>
          </p:txBody>
        </p:sp>
      </p:grpSp>
      <p:sp>
        <p:nvSpPr>
          <p:cNvPr id="25" name="TextBox 4">
            <a:extLst>
              <a:ext uri="{FF2B5EF4-FFF2-40B4-BE49-F238E27FC236}">
                <a16:creationId xmlns:a16="http://schemas.microsoft.com/office/drawing/2014/main" id="{EB684C7E-20A7-9694-F2D4-694B922B40F4}"/>
              </a:ext>
            </a:extLst>
          </p:cNvPr>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33" b="0" i="0" u="none" strike="noStrike" kern="1200" cap="none" spc="0" normalizeH="0" baseline="0" noProof="0">
                <a:ln>
                  <a:noFill/>
                </a:ln>
                <a:solidFill>
                  <a:srgbClr val="000000">
                    <a:alpha val="0"/>
                  </a:srgbClr>
                </a:solidFill>
                <a:effectLst/>
                <a:uLnTx/>
                <a:uFillTx/>
                <a:latin typeface="微软雅黑" panose="020B0503020204020204" pitchFamily="34" charset="-122"/>
                <a:ea typeface="微软雅黑" panose="020B0503020204020204" pitchFamily="34" charset="-122"/>
                <a:cs typeface="Arial"/>
              </a:rPr>
              <a:t>行业</a:t>
            </a:r>
            <a:r>
              <a:rPr kumimoji="0" lang="en-US" altLang="zh-CN" sz="133" b="0" i="0" u="none" strike="noStrike" kern="1200" cap="none" spc="0" normalizeH="0" baseline="0" noProof="0">
                <a:ln>
                  <a:noFill/>
                </a:ln>
                <a:solidFill>
                  <a:srgbClr val="000000">
                    <a:alpha val="0"/>
                  </a:srgbClr>
                </a:solidFill>
                <a:effectLst/>
                <a:uLnTx/>
                <a:uFillTx/>
                <a:latin typeface="微软雅黑" panose="020B0503020204020204" pitchFamily="34" charset="-122"/>
                <a:ea typeface="微软雅黑" panose="020B0503020204020204" pitchFamily="34" charset="-122"/>
                <a:cs typeface="Arial"/>
              </a:rPr>
              <a:t>PPT</a:t>
            </a:r>
            <a:r>
              <a:rPr kumimoji="0" lang="zh-CN" altLang="en-US" sz="133" b="0" i="0" u="none" strike="noStrike" kern="1200" cap="none" spc="0" normalizeH="0" baseline="0" noProof="0">
                <a:ln>
                  <a:noFill/>
                </a:ln>
                <a:solidFill>
                  <a:srgbClr val="000000">
                    <a:alpha val="0"/>
                  </a:srgbClr>
                </a:solidFill>
                <a:effectLst/>
                <a:uLnTx/>
                <a:uFillTx/>
                <a:latin typeface="微软雅黑" panose="020B0503020204020204" pitchFamily="34" charset="-122"/>
                <a:ea typeface="微软雅黑" panose="020B0503020204020204" pitchFamily="34" charset="-122"/>
                <a:cs typeface="Arial"/>
              </a:rPr>
              <a:t>模板</a:t>
            </a:r>
            <a:r>
              <a:rPr kumimoji="0" lang="en-US" altLang="zh-CN" sz="133" b="0" i="0" u="none" strike="noStrike" kern="1200" cap="none" spc="0" normalizeH="0" baseline="0" noProof="0">
                <a:ln>
                  <a:noFill/>
                </a:ln>
                <a:solidFill>
                  <a:srgbClr val="000000">
                    <a:alpha val="0"/>
                  </a:srgbClr>
                </a:solidFill>
                <a:effectLst/>
                <a:uLnTx/>
                <a:uFillTx/>
                <a:latin typeface="微软雅黑" panose="020B0503020204020204" pitchFamily="34" charset="-122"/>
                <a:ea typeface="微软雅黑" panose="020B0503020204020204" pitchFamily="34" charset="-122"/>
                <a:cs typeface="Arial"/>
              </a:rPr>
              <a:t>http://www.1ppt.com/hangye/</a:t>
            </a:r>
          </a:p>
        </p:txBody>
      </p:sp>
      <p:sp>
        <p:nvSpPr>
          <p:cNvPr id="26" name="TextBox 25"/>
          <p:cNvSpPr txBox="1"/>
          <p:nvPr/>
        </p:nvSpPr>
        <p:spPr>
          <a:xfrm>
            <a:off x="2152651" y="3166487"/>
            <a:ext cx="8275322" cy="1077218"/>
          </a:xfrm>
          <a:prstGeom prst="rect">
            <a:avLst/>
          </a:prstGeom>
          <a:noFill/>
        </p:spPr>
        <p:txBody>
          <a:bodyPr wrap="square" rtlCol="0">
            <a:spAutoFit/>
          </a:bodyPr>
          <a:lstStyle/>
          <a:p>
            <a:pPr lvl="0" algn="ctr" defTabSz="1219232">
              <a:defRPr/>
            </a:pPr>
            <a:r>
              <a:rPr lang="vi-VN" sz="3200" b="1">
                <a:solidFill>
                  <a:srgbClr val="000000">
                    <a:lumMod val="75000"/>
                    <a:lumOff val="25000"/>
                  </a:srgbClr>
                </a:solidFill>
                <a:latin typeface="FS Magistral Bold" panose="020B0804030204080304" pitchFamily="34" charset="0"/>
              </a:rPr>
              <a:t>KICKOFF CHƯƠNG TRÌNH </a:t>
            </a:r>
            <a:endParaRPr lang="en-US" sz="3200" b="1">
              <a:solidFill>
                <a:srgbClr val="000000">
                  <a:lumMod val="75000"/>
                  <a:lumOff val="25000"/>
                </a:srgbClr>
              </a:solidFill>
              <a:latin typeface="FS Magistral Bold" panose="020B0804030204080304" pitchFamily="34" charset="0"/>
            </a:endParaRPr>
          </a:p>
          <a:p>
            <a:pPr lvl="0" algn="ctr" defTabSz="1219232">
              <a:defRPr/>
            </a:pPr>
            <a:r>
              <a:rPr lang="vi-VN" sz="3200" b="1">
                <a:solidFill>
                  <a:srgbClr val="000000">
                    <a:lumMod val="75000"/>
                    <a:lumOff val="25000"/>
                  </a:srgbClr>
                </a:solidFill>
                <a:latin typeface="FS Magistral Bold" panose="020B0804030204080304" pitchFamily="34" charset="0"/>
              </a:rPr>
              <a:t>CƠ ĐIỆN</a:t>
            </a:r>
            <a:r>
              <a:rPr lang="en-US" sz="3200" b="1">
                <a:solidFill>
                  <a:srgbClr val="000000">
                    <a:lumMod val="75000"/>
                    <a:lumOff val="25000"/>
                  </a:srgbClr>
                </a:solidFill>
                <a:latin typeface="FS Magistral Bold" panose="020B0804030204080304" pitchFamily="34" charset="0"/>
              </a:rPr>
              <a:t> &amp; NĂNG LƯỢNG</a:t>
            </a:r>
            <a:r>
              <a:rPr lang="vi-VN" sz="3200" b="1">
                <a:solidFill>
                  <a:srgbClr val="000000">
                    <a:lumMod val="75000"/>
                    <a:lumOff val="25000"/>
                  </a:srgbClr>
                </a:solidFill>
                <a:latin typeface="FS Magistral Bold" panose="020B0804030204080304" pitchFamily="34" charset="0"/>
              </a:rPr>
              <a:t> </a:t>
            </a:r>
            <a:r>
              <a:rPr lang="en-US" sz="3200" b="1">
                <a:solidFill>
                  <a:srgbClr val="000000">
                    <a:lumMod val="75000"/>
                    <a:lumOff val="25000"/>
                  </a:srgbClr>
                </a:solidFill>
                <a:latin typeface="FS Magistral Bold" panose="020B0804030204080304" pitchFamily="34" charset="0"/>
              </a:rPr>
              <a:t>QUÝ IV</a:t>
            </a:r>
            <a:r>
              <a:rPr lang="vi-VN" sz="3200" b="1">
                <a:solidFill>
                  <a:srgbClr val="000000">
                    <a:lumMod val="75000"/>
                    <a:lumOff val="25000"/>
                  </a:srgbClr>
                </a:solidFill>
                <a:latin typeface="FS Magistral Bold" panose="020B0804030204080304" pitchFamily="34" charset="0"/>
              </a:rPr>
              <a:t> 2024</a:t>
            </a:r>
          </a:p>
        </p:txBody>
      </p:sp>
      <p:sp>
        <p:nvSpPr>
          <p:cNvPr id="28" name="TextBox 27">
            <a:extLst>
              <a:ext uri="{FF2B5EF4-FFF2-40B4-BE49-F238E27FC236}">
                <a16:creationId xmlns:a16="http://schemas.microsoft.com/office/drawing/2014/main" id="{D6C66D1B-EB69-4280-A3CB-6EF57172B2CD}"/>
              </a:ext>
            </a:extLst>
          </p:cNvPr>
          <p:cNvSpPr txBox="1"/>
          <p:nvPr/>
        </p:nvSpPr>
        <p:spPr>
          <a:xfrm>
            <a:off x="5225244" y="2679903"/>
            <a:ext cx="1837898" cy="523220"/>
          </a:xfrm>
          <a:prstGeom prst="rect">
            <a:avLst/>
          </a:prstGeom>
          <a:noFill/>
        </p:spPr>
        <p:txBody>
          <a:bodyPr wrap="square" rtlCol="0">
            <a:spAutoFit/>
          </a:bodyPr>
          <a:lstStyle/>
          <a:p>
            <a:pPr marL="0" marR="0" lvl="0" indent="0" algn="l" defTabSz="1219232"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C0504D">
                    <a:lumMod val="75000"/>
                  </a:srgbClr>
                </a:solidFill>
                <a:effectLst/>
                <a:uLnTx/>
                <a:uFillTx/>
                <a:latin typeface="FS Magistral Bold" panose="020B0804030204080304" pitchFamily="34" charset="0"/>
                <a:ea typeface="微软雅黑"/>
                <a:cs typeface="Arial"/>
              </a:rPr>
              <a:t>PHẦN 2:</a:t>
            </a:r>
            <a:endParaRPr kumimoji="0" lang="vi-VN" sz="2800" b="1" i="0" u="none" strike="noStrike" kern="1200" cap="none" spc="0" normalizeH="0" baseline="0" noProof="0" err="1">
              <a:ln>
                <a:noFill/>
              </a:ln>
              <a:solidFill>
                <a:srgbClr val="C0504D">
                  <a:lumMod val="75000"/>
                </a:srgbClr>
              </a:solidFill>
              <a:effectLst/>
              <a:uLnTx/>
              <a:uFillTx/>
              <a:latin typeface="FS Magistral Bold" panose="020B0804030204080304" pitchFamily="34" charset="0"/>
              <a:ea typeface="微软雅黑"/>
              <a:cs typeface="Arial"/>
            </a:endParaRPr>
          </a:p>
        </p:txBody>
      </p:sp>
    </p:spTree>
    <p:extLst>
      <p:ext uri="{BB962C8B-B14F-4D97-AF65-F5344CB8AC3E}">
        <p14:creationId xmlns:p14="http://schemas.microsoft.com/office/powerpoint/2010/main" val="139763269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marL="0" marR="0" lvl="0" indent="0" algn="l" defTabSz="1219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C0504D">
                    <a:lumMod val="75000"/>
                  </a:srgbClr>
                </a:solidFill>
                <a:effectLst/>
                <a:uLnTx/>
                <a:uFillTx/>
                <a:latin typeface="FS Magistral Bold" panose="020B0804030204080304" pitchFamily="34" charset="0"/>
                <a:ea typeface="+mn-ea"/>
                <a:cs typeface="+mn-cs"/>
              </a:rPr>
              <a:t>2.1. MỤC TIÊU ĐIỀU HÀNH 3TCN 2024</a:t>
            </a:r>
            <a:endParaRPr kumimoji="0" lang="vi-VN" sz="2400" b="1" i="0" u="none" strike="noStrike" kern="1200" cap="none" spc="0" normalizeH="0" baseline="0" noProof="0" err="1">
              <a:ln>
                <a:noFill/>
              </a:ln>
              <a:solidFill>
                <a:prstClr val="black">
                  <a:lumMod val="75000"/>
                  <a:lumOff val="25000"/>
                </a:prstClr>
              </a:solidFill>
              <a:effectLst/>
              <a:uLnTx/>
              <a:uFillTx/>
              <a:latin typeface="FS Magistral Bold" panose="020B0804030204080304" pitchFamily="34" charset="0"/>
              <a:ea typeface="+mn-ea"/>
              <a:cs typeface="+mn-cs"/>
            </a:endParaRPr>
          </a:p>
        </p:txBody>
      </p:sp>
      <p:graphicFrame>
        <p:nvGraphicFramePr>
          <p:cNvPr id="233" name="Table 232">
            <a:extLst>
              <a:ext uri="{FF2B5EF4-FFF2-40B4-BE49-F238E27FC236}">
                <a16:creationId xmlns:a16="http://schemas.microsoft.com/office/drawing/2014/main" id="{55DB6C09-8307-4395-BDBD-A49B5CFAD5A5}"/>
              </a:ext>
            </a:extLst>
          </p:cNvPr>
          <p:cNvGraphicFramePr>
            <a:graphicFrameLocks noGrp="1"/>
          </p:cNvGraphicFramePr>
          <p:nvPr/>
        </p:nvGraphicFramePr>
        <p:xfrm>
          <a:off x="90635" y="3228809"/>
          <a:ext cx="3024592" cy="2412714"/>
        </p:xfrm>
        <a:graphic>
          <a:graphicData uri="http://schemas.openxmlformats.org/drawingml/2006/table">
            <a:tbl>
              <a:tblPr firstRow="1" bandRow="1"/>
              <a:tblGrid>
                <a:gridCol w="1604356">
                  <a:extLst>
                    <a:ext uri="{9D8B030D-6E8A-4147-A177-3AD203B41FA5}">
                      <a16:colId xmlns:a16="http://schemas.microsoft.com/office/drawing/2014/main" val="20000"/>
                    </a:ext>
                  </a:extLst>
                </a:gridCol>
                <a:gridCol w="748147">
                  <a:extLst>
                    <a:ext uri="{9D8B030D-6E8A-4147-A177-3AD203B41FA5}">
                      <a16:colId xmlns:a16="http://schemas.microsoft.com/office/drawing/2014/main" val="20001"/>
                    </a:ext>
                  </a:extLst>
                </a:gridCol>
                <a:gridCol w="672089">
                  <a:extLst>
                    <a:ext uri="{9D8B030D-6E8A-4147-A177-3AD203B41FA5}">
                      <a16:colId xmlns:a16="http://schemas.microsoft.com/office/drawing/2014/main" val="20003"/>
                    </a:ext>
                  </a:extLst>
                </a:gridCol>
              </a:tblGrid>
              <a:tr h="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a:latin typeface="Cambria" panose="02040503050406030204" pitchFamily="18" charset="0"/>
                          <a:ea typeface="Cambria" panose="02040503050406030204" pitchFamily="18" charset="0"/>
                          <a:cs typeface="Sarabun" panose="00000500000000000000" pitchFamily="2" charset="-34"/>
                        </a:rPr>
                        <a:t>ĐỐI</a:t>
                      </a:r>
                      <a:r>
                        <a:rPr lang="en-US" sz="1100" baseline="0">
                          <a:latin typeface="Cambria" panose="02040503050406030204" pitchFamily="18" charset="0"/>
                          <a:ea typeface="Cambria" panose="02040503050406030204" pitchFamily="18" charset="0"/>
                          <a:cs typeface="Sarabun" panose="00000500000000000000" pitchFamily="2" charset="-34"/>
                        </a:rPr>
                        <a:t> TƯỢNG TRƯỜNG HỌC CƠ ĐIỆN</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dirty="0" err="1">
                          <a:latin typeface="Cambria" panose="02040503050406030204" pitchFamily="18" charset="0"/>
                          <a:ea typeface="Cambria" panose="02040503050406030204" pitchFamily="18" charset="0"/>
                          <a:cs typeface="Sarabun" panose="00000500000000000000" pitchFamily="2" charset="-34"/>
                        </a:rPr>
                        <a:t>Giai</a:t>
                      </a:r>
                      <a:r>
                        <a:rPr lang="en-US" sz="1100" dirty="0">
                          <a:latin typeface="Cambria" panose="02040503050406030204" pitchFamily="18" charset="0"/>
                          <a:ea typeface="Cambria" panose="02040503050406030204" pitchFamily="18" charset="0"/>
                          <a:cs typeface="Sarabun" panose="00000500000000000000" pitchFamily="2" charset="-34"/>
                        </a:rPr>
                        <a:t> </a:t>
                      </a:r>
                      <a:r>
                        <a:rPr lang="en-US" sz="1100" dirty="0" err="1">
                          <a:latin typeface="Cambria" panose="02040503050406030204" pitchFamily="18" charset="0"/>
                          <a:ea typeface="Cambria" panose="02040503050406030204" pitchFamily="18" charset="0"/>
                          <a:cs typeface="Sarabun" panose="00000500000000000000" pitchFamily="2" charset="-34"/>
                        </a:rPr>
                        <a:t>đoạn</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a:latin typeface="Cambria" panose="02040503050406030204" pitchFamily="18" charset="0"/>
                          <a:ea typeface="Cambria" panose="02040503050406030204" pitchFamily="18" charset="0"/>
                          <a:cs typeface="Sarabun" panose="00000500000000000000" pitchFamily="2" charset="-34"/>
                        </a:rPr>
                        <a:t>Số KH</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661998">
                <a:tc rowSpan="3">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US" sz="1100" dirty="0">
                        <a:latin typeface="Cambria" panose="02040503050406030204" pitchFamily="18" charset="0"/>
                        <a:ea typeface="Cambria" panose="02040503050406030204" pitchFamily="18"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dirty="0" err="1">
                          <a:latin typeface="Cambria" panose="02040503050406030204" pitchFamily="18" charset="0"/>
                          <a:ea typeface="Cambria" panose="02040503050406030204" pitchFamily="18" charset="0"/>
                          <a:cs typeface="Sarabun" panose="00000500000000000000" pitchFamily="2" charset="-34"/>
                        </a:rPr>
                        <a:t>Tiếp</a:t>
                      </a:r>
                      <a:r>
                        <a:rPr lang="en-US" sz="1100" b="1" baseline="0" dirty="0">
                          <a:latin typeface="Cambria" panose="02040503050406030204" pitchFamily="18" charset="0"/>
                          <a:ea typeface="Cambria" panose="02040503050406030204" pitchFamily="18" charset="0"/>
                          <a:cs typeface="Sarabun" panose="00000500000000000000" pitchFamily="2" charset="-34"/>
                        </a:rPr>
                        <a:t> </a:t>
                      </a:r>
                      <a:r>
                        <a:rPr lang="en-US" sz="1100" b="1" baseline="0" dirty="0" err="1">
                          <a:latin typeface="Cambria" panose="02040503050406030204" pitchFamily="18" charset="0"/>
                          <a:ea typeface="Cambria" panose="02040503050406030204" pitchFamily="18" charset="0"/>
                          <a:cs typeface="Sarabun" panose="00000500000000000000" pitchFamily="2" charset="-34"/>
                        </a:rPr>
                        <a:t>xúc</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13,507</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001"/>
                  </a:ext>
                </a:extLst>
              </a:tr>
              <a:tr h="661998">
                <a:tc vMerge="1">
                  <a:txBody>
                    <a:bodyPr/>
                    <a:lstStyle/>
                    <a:p>
                      <a:pPr algn="ctr"/>
                      <a:endParaRPr lang="en-US" dirty="0"/>
                    </a:p>
                  </a:txBody>
                  <a:tcPr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baseline="0">
                          <a:latin typeface="Cambria" panose="02040503050406030204" pitchFamily="18" charset="0"/>
                          <a:ea typeface="Cambria" panose="02040503050406030204" pitchFamily="18" charset="0"/>
                          <a:cs typeface="Sarabun" panose="00000500000000000000" pitchFamily="2" charset="-34"/>
                        </a:rPr>
                        <a:t>Thiết kế chào giá</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7E4BD"/>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9,455</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7E4BD"/>
                    </a:solidFill>
                  </a:tcPr>
                </a:tc>
                <a:extLst>
                  <a:ext uri="{0D108BD9-81ED-4DB2-BD59-A6C34878D82A}">
                    <a16:rowId xmlns:a16="http://schemas.microsoft.com/office/drawing/2014/main" val="10002"/>
                  </a:ext>
                </a:extLst>
              </a:tr>
              <a:tr h="661998">
                <a:tc vMerge="1">
                  <a:txBody>
                    <a:bodyPr/>
                    <a:lstStyle/>
                    <a:p>
                      <a:pPr algn="ctr"/>
                      <a:endParaRPr lang="en-US" dirty="0"/>
                    </a:p>
                  </a:txBody>
                  <a:tcPr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err="1">
                          <a:latin typeface="Cambria" panose="02040503050406030204" pitchFamily="18" charset="0"/>
                          <a:ea typeface="Cambria" panose="02040503050406030204" pitchFamily="18" charset="0"/>
                          <a:cs typeface="Sarabun" panose="00000500000000000000" pitchFamily="2" charset="-34"/>
                        </a:rPr>
                        <a:t>Ký</a:t>
                      </a:r>
                      <a:r>
                        <a:rPr lang="en-US" sz="1100" b="1" baseline="0">
                          <a:latin typeface="Cambria" panose="02040503050406030204" pitchFamily="18" charset="0"/>
                          <a:ea typeface="Cambria" panose="02040503050406030204" pitchFamily="18" charset="0"/>
                          <a:cs typeface="Sarabun" panose="00000500000000000000" pitchFamily="2" charset="-34"/>
                        </a:rPr>
                        <a:t> HĐ</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75000"/>
                      </a:sys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4,776</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0003"/>
                  </a:ext>
                </a:extLst>
              </a:tr>
            </a:tbl>
          </a:graphicData>
        </a:graphic>
      </p:graphicFrame>
      <p:pic>
        <p:nvPicPr>
          <p:cNvPr id="235" name="Picture 234">
            <a:extLst>
              <a:ext uri="{FF2B5EF4-FFF2-40B4-BE49-F238E27FC236}">
                <a16:creationId xmlns:a16="http://schemas.microsoft.com/office/drawing/2014/main" id="{65A6267A-D0FF-4BA6-A53B-7A5F6EFE9074}"/>
              </a:ext>
            </a:extLst>
          </p:cNvPr>
          <p:cNvPicPr>
            <a:picLocks noChangeAspect="1"/>
          </p:cNvPicPr>
          <p:nvPr/>
        </p:nvPicPr>
        <p:blipFill>
          <a:blip r:embed="rId3"/>
          <a:stretch>
            <a:fillRect/>
          </a:stretch>
        </p:blipFill>
        <p:spPr>
          <a:xfrm>
            <a:off x="490734" y="3716707"/>
            <a:ext cx="946717" cy="1825029"/>
          </a:xfrm>
          <a:prstGeom prst="rect">
            <a:avLst/>
          </a:prstGeom>
        </p:spPr>
      </p:pic>
      <p:sp>
        <p:nvSpPr>
          <p:cNvPr id="237" name="Arc 236">
            <a:extLst>
              <a:ext uri="{FF2B5EF4-FFF2-40B4-BE49-F238E27FC236}">
                <a16:creationId xmlns:a16="http://schemas.microsoft.com/office/drawing/2014/main" id="{70A6D76B-71E7-49BC-87AA-B6F9AB228F72}"/>
              </a:ext>
            </a:extLst>
          </p:cNvPr>
          <p:cNvSpPr/>
          <p:nvPr/>
        </p:nvSpPr>
        <p:spPr>
          <a:xfrm rot="553424">
            <a:off x="2228887" y="3782878"/>
            <a:ext cx="1119466" cy="983933"/>
          </a:xfrm>
          <a:prstGeom prst="arc">
            <a:avLst>
              <a:gd name="adj1" fmla="val 18378101"/>
              <a:gd name="adj2" fmla="val 2185230"/>
            </a:avLst>
          </a:prstGeom>
          <a:ln w="12700">
            <a:solidFill>
              <a:srgbClr val="C0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9" name="Arc 238">
            <a:extLst>
              <a:ext uri="{FF2B5EF4-FFF2-40B4-BE49-F238E27FC236}">
                <a16:creationId xmlns:a16="http://schemas.microsoft.com/office/drawing/2014/main" id="{0FB4EFD8-D8C7-4A16-A4FC-BAA6D9AF2B31}"/>
              </a:ext>
            </a:extLst>
          </p:cNvPr>
          <p:cNvSpPr/>
          <p:nvPr/>
        </p:nvSpPr>
        <p:spPr>
          <a:xfrm rot="553424">
            <a:off x="2236125" y="4552063"/>
            <a:ext cx="1119466" cy="983933"/>
          </a:xfrm>
          <a:prstGeom prst="arc">
            <a:avLst>
              <a:gd name="adj1" fmla="val 18378101"/>
              <a:gd name="adj2" fmla="val 2185230"/>
            </a:avLst>
          </a:prstGeom>
          <a:ln w="12700">
            <a:solidFill>
              <a:srgbClr val="C0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3" name="Arc 242">
            <a:extLst>
              <a:ext uri="{FF2B5EF4-FFF2-40B4-BE49-F238E27FC236}">
                <a16:creationId xmlns:a16="http://schemas.microsoft.com/office/drawing/2014/main" id="{8F4E7BC7-72E6-465C-BA6D-D9D7F898869D}"/>
              </a:ext>
            </a:extLst>
          </p:cNvPr>
          <p:cNvSpPr/>
          <p:nvPr/>
        </p:nvSpPr>
        <p:spPr>
          <a:xfrm>
            <a:off x="2645849" y="3794325"/>
            <a:ext cx="1119466" cy="1755749"/>
          </a:xfrm>
          <a:prstGeom prst="arc">
            <a:avLst>
              <a:gd name="adj1" fmla="val 16340859"/>
              <a:gd name="adj2" fmla="val 5275267"/>
            </a:avLst>
          </a:prstGeom>
          <a:ln w="12700">
            <a:solidFill>
              <a:srgbClr val="43682A"/>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5" name="TextBox 244">
            <a:extLst>
              <a:ext uri="{FF2B5EF4-FFF2-40B4-BE49-F238E27FC236}">
                <a16:creationId xmlns:a16="http://schemas.microsoft.com/office/drawing/2014/main" id="{49E997D7-E783-4937-8381-E8B997BD668A}"/>
              </a:ext>
            </a:extLst>
          </p:cNvPr>
          <p:cNvSpPr txBox="1"/>
          <p:nvPr/>
        </p:nvSpPr>
        <p:spPr>
          <a:xfrm rot="5400000">
            <a:off x="3164021" y="4175196"/>
            <a:ext cx="64644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70%</a:t>
            </a:r>
          </a:p>
        </p:txBody>
      </p:sp>
      <p:sp>
        <p:nvSpPr>
          <p:cNvPr id="247" name="TextBox 246">
            <a:extLst>
              <a:ext uri="{FF2B5EF4-FFF2-40B4-BE49-F238E27FC236}">
                <a16:creationId xmlns:a16="http://schemas.microsoft.com/office/drawing/2014/main" id="{FB36158F-75A7-4DE1-9562-2B9C27BBCB2C}"/>
              </a:ext>
            </a:extLst>
          </p:cNvPr>
          <p:cNvSpPr txBox="1"/>
          <p:nvPr/>
        </p:nvSpPr>
        <p:spPr>
          <a:xfrm rot="5400000">
            <a:off x="3164020" y="4916444"/>
            <a:ext cx="64644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51%</a:t>
            </a:r>
          </a:p>
        </p:txBody>
      </p:sp>
      <p:sp>
        <p:nvSpPr>
          <p:cNvPr id="250" name="TextBox 249">
            <a:extLst>
              <a:ext uri="{FF2B5EF4-FFF2-40B4-BE49-F238E27FC236}">
                <a16:creationId xmlns:a16="http://schemas.microsoft.com/office/drawing/2014/main" id="{E277B3C9-8C3A-421E-9E2C-C7D55B8B0598}"/>
              </a:ext>
            </a:extLst>
          </p:cNvPr>
          <p:cNvSpPr txBox="1"/>
          <p:nvPr/>
        </p:nvSpPr>
        <p:spPr>
          <a:xfrm rot="5400000">
            <a:off x="3415796" y="4601691"/>
            <a:ext cx="971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35%</a:t>
            </a:r>
          </a:p>
        </p:txBody>
      </p:sp>
      <p:graphicFrame>
        <p:nvGraphicFramePr>
          <p:cNvPr id="251" name="Table 250">
            <a:extLst>
              <a:ext uri="{FF2B5EF4-FFF2-40B4-BE49-F238E27FC236}">
                <a16:creationId xmlns:a16="http://schemas.microsoft.com/office/drawing/2014/main" id="{55DB6C09-8307-4395-BDBD-A49B5CFAD5A5}"/>
              </a:ext>
            </a:extLst>
          </p:cNvPr>
          <p:cNvGraphicFramePr>
            <a:graphicFrameLocks noGrp="1"/>
          </p:cNvGraphicFramePr>
          <p:nvPr/>
        </p:nvGraphicFramePr>
        <p:xfrm>
          <a:off x="4250503" y="3243280"/>
          <a:ext cx="2898692" cy="2412714"/>
        </p:xfrm>
        <a:graphic>
          <a:graphicData uri="http://schemas.openxmlformats.org/drawingml/2006/table">
            <a:tbl>
              <a:tblPr firstRow="1" bandRow="1"/>
              <a:tblGrid>
                <a:gridCol w="1517695">
                  <a:extLst>
                    <a:ext uri="{9D8B030D-6E8A-4147-A177-3AD203B41FA5}">
                      <a16:colId xmlns:a16="http://schemas.microsoft.com/office/drawing/2014/main" val="20000"/>
                    </a:ext>
                  </a:extLst>
                </a:gridCol>
                <a:gridCol w="740917">
                  <a:extLst>
                    <a:ext uri="{9D8B030D-6E8A-4147-A177-3AD203B41FA5}">
                      <a16:colId xmlns:a16="http://schemas.microsoft.com/office/drawing/2014/main" val="20001"/>
                    </a:ext>
                  </a:extLst>
                </a:gridCol>
                <a:gridCol w="640080">
                  <a:extLst>
                    <a:ext uri="{9D8B030D-6E8A-4147-A177-3AD203B41FA5}">
                      <a16:colId xmlns:a16="http://schemas.microsoft.com/office/drawing/2014/main" val="20003"/>
                    </a:ext>
                  </a:extLst>
                </a:gridCol>
              </a:tblGrid>
              <a:tr h="39241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a:latin typeface="Cambria" panose="02040503050406030204" pitchFamily="18" charset="0"/>
                          <a:ea typeface="Cambria" panose="02040503050406030204" pitchFamily="18" charset="0"/>
                          <a:cs typeface="Sarabun" panose="00000500000000000000" pitchFamily="2" charset="-34"/>
                        </a:rPr>
                        <a:t>ĐỐI</a:t>
                      </a:r>
                      <a:r>
                        <a:rPr lang="en-US" sz="1100" baseline="0">
                          <a:latin typeface="Cambria" panose="02040503050406030204" pitchFamily="18" charset="0"/>
                          <a:ea typeface="Cambria" panose="02040503050406030204" pitchFamily="18" charset="0"/>
                          <a:cs typeface="Sarabun" panose="00000500000000000000" pitchFamily="2" charset="-34"/>
                        </a:rPr>
                        <a:t> TƯỢNG DN/SBN CƠ ĐIỆN &gt; 500Trđ</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dirty="0" err="1">
                          <a:latin typeface="Cambria" panose="02040503050406030204" pitchFamily="18" charset="0"/>
                          <a:ea typeface="Cambria" panose="02040503050406030204" pitchFamily="18" charset="0"/>
                          <a:cs typeface="Sarabun" panose="00000500000000000000" pitchFamily="2" charset="-34"/>
                        </a:rPr>
                        <a:t>Giai</a:t>
                      </a:r>
                      <a:r>
                        <a:rPr lang="en-US" sz="1100" dirty="0">
                          <a:latin typeface="Cambria" panose="02040503050406030204" pitchFamily="18" charset="0"/>
                          <a:ea typeface="Cambria" panose="02040503050406030204" pitchFamily="18" charset="0"/>
                          <a:cs typeface="Sarabun" panose="00000500000000000000" pitchFamily="2" charset="-34"/>
                        </a:rPr>
                        <a:t> </a:t>
                      </a:r>
                      <a:r>
                        <a:rPr lang="en-US" sz="1100" dirty="0" err="1">
                          <a:latin typeface="Cambria" panose="02040503050406030204" pitchFamily="18" charset="0"/>
                          <a:ea typeface="Cambria" panose="02040503050406030204" pitchFamily="18" charset="0"/>
                          <a:cs typeface="Sarabun" panose="00000500000000000000" pitchFamily="2" charset="-34"/>
                        </a:rPr>
                        <a:t>đoạn</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a:latin typeface="Cambria" panose="02040503050406030204" pitchFamily="18" charset="0"/>
                          <a:ea typeface="Cambria" panose="02040503050406030204" pitchFamily="18" charset="0"/>
                          <a:cs typeface="Sarabun" panose="00000500000000000000" pitchFamily="2" charset="-34"/>
                        </a:rPr>
                        <a:t>Số KH</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661998">
                <a:tc rowSpan="3">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US" sz="1100" dirty="0">
                        <a:latin typeface="Cambria" panose="02040503050406030204" pitchFamily="18" charset="0"/>
                        <a:ea typeface="Cambria" panose="02040503050406030204" pitchFamily="18"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dirty="0" err="1">
                          <a:latin typeface="Cambria" panose="02040503050406030204" pitchFamily="18" charset="0"/>
                          <a:ea typeface="Cambria" panose="02040503050406030204" pitchFamily="18" charset="0"/>
                          <a:cs typeface="Sarabun" panose="00000500000000000000" pitchFamily="2" charset="-34"/>
                        </a:rPr>
                        <a:t>Tiếp</a:t>
                      </a:r>
                      <a:r>
                        <a:rPr lang="en-US" sz="1100" b="1" baseline="0" dirty="0">
                          <a:latin typeface="Cambria" panose="02040503050406030204" pitchFamily="18" charset="0"/>
                          <a:ea typeface="Cambria" panose="02040503050406030204" pitchFamily="18" charset="0"/>
                          <a:cs typeface="Sarabun" panose="00000500000000000000" pitchFamily="2" charset="-34"/>
                        </a:rPr>
                        <a:t> </a:t>
                      </a:r>
                      <a:r>
                        <a:rPr lang="en-US" sz="1100" b="1" baseline="0" dirty="0" err="1">
                          <a:latin typeface="Cambria" panose="02040503050406030204" pitchFamily="18" charset="0"/>
                          <a:ea typeface="Cambria" panose="02040503050406030204" pitchFamily="18" charset="0"/>
                          <a:cs typeface="Sarabun" panose="00000500000000000000" pitchFamily="2" charset="-34"/>
                        </a:rPr>
                        <a:t>xúc</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3,570</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001"/>
                  </a:ext>
                </a:extLst>
              </a:tr>
              <a:tr h="661998">
                <a:tc vMerge="1">
                  <a:txBody>
                    <a:bodyPr/>
                    <a:lstStyle/>
                    <a:p>
                      <a:pPr algn="ctr"/>
                      <a:endParaRPr lang="en-US" dirty="0"/>
                    </a:p>
                  </a:txBody>
                  <a:tcPr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baseline="0">
                          <a:latin typeface="Cambria" panose="02040503050406030204" pitchFamily="18" charset="0"/>
                          <a:ea typeface="Cambria" panose="02040503050406030204" pitchFamily="18" charset="0"/>
                          <a:cs typeface="Sarabun" panose="00000500000000000000" pitchFamily="2" charset="-34"/>
                        </a:rPr>
                        <a:t>Thiết kế chào giá</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3">
                        <a:lumMod val="40000"/>
                        <a:lumOff val="6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1,785</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2"/>
                  </a:ext>
                </a:extLst>
              </a:tr>
              <a:tr h="661998">
                <a:tc vMerge="1">
                  <a:txBody>
                    <a:bodyPr/>
                    <a:lstStyle/>
                    <a:p>
                      <a:pPr algn="ctr"/>
                      <a:endParaRPr lang="en-US" dirty="0"/>
                    </a:p>
                  </a:txBody>
                  <a:tcPr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err="1">
                          <a:latin typeface="Cambria" panose="02040503050406030204" pitchFamily="18" charset="0"/>
                          <a:ea typeface="Cambria" panose="02040503050406030204" pitchFamily="18" charset="0"/>
                          <a:cs typeface="Sarabun" panose="00000500000000000000" pitchFamily="2" charset="-34"/>
                        </a:rPr>
                        <a:t>Ký</a:t>
                      </a:r>
                      <a:r>
                        <a:rPr lang="en-US" sz="1100" b="1" baseline="0">
                          <a:latin typeface="Cambria" panose="02040503050406030204" pitchFamily="18" charset="0"/>
                          <a:ea typeface="Cambria" panose="02040503050406030204" pitchFamily="18" charset="0"/>
                          <a:cs typeface="Sarabun" panose="00000500000000000000" pitchFamily="2" charset="-34"/>
                        </a:rPr>
                        <a:t> HĐ</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75000"/>
                      </a:sys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438</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0003"/>
                  </a:ext>
                </a:extLst>
              </a:tr>
            </a:tbl>
          </a:graphicData>
        </a:graphic>
      </p:graphicFrame>
      <p:pic>
        <p:nvPicPr>
          <p:cNvPr id="253" name="Picture 252">
            <a:extLst>
              <a:ext uri="{FF2B5EF4-FFF2-40B4-BE49-F238E27FC236}">
                <a16:creationId xmlns:a16="http://schemas.microsoft.com/office/drawing/2014/main" id="{65A6267A-D0FF-4BA6-A53B-7A5F6EFE9074}"/>
              </a:ext>
            </a:extLst>
          </p:cNvPr>
          <p:cNvPicPr>
            <a:picLocks noChangeAspect="1"/>
          </p:cNvPicPr>
          <p:nvPr/>
        </p:nvPicPr>
        <p:blipFill>
          <a:blip r:embed="rId3"/>
          <a:stretch>
            <a:fillRect/>
          </a:stretch>
        </p:blipFill>
        <p:spPr>
          <a:xfrm>
            <a:off x="4525185" y="3734824"/>
            <a:ext cx="946717" cy="1825029"/>
          </a:xfrm>
          <a:prstGeom prst="rect">
            <a:avLst/>
          </a:prstGeom>
        </p:spPr>
      </p:pic>
      <p:sp>
        <p:nvSpPr>
          <p:cNvPr id="255" name="Arc 254">
            <a:extLst>
              <a:ext uri="{FF2B5EF4-FFF2-40B4-BE49-F238E27FC236}">
                <a16:creationId xmlns:a16="http://schemas.microsoft.com/office/drawing/2014/main" id="{70A6D76B-71E7-49BC-87AA-B6F9AB228F72}"/>
              </a:ext>
            </a:extLst>
          </p:cNvPr>
          <p:cNvSpPr/>
          <p:nvPr/>
        </p:nvSpPr>
        <p:spPr>
          <a:xfrm rot="553424">
            <a:off x="6203449" y="3754371"/>
            <a:ext cx="1119466" cy="983933"/>
          </a:xfrm>
          <a:prstGeom prst="arc">
            <a:avLst>
              <a:gd name="adj1" fmla="val 18378101"/>
              <a:gd name="adj2" fmla="val 2185230"/>
            </a:avLst>
          </a:prstGeom>
          <a:ln w="12700">
            <a:solidFill>
              <a:srgbClr val="C0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6" name="Arc 255">
            <a:extLst>
              <a:ext uri="{FF2B5EF4-FFF2-40B4-BE49-F238E27FC236}">
                <a16:creationId xmlns:a16="http://schemas.microsoft.com/office/drawing/2014/main" id="{0FB4EFD8-D8C7-4A16-A4FC-BAA6D9AF2B31}"/>
              </a:ext>
            </a:extLst>
          </p:cNvPr>
          <p:cNvSpPr/>
          <p:nvPr/>
        </p:nvSpPr>
        <p:spPr>
          <a:xfrm rot="553424">
            <a:off x="6210687" y="4523556"/>
            <a:ext cx="1119466" cy="983933"/>
          </a:xfrm>
          <a:prstGeom prst="arc">
            <a:avLst>
              <a:gd name="adj1" fmla="val 18378101"/>
              <a:gd name="adj2" fmla="val 2185230"/>
            </a:avLst>
          </a:prstGeom>
          <a:ln w="12700">
            <a:solidFill>
              <a:srgbClr val="C0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6" name="Arc 265">
            <a:extLst>
              <a:ext uri="{FF2B5EF4-FFF2-40B4-BE49-F238E27FC236}">
                <a16:creationId xmlns:a16="http://schemas.microsoft.com/office/drawing/2014/main" id="{8F4E7BC7-72E6-465C-BA6D-D9D7F898869D}"/>
              </a:ext>
            </a:extLst>
          </p:cNvPr>
          <p:cNvSpPr/>
          <p:nvPr/>
        </p:nvSpPr>
        <p:spPr>
          <a:xfrm>
            <a:off x="6620411" y="3765818"/>
            <a:ext cx="1119466" cy="1755749"/>
          </a:xfrm>
          <a:prstGeom prst="arc">
            <a:avLst>
              <a:gd name="adj1" fmla="val 16340859"/>
              <a:gd name="adj2" fmla="val 5275267"/>
            </a:avLst>
          </a:prstGeom>
          <a:ln w="12700">
            <a:solidFill>
              <a:srgbClr val="43682A"/>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7" name="TextBox 266">
            <a:extLst>
              <a:ext uri="{FF2B5EF4-FFF2-40B4-BE49-F238E27FC236}">
                <a16:creationId xmlns:a16="http://schemas.microsoft.com/office/drawing/2014/main" id="{49E997D7-E783-4937-8381-E8B997BD668A}"/>
              </a:ext>
            </a:extLst>
          </p:cNvPr>
          <p:cNvSpPr txBox="1"/>
          <p:nvPr/>
        </p:nvSpPr>
        <p:spPr>
          <a:xfrm rot="5400000">
            <a:off x="7138583" y="4146689"/>
            <a:ext cx="64644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50%</a:t>
            </a:r>
          </a:p>
        </p:txBody>
      </p:sp>
      <p:sp>
        <p:nvSpPr>
          <p:cNvPr id="268" name="TextBox 267">
            <a:extLst>
              <a:ext uri="{FF2B5EF4-FFF2-40B4-BE49-F238E27FC236}">
                <a16:creationId xmlns:a16="http://schemas.microsoft.com/office/drawing/2014/main" id="{FB36158F-75A7-4DE1-9562-2B9C27BBCB2C}"/>
              </a:ext>
            </a:extLst>
          </p:cNvPr>
          <p:cNvSpPr txBox="1"/>
          <p:nvPr/>
        </p:nvSpPr>
        <p:spPr>
          <a:xfrm rot="5400000">
            <a:off x="7138582" y="4887937"/>
            <a:ext cx="64644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25%</a:t>
            </a:r>
          </a:p>
        </p:txBody>
      </p:sp>
      <p:sp>
        <p:nvSpPr>
          <p:cNvPr id="269" name="TextBox 268">
            <a:extLst>
              <a:ext uri="{FF2B5EF4-FFF2-40B4-BE49-F238E27FC236}">
                <a16:creationId xmlns:a16="http://schemas.microsoft.com/office/drawing/2014/main" id="{E277B3C9-8C3A-421E-9E2C-C7D55B8B0598}"/>
              </a:ext>
            </a:extLst>
          </p:cNvPr>
          <p:cNvSpPr txBox="1"/>
          <p:nvPr/>
        </p:nvSpPr>
        <p:spPr>
          <a:xfrm rot="5400000">
            <a:off x="7404611" y="4587437"/>
            <a:ext cx="9425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5%</a:t>
            </a:r>
          </a:p>
        </p:txBody>
      </p:sp>
      <p:grpSp>
        <p:nvGrpSpPr>
          <p:cNvPr id="3" name="Group 2"/>
          <p:cNvGrpSpPr/>
          <p:nvPr/>
        </p:nvGrpSpPr>
        <p:grpSpPr>
          <a:xfrm>
            <a:off x="191700" y="5903465"/>
            <a:ext cx="2991445" cy="814879"/>
            <a:chOff x="154303" y="3430587"/>
            <a:chExt cx="2194623" cy="814879"/>
          </a:xfrm>
        </p:grpSpPr>
        <p:sp>
          <p:nvSpPr>
            <p:cNvPr id="270" name="Freeform: Shape 63">
              <a:extLst>
                <a:ext uri="{FF2B5EF4-FFF2-40B4-BE49-F238E27FC236}">
                  <a16:creationId xmlns:a16="http://schemas.microsoft.com/office/drawing/2014/main" id="{6787463B-36C5-8675-A31B-2659919B5167}"/>
                </a:ext>
              </a:extLst>
            </p:cNvPr>
            <p:cNvSpPr/>
            <p:nvPr/>
          </p:nvSpPr>
          <p:spPr>
            <a:xfrm>
              <a:off x="173765" y="3430587"/>
              <a:ext cx="2175161" cy="78073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71" name="Rectangle: Rounded Corners 3">
              <a:extLst>
                <a:ext uri="{FF2B5EF4-FFF2-40B4-BE49-F238E27FC236}">
                  <a16:creationId xmlns:a16="http://schemas.microsoft.com/office/drawing/2014/main" id="{94943815-8BCB-71EA-85E3-5C733B932D97}"/>
                </a:ext>
              </a:extLst>
            </p:cNvPr>
            <p:cNvSpPr/>
            <p:nvPr/>
          </p:nvSpPr>
          <p:spPr>
            <a:xfrm>
              <a:off x="173765" y="3430587"/>
              <a:ext cx="2175161"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272" name="TextBox 271"/>
            <p:cNvSpPr txBox="1"/>
            <p:nvPr/>
          </p:nvSpPr>
          <p:spPr>
            <a:xfrm>
              <a:off x="154303" y="3506802"/>
              <a:ext cx="219462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ARPU: </a:t>
              </a: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30Trđ/Trường mới/ tháng</a:t>
              </a: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ARPU</a:t>
              </a: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 5tr /Trường cũ/ quý</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 NV: </a:t>
              </a: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142 Tỷ </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sp>
        <p:nvSpPr>
          <p:cNvPr id="11" name="Down Arrow 10"/>
          <p:cNvSpPr/>
          <p:nvPr/>
        </p:nvSpPr>
        <p:spPr>
          <a:xfrm>
            <a:off x="1774214" y="5655994"/>
            <a:ext cx="66502" cy="233000"/>
          </a:xfrm>
          <a:prstGeom prst="downArrow">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1" name="Rounded Rectangle 21">
            <a:extLst>
              <a:ext uri="{FF2B5EF4-FFF2-40B4-BE49-F238E27FC236}">
                <a16:creationId xmlns:a16="http://schemas.microsoft.com/office/drawing/2014/main" id="{968D30B1-8008-4BB8-9C82-77C4073B5046}"/>
              </a:ext>
            </a:extLst>
          </p:cNvPr>
          <p:cNvSpPr/>
          <p:nvPr/>
        </p:nvSpPr>
        <p:spPr>
          <a:xfrm>
            <a:off x="913044" y="1341255"/>
            <a:ext cx="2491151" cy="678736"/>
          </a:xfrm>
          <a:prstGeom prst="roundRect">
            <a:avLst/>
          </a:prstGeom>
          <a:solidFill>
            <a:srgbClr val="C00000"/>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altLang="en-US" sz="1300" b="1" i="0" u="none" strike="noStrike" kern="120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Chiếm THỊ PHẦN</a:t>
            </a:r>
            <a:r>
              <a:rPr kumimoji="0" lang="en-US" altLang="en-US" sz="1300" b="1" i="0" u="none" strike="noStrike" kern="120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sz="1300" b="1" i="0" u="none" strike="noStrike" kern="120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Trường học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Tăng thuê bao trả sau</a:t>
            </a:r>
            <a:endParaRPr kumimoji="0" lang="en-US" sz="1300" b="1" i="0" u="none" strike="noStrike" kern="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endParaRPr>
          </a:p>
        </p:txBody>
      </p:sp>
      <p:sp>
        <p:nvSpPr>
          <p:cNvPr id="282" name="Rounded Rectangle 21">
            <a:extLst>
              <a:ext uri="{FF2B5EF4-FFF2-40B4-BE49-F238E27FC236}">
                <a16:creationId xmlns:a16="http://schemas.microsoft.com/office/drawing/2014/main" id="{968D30B1-8008-4BB8-9C82-77C4073B5046}"/>
              </a:ext>
            </a:extLst>
          </p:cNvPr>
          <p:cNvSpPr/>
          <p:nvPr/>
        </p:nvSpPr>
        <p:spPr>
          <a:xfrm>
            <a:off x="4615680" y="1340042"/>
            <a:ext cx="2491151" cy="678736"/>
          </a:xfrm>
          <a:prstGeom prst="roundRect">
            <a:avLst/>
          </a:prstGeom>
          <a:solidFill>
            <a:srgbClr val="C00000"/>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Khai </a:t>
            </a:r>
            <a:r>
              <a:rPr kumimoji="0" lang="en-US" altLang="en-US" sz="13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thác</a:t>
            </a:r>
            <a:r>
              <a:rPr kumimoji="0" lang="en-US" alt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altLang="en-US" sz="13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nguồn</a:t>
            </a:r>
            <a:r>
              <a:rPr kumimoji="0" lang="en-US" alt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altLang="en-US" sz="13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việc</a:t>
            </a:r>
            <a:r>
              <a:rPr kumimoji="0" lang="en-US" alt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altLang="en-US" sz="13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mảng</a:t>
            </a:r>
            <a:r>
              <a:rPr kumimoji="0" lang="en-US" alt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altLang="en-US" sz="13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cơ</a:t>
            </a:r>
            <a:r>
              <a:rPr kumimoji="0" lang="en-US" alt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altLang="en-US" sz="13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điện</a:t>
            </a:r>
            <a:r>
              <a:rPr kumimoji="0" lang="en-US" alt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13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500Trđ</a:t>
            </a:r>
            <a:r>
              <a:rPr kumimoji="0" lang="en-US" sz="13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a:t>
            </a:r>
            <a:endParaRPr kumimoji="0" lang="en-US" sz="13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endParaRPr>
          </a:p>
        </p:txBody>
      </p:sp>
      <p:sp>
        <p:nvSpPr>
          <p:cNvPr id="283" name="Plus 282"/>
          <p:cNvSpPr/>
          <p:nvPr/>
        </p:nvSpPr>
        <p:spPr>
          <a:xfrm rot="5400000">
            <a:off x="3784598" y="1444222"/>
            <a:ext cx="450680" cy="472801"/>
          </a:xfrm>
          <a:prstGeom prst="mathPlus">
            <a:avLst/>
          </a:prstGeom>
          <a:solidFill>
            <a:srgbClr val="FFFFFF"/>
          </a:solidFill>
          <a:ln w="25400" cap="flat" cmpd="sng" algn="ctr">
            <a:solidFill>
              <a:srgbClr val="C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9F9F9"/>
              </a:solidFill>
              <a:effectLst/>
              <a:uLnTx/>
              <a:uFillTx/>
              <a:latin typeface="Arial"/>
              <a:ea typeface="+mn-ea"/>
              <a:cs typeface="+mn-cs"/>
              <a:sym typeface="Arial"/>
            </a:endParaRPr>
          </a:p>
        </p:txBody>
      </p:sp>
      <p:sp>
        <p:nvSpPr>
          <p:cNvPr id="284" name="Rounded Rectangle 21">
            <a:extLst>
              <a:ext uri="{FF2B5EF4-FFF2-40B4-BE49-F238E27FC236}">
                <a16:creationId xmlns:a16="http://schemas.microsoft.com/office/drawing/2014/main" id="{968D30B1-8008-4BB8-9C82-77C4073B5046}"/>
              </a:ext>
            </a:extLst>
          </p:cNvPr>
          <p:cNvSpPr/>
          <p:nvPr/>
        </p:nvSpPr>
        <p:spPr>
          <a:xfrm>
            <a:off x="8387652" y="1340008"/>
            <a:ext cx="2491151" cy="678736"/>
          </a:xfrm>
          <a:prstGeom prst="roundRect">
            <a:avLst/>
          </a:prstGeom>
          <a:solidFill>
            <a:srgbClr val="C00000"/>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CÓ</a:t>
            </a:r>
            <a:r>
              <a:rPr kumimoji="0" lang="en-US" altLang="en-US" sz="1600" b="1" i="0" u="none" strike="noStrike" kern="120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NGHỀ </a:t>
            </a:r>
            <a:r>
              <a:rPr kumimoji="0" lang="en-US" altLang="en-US" sz="1600" b="1" i="0" u="none" strike="noStrike" kern="1200" cap="none" spc="0" normalizeH="0" baseline="0" noProof="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CƠ</a:t>
            </a:r>
            <a:r>
              <a:rPr kumimoji="0" lang="en-US" altLang="en-US" sz="1600" b="1" i="0" u="none" strike="noStrike" kern="1200" cap="none" spc="0" normalizeH="0" baseline="0" noProof="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ĐIỆN </a:t>
            </a:r>
            <a:r>
              <a:rPr kumimoji="0" lang="en-US" altLang="en-US" sz="16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và</a:t>
            </a:r>
            <a:r>
              <a:rPr kumimoji="0" lang="en-US" altLang="en-US" sz="16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vi-VN" altLang="en-US" sz="16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DOANH THU</a:t>
            </a:r>
            <a:r>
              <a:rPr kumimoji="0" lang="en-US" altLang="en-US" sz="16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altLang="en-US" sz="16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BỀN</a:t>
            </a:r>
            <a:r>
              <a:rPr kumimoji="0" lang="en-US" altLang="en-US" sz="16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 </a:t>
            </a:r>
            <a:r>
              <a:rPr kumimoji="0" lang="en-US" altLang="en-US" sz="16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rPr>
              <a:t>VỮNG</a:t>
            </a:r>
            <a:endParaRPr kumimoji="0" lang="en-US" sz="16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Sarabun" panose="020B0604020202020204" charset="-34"/>
              <a:sym typeface="Arial"/>
            </a:endParaRPr>
          </a:p>
        </p:txBody>
      </p:sp>
      <p:sp>
        <p:nvSpPr>
          <p:cNvPr id="285" name="Right Arrow 284"/>
          <p:cNvSpPr/>
          <p:nvPr/>
        </p:nvSpPr>
        <p:spPr>
          <a:xfrm>
            <a:off x="7476173" y="1507153"/>
            <a:ext cx="542138" cy="344514"/>
          </a:xfrm>
          <a:prstGeom prst="rightArrow">
            <a:avLst/>
          </a:prstGeom>
          <a:solidFill>
            <a:srgbClr val="FFFFFF"/>
          </a:solidFill>
          <a:ln w="25400" cap="flat" cmpd="sng" algn="ctr">
            <a:solidFill>
              <a:srgbClr val="C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9F9F9"/>
              </a:solidFill>
              <a:effectLst/>
              <a:uLnTx/>
              <a:uFillTx/>
              <a:latin typeface="Arial"/>
              <a:ea typeface="+mn-ea"/>
              <a:cs typeface="+mn-cs"/>
              <a:sym typeface="Arial"/>
            </a:endParaRPr>
          </a:p>
        </p:txBody>
      </p:sp>
      <p:sp>
        <p:nvSpPr>
          <p:cNvPr id="286" name="Isosceles Triangle 285"/>
          <p:cNvSpPr/>
          <p:nvPr/>
        </p:nvSpPr>
        <p:spPr>
          <a:xfrm rot="5400000">
            <a:off x="11147351" y="648375"/>
            <a:ext cx="532012" cy="465550"/>
          </a:xfrm>
          <a:prstGeom prst="triangle">
            <a:avLst/>
          </a:prstGeom>
          <a:solidFill>
            <a:srgbClr val="063951"/>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9F9F9"/>
              </a:solidFill>
              <a:effectLst/>
              <a:uLnTx/>
              <a:uFillTx/>
              <a:latin typeface="Arial"/>
              <a:ea typeface="+mn-ea"/>
              <a:cs typeface="+mn-cs"/>
              <a:sym typeface="Arial"/>
            </a:endParaRPr>
          </a:p>
        </p:txBody>
      </p:sp>
      <p:sp>
        <p:nvSpPr>
          <p:cNvPr id="15" name="Rectangle 14"/>
          <p:cNvSpPr/>
          <p:nvPr/>
        </p:nvSpPr>
        <p:spPr>
          <a:xfrm>
            <a:off x="540007" y="681648"/>
            <a:ext cx="10640575" cy="382383"/>
          </a:xfrm>
          <a:prstGeom prst="rect">
            <a:avLst/>
          </a:prstGeom>
          <a:solidFill>
            <a:srgbClr val="063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7" name="TextBox 286"/>
          <p:cNvSpPr txBox="1"/>
          <p:nvPr/>
        </p:nvSpPr>
        <p:spPr>
          <a:xfrm>
            <a:off x="575693" y="667726"/>
            <a:ext cx="1100393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ĐẨY</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MẠNH</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PHỦ</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TRƯỜNG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HỌC</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VÀ</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TIẾP</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XÚC</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CÁC</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DỰ</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ÁN</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CƠ</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ĐIỆN</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GIÁ</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TRỊ</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 ≥ </a:t>
            </a:r>
            <a:r>
              <a:rPr kumimoji="0" lang="en-US" sz="2000" b="1" i="0" u="none" strike="noStrike" kern="1200" cap="none" spc="0" normalizeH="0" baseline="0" noProof="0" dirty="0" err="1">
                <a:ln>
                  <a:noFill/>
                </a:ln>
                <a:solidFill>
                  <a:prstClr val="white"/>
                </a:solidFill>
                <a:effectLst/>
                <a:uLnTx/>
                <a:uFillTx/>
                <a:latin typeface="Cambria" panose="02040503050406030204" pitchFamily="18" charset="0"/>
                <a:ea typeface="Cambria" panose="02040503050406030204" pitchFamily="18" charset="0"/>
                <a:cs typeface="+mn-cs"/>
              </a:rPr>
              <a:t>500TRĐ</a:t>
            </a:r>
            <a:r>
              <a:rPr kumimoji="0" lang="en-US" sz="2000" b="1" i="0" u="none" strike="noStrike" kern="120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a:t>
            </a:r>
          </a:p>
        </p:txBody>
      </p:sp>
      <p:grpSp>
        <p:nvGrpSpPr>
          <p:cNvPr id="288" name="Group 287"/>
          <p:cNvGrpSpPr/>
          <p:nvPr/>
        </p:nvGrpSpPr>
        <p:grpSpPr>
          <a:xfrm>
            <a:off x="4263765" y="5909623"/>
            <a:ext cx="2973507" cy="835234"/>
            <a:chOff x="154303" y="3430587"/>
            <a:chExt cx="2194623" cy="835234"/>
          </a:xfrm>
        </p:grpSpPr>
        <p:sp>
          <p:nvSpPr>
            <p:cNvPr id="289" name="Freeform: Shape 63">
              <a:extLst>
                <a:ext uri="{FF2B5EF4-FFF2-40B4-BE49-F238E27FC236}">
                  <a16:creationId xmlns:a16="http://schemas.microsoft.com/office/drawing/2014/main" id="{6787463B-36C5-8675-A31B-2659919B5167}"/>
                </a:ext>
              </a:extLst>
            </p:cNvPr>
            <p:cNvSpPr/>
            <p:nvPr/>
          </p:nvSpPr>
          <p:spPr>
            <a:xfrm>
              <a:off x="173765" y="3430587"/>
              <a:ext cx="2175161" cy="774576"/>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90" name="Rectangle: Rounded Corners 3">
              <a:extLst>
                <a:ext uri="{FF2B5EF4-FFF2-40B4-BE49-F238E27FC236}">
                  <a16:creationId xmlns:a16="http://schemas.microsoft.com/office/drawing/2014/main" id="{94943815-8BCB-71EA-85E3-5C733B932D97}"/>
                </a:ext>
              </a:extLst>
            </p:cNvPr>
            <p:cNvSpPr/>
            <p:nvPr/>
          </p:nvSpPr>
          <p:spPr>
            <a:xfrm>
              <a:off x="173765" y="3430587"/>
              <a:ext cx="2175161"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291" name="TextBox 290"/>
            <p:cNvSpPr txBox="1"/>
            <p:nvPr/>
          </p:nvSpPr>
          <p:spPr>
            <a:xfrm>
              <a:off x="154303" y="3527157"/>
              <a:ext cx="2194623"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rPr>
                <a:t>ARPU: </a:t>
              </a: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rPr>
                <a:t>500Trđ/KH</a:t>
              </a: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rPr>
                <a:t>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err="1">
                  <a:ln>
                    <a:noFill/>
                  </a:ln>
                  <a:solidFill>
                    <a:srgbClr val="171717"/>
                  </a:solidFill>
                  <a:effectLst/>
                  <a:uLnTx/>
                  <a:uFillTx/>
                  <a:latin typeface="Cambria" panose="02040503050406030204" pitchFamily="18" charset="0"/>
                  <a:ea typeface="Cambria" panose="02040503050406030204" pitchFamily="18" charset="0"/>
                  <a:cs typeface="Arial"/>
                </a:rPr>
                <a:t>Mỗi</a:t>
              </a:r>
              <a:r>
                <a:rPr kumimoji="0" lang="en-US" sz="1400" b="1" i="0" u="none" strike="noStrike" kern="1200" cap="none" spc="-140" normalizeH="0" baseline="0" noProof="0" dirty="0">
                  <a:ln>
                    <a:noFill/>
                  </a:ln>
                  <a:solidFill>
                    <a:srgbClr val="171717"/>
                  </a:solidFill>
                  <a:effectLst/>
                  <a:uLnTx/>
                  <a:uFillTx/>
                  <a:latin typeface="Cambria" panose="02040503050406030204" pitchFamily="18" charset="0"/>
                  <a:ea typeface="Cambria" panose="02040503050406030204" pitchFamily="18" charset="0"/>
                  <a:cs typeface="Arial"/>
                </a:rPr>
                <a:t> </a:t>
              </a:r>
              <a:r>
                <a:rPr kumimoji="0" lang="en-US" sz="1400" b="1" i="0" u="none" strike="noStrike" kern="1200" cap="none" spc="0" normalizeH="0" baseline="0" noProof="0" dirty="0" err="1">
                  <a:ln>
                    <a:noFill/>
                  </a:ln>
                  <a:solidFill>
                    <a:srgbClr val="171717"/>
                  </a:solidFill>
                  <a:effectLst/>
                  <a:uLnTx/>
                  <a:uFillTx/>
                  <a:latin typeface="Cambria" panose="02040503050406030204" pitchFamily="18" charset="0"/>
                  <a:ea typeface="Cambria" panose="02040503050406030204" pitchFamily="18" charset="0"/>
                  <a:cs typeface="Arial"/>
                </a:rPr>
                <a:t>tỉnh</a:t>
              </a:r>
              <a:r>
                <a:rPr kumimoji="0" lang="en-US" sz="1400" b="1" i="0" u="none" strike="noStrike" kern="1200" cap="none" spc="-140" normalizeH="0" baseline="0" noProof="0" dirty="0">
                  <a:ln>
                    <a:noFill/>
                  </a:ln>
                  <a:solidFill>
                    <a:srgbClr val="171717"/>
                  </a:solidFill>
                  <a:effectLst/>
                  <a:uLnTx/>
                  <a:uFillTx/>
                  <a:latin typeface="Cambria" panose="02040503050406030204" pitchFamily="18" charset="0"/>
                  <a:ea typeface="Cambria" panose="02040503050406030204" pitchFamily="18" charset="0"/>
                  <a:cs typeface="Arial"/>
                </a:rPr>
                <a:t> </a:t>
              </a:r>
              <a:r>
                <a:rPr kumimoji="0" lang="en-US" sz="1400" b="1" i="0" u="none" strike="noStrike" kern="1200" cap="none" spc="0" normalizeH="0" baseline="0" noProof="0" dirty="0" err="1">
                  <a:ln>
                    <a:noFill/>
                  </a:ln>
                  <a:solidFill>
                    <a:srgbClr val="171717"/>
                  </a:solidFill>
                  <a:effectLst/>
                  <a:uLnTx/>
                  <a:uFillTx/>
                  <a:latin typeface="Cambria" panose="02040503050406030204" pitchFamily="18" charset="0"/>
                  <a:ea typeface="Cambria" panose="02040503050406030204" pitchFamily="18" charset="0"/>
                  <a:cs typeface="Carlito"/>
                </a:rPr>
                <a:t>ký</a:t>
              </a:r>
              <a:r>
                <a:rPr kumimoji="0" lang="en-US" sz="1400" b="1" i="0" u="none" strike="noStrike" kern="1200" cap="none" spc="-10" normalizeH="0" baseline="0" noProof="0" dirty="0">
                  <a:ln>
                    <a:noFill/>
                  </a:ln>
                  <a:solidFill>
                    <a:srgbClr val="171717"/>
                  </a:solidFill>
                  <a:effectLst/>
                  <a:uLnTx/>
                  <a:uFillTx/>
                  <a:latin typeface="Cambria" panose="02040503050406030204" pitchFamily="18" charset="0"/>
                  <a:ea typeface="Cambria" panose="02040503050406030204" pitchFamily="18" charset="0"/>
                  <a:cs typeface="Carlito"/>
                </a:rPr>
                <a:t> </a:t>
              </a:r>
              <a:r>
                <a:rPr kumimoji="0" lang="en-US" sz="1400" b="0" i="0" u="none" strike="noStrike" kern="1200" cap="none" spc="-125" normalizeH="0" baseline="0" noProof="0" dirty="0">
                  <a:ln>
                    <a:noFill/>
                  </a:ln>
                  <a:solidFill>
                    <a:srgbClr val="171717"/>
                  </a:solidFill>
                  <a:effectLst/>
                  <a:uLnTx/>
                  <a:uFillTx/>
                  <a:latin typeface="Cambria" panose="02040503050406030204" pitchFamily="18" charset="0"/>
                  <a:ea typeface="Cambria" panose="02040503050406030204" pitchFamily="18" charset="0"/>
                  <a:cs typeface="Arial"/>
                </a:rPr>
                <a:t>≥ </a:t>
              </a:r>
              <a:r>
                <a:rPr kumimoji="0" lang="en-US" sz="1400" b="0" i="0" u="none" strike="noStrike" kern="1200" cap="none" spc="0" normalizeH="0" baseline="0" noProof="0" dirty="0">
                  <a:ln>
                    <a:noFill/>
                  </a:ln>
                  <a:solidFill>
                    <a:srgbClr val="171717"/>
                  </a:solidFill>
                  <a:effectLst/>
                  <a:uLnTx/>
                  <a:uFillTx/>
                  <a:latin typeface="Cambria" panose="02040503050406030204" pitchFamily="18" charset="0"/>
                  <a:ea typeface="Cambria" panose="02040503050406030204" pitchFamily="18" charset="0"/>
                  <a:cs typeface="Carlito"/>
                </a:rPr>
                <a:t>5</a:t>
              </a:r>
              <a:r>
                <a:rPr kumimoji="0" lang="en-US" sz="1400" b="0" i="0" u="none" strike="noStrike" kern="1200" cap="none" spc="-10" normalizeH="0" baseline="0" noProof="0" dirty="0">
                  <a:ln>
                    <a:noFill/>
                  </a:ln>
                  <a:solidFill>
                    <a:srgbClr val="171717"/>
                  </a:solidFill>
                  <a:effectLst/>
                  <a:uLnTx/>
                  <a:uFillTx/>
                  <a:latin typeface="Cambria" panose="02040503050406030204" pitchFamily="18" charset="0"/>
                  <a:ea typeface="Cambria" panose="02040503050406030204" pitchFamily="18" charset="0"/>
                  <a:cs typeface="Carlito"/>
                </a:rPr>
                <a:t> </a:t>
              </a:r>
              <a:r>
                <a:rPr kumimoji="0" lang="en-US" sz="1400" b="0" i="0" u="none" strike="noStrike" kern="1200" cap="none" spc="-140" normalizeH="0" baseline="0" noProof="0" dirty="0" err="1">
                  <a:ln>
                    <a:noFill/>
                  </a:ln>
                  <a:solidFill>
                    <a:srgbClr val="171717"/>
                  </a:solidFill>
                  <a:effectLst/>
                  <a:uLnTx/>
                  <a:uFillTx/>
                  <a:latin typeface="Cambria" panose="02040503050406030204" pitchFamily="18" charset="0"/>
                  <a:ea typeface="Cambria" panose="02040503050406030204" pitchFamily="18" charset="0"/>
                  <a:cs typeface="Arial"/>
                </a:rPr>
                <a:t>dự</a:t>
              </a:r>
              <a:r>
                <a:rPr kumimoji="0" lang="en-US" sz="1400" b="0" i="0" u="none" strike="noStrike" kern="1200" cap="none" spc="-125" normalizeH="0" baseline="0" noProof="0" dirty="0">
                  <a:ln>
                    <a:noFill/>
                  </a:ln>
                  <a:solidFill>
                    <a:srgbClr val="171717"/>
                  </a:solidFill>
                  <a:effectLst/>
                  <a:uLnTx/>
                  <a:uFillTx/>
                  <a:latin typeface="Cambria" panose="02040503050406030204" pitchFamily="18" charset="0"/>
                  <a:ea typeface="Cambria" panose="02040503050406030204" pitchFamily="18" charset="0"/>
                  <a:cs typeface="Arial"/>
                </a:rPr>
                <a:t> </a:t>
              </a:r>
              <a:r>
                <a:rPr kumimoji="0" lang="en-US" sz="1400" b="0" i="0" u="none" strike="noStrike" kern="1200" cap="none" spc="-10" normalizeH="0" baseline="0" noProof="0" dirty="0" err="1">
                  <a:ln>
                    <a:noFill/>
                  </a:ln>
                  <a:solidFill>
                    <a:srgbClr val="171717"/>
                  </a:solidFill>
                  <a:effectLst/>
                  <a:uLnTx/>
                  <a:uFillTx/>
                  <a:latin typeface="Cambria" panose="02040503050406030204" pitchFamily="18" charset="0"/>
                  <a:ea typeface="Cambria" panose="02040503050406030204" pitchFamily="18" charset="0"/>
                  <a:cs typeface="Carlito"/>
                </a:rPr>
                <a:t>án</a:t>
              </a:r>
              <a:r>
                <a:rPr kumimoji="0" lang="en-US" sz="1400" b="0" i="0" u="none" strike="noStrike" kern="1200" cap="none" spc="-10" normalizeH="0" baseline="0" noProof="0" dirty="0">
                  <a:ln>
                    <a:noFill/>
                  </a:ln>
                  <a:solidFill>
                    <a:srgbClr val="171717"/>
                  </a:solidFill>
                  <a:effectLst/>
                  <a:uLnTx/>
                  <a:uFillTx/>
                  <a:latin typeface="Cambria" panose="02040503050406030204" pitchFamily="18" charset="0"/>
                  <a:ea typeface="Cambria" panose="02040503050406030204" pitchFamily="18" charset="0"/>
                  <a:cs typeface="Carlito"/>
                </a:rPr>
                <a:t>/ </a:t>
              </a:r>
              <a:r>
                <a:rPr kumimoji="0" lang="en-US" sz="1400" b="0" i="0" u="none" strike="noStrike" kern="1200" cap="none" spc="-10" normalizeH="0" baseline="0" noProof="0" dirty="0" err="1">
                  <a:ln>
                    <a:noFill/>
                  </a:ln>
                  <a:solidFill>
                    <a:srgbClr val="171717"/>
                  </a:solidFill>
                  <a:effectLst/>
                  <a:uLnTx/>
                  <a:uFillTx/>
                  <a:latin typeface="Cambria" panose="02040503050406030204" pitchFamily="18" charset="0"/>
                  <a:ea typeface="Cambria" panose="02040503050406030204" pitchFamily="18" charset="0"/>
                  <a:cs typeface="Carlito"/>
                </a:rPr>
                <a:t>tháng</a:t>
              </a:r>
              <a:endPar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rPr>
                <a:t>→ NV: </a:t>
              </a: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rPr>
                <a:t>219 Tỷ</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endParaRPr>
            </a:p>
          </p:txBody>
        </p:sp>
      </p:grpSp>
      <p:sp>
        <p:nvSpPr>
          <p:cNvPr id="292" name="Down Arrow 291"/>
          <p:cNvSpPr/>
          <p:nvPr/>
        </p:nvSpPr>
        <p:spPr>
          <a:xfrm>
            <a:off x="5850184" y="5655994"/>
            <a:ext cx="66502" cy="233000"/>
          </a:xfrm>
          <a:prstGeom prst="downArrow">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306" name="Table 305">
            <a:extLst>
              <a:ext uri="{FF2B5EF4-FFF2-40B4-BE49-F238E27FC236}">
                <a16:creationId xmlns:a16="http://schemas.microsoft.com/office/drawing/2014/main" id="{55DB6C09-8307-4395-BDBD-A49B5CFAD5A5}"/>
              </a:ext>
            </a:extLst>
          </p:cNvPr>
          <p:cNvGraphicFramePr>
            <a:graphicFrameLocks noGrp="1"/>
          </p:cNvGraphicFramePr>
          <p:nvPr/>
        </p:nvGraphicFramePr>
        <p:xfrm>
          <a:off x="8189260" y="3228809"/>
          <a:ext cx="3075925" cy="2412714"/>
        </p:xfrm>
        <a:graphic>
          <a:graphicData uri="http://schemas.openxmlformats.org/drawingml/2006/table">
            <a:tbl>
              <a:tblPr firstRow="1" bandRow="1"/>
              <a:tblGrid>
                <a:gridCol w="1715967">
                  <a:extLst>
                    <a:ext uri="{9D8B030D-6E8A-4147-A177-3AD203B41FA5}">
                      <a16:colId xmlns:a16="http://schemas.microsoft.com/office/drawing/2014/main" val="20000"/>
                    </a:ext>
                  </a:extLst>
                </a:gridCol>
                <a:gridCol w="735064">
                  <a:extLst>
                    <a:ext uri="{9D8B030D-6E8A-4147-A177-3AD203B41FA5}">
                      <a16:colId xmlns:a16="http://schemas.microsoft.com/office/drawing/2014/main" val="20001"/>
                    </a:ext>
                  </a:extLst>
                </a:gridCol>
                <a:gridCol w="624894">
                  <a:extLst>
                    <a:ext uri="{9D8B030D-6E8A-4147-A177-3AD203B41FA5}">
                      <a16:colId xmlns:a16="http://schemas.microsoft.com/office/drawing/2014/main" val="20003"/>
                    </a:ext>
                  </a:extLst>
                </a:gridCol>
              </a:tblGrid>
              <a:tr h="39241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a:latin typeface="Cambria" panose="02040503050406030204" pitchFamily="18" charset="0"/>
                          <a:ea typeface="Cambria" panose="02040503050406030204" pitchFamily="18" charset="0"/>
                          <a:cs typeface="Sarabun" panose="00000500000000000000" pitchFamily="2" charset="-34"/>
                        </a:rPr>
                        <a:t>ĐỐI</a:t>
                      </a:r>
                      <a:r>
                        <a:rPr lang="en-US" sz="1100" baseline="0">
                          <a:latin typeface="Cambria" panose="02040503050406030204" pitchFamily="18" charset="0"/>
                          <a:ea typeface="Cambria" panose="02040503050406030204" pitchFamily="18" charset="0"/>
                          <a:cs typeface="Sarabun" panose="00000500000000000000" pitchFamily="2" charset="-34"/>
                        </a:rPr>
                        <a:t> TƯỢNG DN/SBN NĂNG LƯỢNG &gt; 500Trđ</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dirty="0" err="1">
                          <a:latin typeface="Cambria" panose="02040503050406030204" pitchFamily="18" charset="0"/>
                          <a:ea typeface="Cambria" panose="02040503050406030204" pitchFamily="18" charset="0"/>
                          <a:cs typeface="Sarabun" panose="00000500000000000000" pitchFamily="2" charset="-34"/>
                        </a:rPr>
                        <a:t>Giai</a:t>
                      </a:r>
                      <a:r>
                        <a:rPr lang="en-US" sz="1100" dirty="0">
                          <a:latin typeface="Cambria" panose="02040503050406030204" pitchFamily="18" charset="0"/>
                          <a:ea typeface="Cambria" panose="02040503050406030204" pitchFamily="18" charset="0"/>
                          <a:cs typeface="Sarabun" panose="00000500000000000000" pitchFamily="2" charset="-34"/>
                        </a:rPr>
                        <a:t> </a:t>
                      </a:r>
                      <a:r>
                        <a:rPr lang="en-US" sz="1100" dirty="0" err="1">
                          <a:latin typeface="Cambria" panose="02040503050406030204" pitchFamily="18" charset="0"/>
                          <a:ea typeface="Cambria" panose="02040503050406030204" pitchFamily="18" charset="0"/>
                          <a:cs typeface="Sarabun" panose="00000500000000000000" pitchFamily="2" charset="-34"/>
                        </a:rPr>
                        <a:t>đoạn</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100">
                          <a:latin typeface="Cambria" panose="02040503050406030204" pitchFamily="18" charset="0"/>
                          <a:ea typeface="Cambria" panose="02040503050406030204" pitchFamily="18" charset="0"/>
                          <a:cs typeface="Sarabun" panose="00000500000000000000" pitchFamily="2" charset="-34"/>
                        </a:rPr>
                        <a:t>Số KH</a:t>
                      </a:r>
                      <a:endParaRPr lang="en-US" sz="1100"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661998">
                <a:tc rowSpan="3">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US" sz="1100" dirty="0">
                        <a:latin typeface="Cambria" panose="02040503050406030204" pitchFamily="18" charset="0"/>
                        <a:ea typeface="Cambria" panose="02040503050406030204" pitchFamily="18" charset="0"/>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dirty="0" err="1">
                          <a:latin typeface="Cambria" panose="02040503050406030204" pitchFamily="18" charset="0"/>
                          <a:ea typeface="Cambria" panose="02040503050406030204" pitchFamily="18" charset="0"/>
                          <a:cs typeface="Sarabun" panose="00000500000000000000" pitchFamily="2" charset="-34"/>
                        </a:rPr>
                        <a:t>Tiếp</a:t>
                      </a:r>
                      <a:r>
                        <a:rPr lang="en-US" sz="1100" b="1" baseline="0" dirty="0">
                          <a:latin typeface="Cambria" panose="02040503050406030204" pitchFamily="18" charset="0"/>
                          <a:ea typeface="Cambria" panose="02040503050406030204" pitchFamily="18" charset="0"/>
                          <a:cs typeface="Sarabun" panose="00000500000000000000" pitchFamily="2" charset="-34"/>
                        </a:rPr>
                        <a:t> </a:t>
                      </a:r>
                      <a:r>
                        <a:rPr lang="en-US" sz="1100" b="1" baseline="0" dirty="0" err="1">
                          <a:latin typeface="Cambria" panose="02040503050406030204" pitchFamily="18" charset="0"/>
                          <a:ea typeface="Cambria" panose="02040503050406030204" pitchFamily="18" charset="0"/>
                          <a:cs typeface="Sarabun" panose="00000500000000000000" pitchFamily="2" charset="-34"/>
                        </a:rPr>
                        <a:t>xúc</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3,570</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1"/>
                  </a:ext>
                </a:extLst>
              </a:tr>
              <a:tr h="661998">
                <a:tc vMerge="1">
                  <a:txBody>
                    <a:bodyPr/>
                    <a:lstStyle/>
                    <a:p>
                      <a:pPr algn="ctr"/>
                      <a:endParaRPr lang="en-US" dirty="0"/>
                    </a:p>
                  </a:txBody>
                  <a:tcPr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baseline="0">
                          <a:latin typeface="Cambria" panose="02040503050406030204" pitchFamily="18" charset="0"/>
                          <a:ea typeface="Cambria" panose="02040503050406030204" pitchFamily="18" charset="0"/>
                          <a:cs typeface="Sarabun" panose="00000500000000000000" pitchFamily="2" charset="-34"/>
                        </a:rPr>
                        <a:t>Thiết kế chào giá</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40000"/>
                        <a:lumOff val="60000"/>
                      </a:scheme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893</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02"/>
                  </a:ext>
                </a:extLst>
              </a:tr>
              <a:tr h="661998">
                <a:tc vMerge="1">
                  <a:txBody>
                    <a:bodyPr/>
                    <a:lstStyle/>
                    <a:p>
                      <a:pPr algn="ctr"/>
                      <a:endParaRPr lang="en-US" dirty="0"/>
                    </a:p>
                  </a:txBody>
                  <a:tcPr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err="1">
                          <a:latin typeface="Cambria" panose="02040503050406030204" pitchFamily="18" charset="0"/>
                          <a:ea typeface="Cambria" panose="02040503050406030204" pitchFamily="18" charset="0"/>
                          <a:cs typeface="Sarabun" panose="00000500000000000000" pitchFamily="2" charset="-34"/>
                        </a:rPr>
                        <a:t>Ký</a:t>
                      </a:r>
                      <a:r>
                        <a:rPr lang="en-US" sz="1100" b="1" baseline="0">
                          <a:latin typeface="Cambria" panose="02040503050406030204" pitchFamily="18" charset="0"/>
                          <a:ea typeface="Cambria" panose="02040503050406030204" pitchFamily="18" charset="0"/>
                          <a:cs typeface="Sarabun" panose="00000500000000000000" pitchFamily="2" charset="-34"/>
                        </a:rPr>
                        <a:t> HĐ</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75000"/>
                      </a:sys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100" b="1">
                          <a:latin typeface="Cambria" panose="02040503050406030204" pitchFamily="18" charset="0"/>
                          <a:ea typeface="Cambria" panose="02040503050406030204" pitchFamily="18" charset="0"/>
                          <a:cs typeface="Sarabun" panose="00000500000000000000" pitchFamily="2" charset="-34"/>
                        </a:rPr>
                        <a:t>168</a:t>
                      </a:r>
                      <a:endParaRPr lang="en-US" sz="1100" b="1" dirty="0">
                        <a:latin typeface="Cambria" panose="02040503050406030204" pitchFamily="18" charset="0"/>
                        <a:ea typeface="Cambria" panose="02040503050406030204" pitchFamily="18" charset="0"/>
                        <a:cs typeface="Sarabun" panose="00000500000000000000" pitchFamily="2" charset="-34"/>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0003"/>
                  </a:ext>
                </a:extLst>
              </a:tr>
            </a:tbl>
          </a:graphicData>
        </a:graphic>
      </p:graphicFrame>
      <p:pic>
        <p:nvPicPr>
          <p:cNvPr id="307" name="Picture 306">
            <a:extLst>
              <a:ext uri="{FF2B5EF4-FFF2-40B4-BE49-F238E27FC236}">
                <a16:creationId xmlns:a16="http://schemas.microsoft.com/office/drawing/2014/main" id="{65A6267A-D0FF-4BA6-A53B-7A5F6EFE9074}"/>
              </a:ext>
            </a:extLst>
          </p:cNvPr>
          <p:cNvPicPr>
            <a:picLocks noChangeAspect="1"/>
          </p:cNvPicPr>
          <p:nvPr/>
        </p:nvPicPr>
        <p:blipFill>
          <a:blip r:embed="rId3"/>
          <a:stretch>
            <a:fillRect/>
          </a:stretch>
        </p:blipFill>
        <p:spPr>
          <a:xfrm>
            <a:off x="8641175" y="3720353"/>
            <a:ext cx="946717" cy="1825029"/>
          </a:xfrm>
          <a:prstGeom prst="rect">
            <a:avLst/>
          </a:prstGeom>
        </p:spPr>
      </p:pic>
      <p:sp>
        <p:nvSpPr>
          <p:cNvPr id="308" name="Arc 307">
            <a:extLst>
              <a:ext uri="{FF2B5EF4-FFF2-40B4-BE49-F238E27FC236}">
                <a16:creationId xmlns:a16="http://schemas.microsoft.com/office/drawing/2014/main" id="{70A6D76B-71E7-49BC-87AA-B6F9AB228F72}"/>
              </a:ext>
            </a:extLst>
          </p:cNvPr>
          <p:cNvSpPr/>
          <p:nvPr/>
        </p:nvSpPr>
        <p:spPr>
          <a:xfrm rot="553424">
            <a:off x="10319439" y="3739900"/>
            <a:ext cx="1119466" cy="983933"/>
          </a:xfrm>
          <a:prstGeom prst="arc">
            <a:avLst>
              <a:gd name="adj1" fmla="val 18378101"/>
              <a:gd name="adj2" fmla="val 2185230"/>
            </a:avLst>
          </a:prstGeom>
          <a:ln w="12700">
            <a:solidFill>
              <a:srgbClr val="C0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9" name="Arc 308">
            <a:extLst>
              <a:ext uri="{FF2B5EF4-FFF2-40B4-BE49-F238E27FC236}">
                <a16:creationId xmlns:a16="http://schemas.microsoft.com/office/drawing/2014/main" id="{0FB4EFD8-D8C7-4A16-A4FC-BAA6D9AF2B31}"/>
              </a:ext>
            </a:extLst>
          </p:cNvPr>
          <p:cNvSpPr/>
          <p:nvPr/>
        </p:nvSpPr>
        <p:spPr>
          <a:xfrm rot="553424">
            <a:off x="10326677" y="4509085"/>
            <a:ext cx="1119466" cy="983933"/>
          </a:xfrm>
          <a:prstGeom prst="arc">
            <a:avLst>
              <a:gd name="adj1" fmla="val 18378101"/>
              <a:gd name="adj2" fmla="val 2185230"/>
            </a:avLst>
          </a:prstGeom>
          <a:ln w="12700">
            <a:solidFill>
              <a:srgbClr val="C00000"/>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0" name="Arc 309">
            <a:extLst>
              <a:ext uri="{FF2B5EF4-FFF2-40B4-BE49-F238E27FC236}">
                <a16:creationId xmlns:a16="http://schemas.microsoft.com/office/drawing/2014/main" id="{8F4E7BC7-72E6-465C-BA6D-D9D7F898869D}"/>
              </a:ext>
            </a:extLst>
          </p:cNvPr>
          <p:cNvSpPr/>
          <p:nvPr/>
        </p:nvSpPr>
        <p:spPr>
          <a:xfrm>
            <a:off x="10736401" y="3751347"/>
            <a:ext cx="1119466" cy="1755749"/>
          </a:xfrm>
          <a:prstGeom prst="arc">
            <a:avLst>
              <a:gd name="adj1" fmla="val 16340859"/>
              <a:gd name="adj2" fmla="val 5275267"/>
            </a:avLst>
          </a:prstGeom>
          <a:ln w="12700">
            <a:solidFill>
              <a:srgbClr val="43682A"/>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1" name="TextBox 310">
            <a:extLst>
              <a:ext uri="{FF2B5EF4-FFF2-40B4-BE49-F238E27FC236}">
                <a16:creationId xmlns:a16="http://schemas.microsoft.com/office/drawing/2014/main" id="{49E997D7-E783-4937-8381-E8B997BD668A}"/>
              </a:ext>
            </a:extLst>
          </p:cNvPr>
          <p:cNvSpPr txBox="1"/>
          <p:nvPr/>
        </p:nvSpPr>
        <p:spPr>
          <a:xfrm rot="5400000">
            <a:off x="11254573" y="4132218"/>
            <a:ext cx="64644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25%</a:t>
            </a:r>
          </a:p>
        </p:txBody>
      </p:sp>
      <p:sp>
        <p:nvSpPr>
          <p:cNvPr id="312" name="TextBox 311">
            <a:extLst>
              <a:ext uri="{FF2B5EF4-FFF2-40B4-BE49-F238E27FC236}">
                <a16:creationId xmlns:a16="http://schemas.microsoft.com/office/drawing/2014/main" id="{FB36158F-75A7-4DE1-9562-2B9C27BBCB2C}"/>
              </a:ext>
            </a:extLst>
          </p:cNvPr>
          <p:cNvSpPr txBox="1"/>
          <p:nvPr/>
        </p:nvSpPr>
        <p:spPr>
          <a:xfrm rot="5400000">
            <a:off x="11254572" y="4873466"/>
            <a:ext cx="646441"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19%</a:t>
            </a:r>
          </a:p>
        </p:txBody>
      </p:sp>
      <p:sp>
        <p:nvSpPr>
          <p:cNvPr id="313" name="TextBox 312">
            <a:extLst>
              <a:ext uri="{FF2B5EF4-FFF2-40B4-BE49-F238E27FC236}">
                <a16:creationId xmlns:a16="http://schemas.microsoft.com/office/drawing/2014/main" id="{E277B3C9-8C3A-421E-9E2C-C7D55B8B0598}"/>
              </a:ext>
            </a:extLst>
          </p:cNvPr>
          <p:cNvSpPr txBox="1"/>
          <p:nvPr/>
        </p:nvSpPr>
        <p:spPr>
          <a:xfrm rot="5400000">
            <a:off x="11506348" y="4558713"/>
            <a:ext cx="9710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12%</a:t>
            </a:r>
          </a:p>
        </p:txBody>
      </p:sp>
      <p:grpSp>
        <p:nvGrpSpPr>
          <p:cNvPr id="314" name="Group 313"/>
          <p:cNvGrpSpPr/>
          <p:nvPr/>
        </p:nvGrpSpPr>
        <p:grpSpPr>
          <a:xfrm>
            <a:off x="8406125" y="5895152"/>
            <a:ext cx="3000772" cy="789047"/>
            <a:chOff x="173765" y="3430587"/>
            <a:chExt cx="2214746" cy="789047"/>
          </a:xfrm>
        </p:grpSpPr>
        <p:sp>
          <p:nvSpPr>
            <p:cNvPr id="315" name="Freeform: Shape 63">
              <a:extLst>
                <a:ext uri="{FF2B5EF4-FFF2-40B4-BE49-F238E27FC236}">
                  <a16:creationId xmlns:a16="http://schemas.microsoft.com/office/drawing/2014/main" id="{6787463B-36C5-8675-A31B-2659919B5167}"/>
                </a:ext>
              </a:extLst>
            </p:cNvPr>
            <p:cNvSpPr/>
            <p:nvPr/>
          </p:nvSpPr>
          <p:spPr>
            <a:xfrm>
              <a:off x="173765" y="3430587"/>
              <a:ext cx="2175161" cy="789047"/>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316" name="Rectangle: Rounded Corners 3">
              <a:extLst>
                <a:ext uri="{FF2B5EF4-FFF2-40B4-BE49-F238E27FC236}">
                  <a16:creationId xmlns:a16="http://schemas.microsoft.com/office/drawing/2014/main" id="{94943815-8BCB-71EA-85E3-5C733B932D97}"/>
                </a:ext>
              </a:extLst>
            </p:cNvPr>
            <p:cNvSpPr/>
            <p:nvPr/>
          </p:nvSpPr>
          <p:spPr>
            <a:xfrm>
              <a:off x="173765" y="3430587"/>
              <a:ext cx="2175161"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317" name="TextBox 316"/>
            <p:cNvSpPr txBox="1"/>
            <p:nvPr/>
          </p:nvSpPr>
          <p:spPr>
            <a:xfrm>
              <a:off x="193888" y="3705608"/>
              <a:ext cx="219462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ARPU: </a:t>
              </a: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500Trđ/KH</a:t>
              </a: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 → NV: </a:t>
              </a: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84 Tỷ</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sp>
        <p:nvSpPr>
          <p:cNvPr id="318" name="Down Arrow 317"/>
          <p:cNvSpPr/>
          <p:nvPr/>
        </p:nvSpPr>
        <p:spPr>
          <a:xfrm>
            <a:off x="9966174" y="5641523"/>
            <a:ext cx="66502" cy="233000"/>
          </a:xfrm>
          <a:prstGeom prst="downArrow">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319" name="Group 318"/>
          <p:cNvGrpSpPr/>
          <p:nvPr/>
        </p:nvGrpSpPr>
        <p:grpSpPr>
          <a:xfrm>
            <a:off x="2220927" y="2294800"/>
            <a:ext cx="2991445" cy="497151"/>
            <a:chOff x="154303" y="3430587"/>
            <a:chExt cx="2194623" cy="497151"/>
          </a:xfrm>
        </p:grpSpPr>
        <p:sp>
          <p:nvSpPr>
            <p:cNvPr id="320" name="Freeform: Shape 63">
              <a:extLst>
                <a:ext uri="{FF2B5EF4-FFF2-40B4-BE49-F238E27FC236}">
                  <a16:creationId xmlns:a16="http://schemas.microsoft.com/office/drawing/2014/main" id="{6787463B-36C5-8675-A31B-2659919B5167}"/>
                </a:ext>
              </a:extLst>
            </p:cNvPr>
            <p:cNvSpPr/>
            <p:nvPr/>
          </p:nvSpPr>
          <p:spPr>
            <a:xfrm>
              <a:off x="173765" y="3430587"/>
              <a:ext cx="2175161"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321" name="Rectangle: Rounded Corners 3">
              <a:extLst>
                <a:ext uri="{FF2B5EF4-FFF2-40B4-BE49-F238E27FC236}">
                  <a16:creationId xmlns:a16="http://schemas.microsoft.com/office/drawing/2014/main" id="{94943815-8BCB-71EA-85E3-5C733B932D97}"/>
                </a:ext>
              </a:extLst>
            </p:cNvPr>
            <p:cNvSpPr/>
            <p:nvPr/>
          </p:nvSpPr>
          <p:spPr>
            <a:xfrm>
              <a:off x="173765" y="3430587"/>
              <a:ext cx="2175161"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322" name="TextBox 321"/>
            <p:cNvSpPr txBox="1"/>
            <p:nvPr/>
          </p:nvSpPr>
          <p:spPr>
            <a:xfrm>
              <a:off x="154303" y="3564329"/>
              <a:ext cx="219462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MẢNG CƠ ĐIỆN</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323" name="Group 322"/>
          <p:cNvGrpSpPr/>
          <p:nvPr/>
        </p:nvGrpSpPr>
        <p:grpSpPr>
          <a:xfrm>
            <a:off x="8189137" y="2294800"/>
            <a:ext cx="2991445" cy="497151"/>
            <a:chOff x="154303" y="3430587"/>
            <a:chExt cx="2194623" cy="497151"/>
          </a:xfrm>
        </p:grpSpPr>
        <p:sp>
          <p:nvSpPr>
            <p:cNvPr id="324" name="Freeform: Shape 63">
              <a:extLst>
                <a:ext uri="{FF2B5EF4-FFF2-40B4-BE49-F238E27FC236}">
                  <a16:creationId xmlns:a16="http://schemas.microsoft.com/office/drawing/2014/main" id="{6787463B-36C5-8675-A31B-2659919B5167}"/>
                </a:ext>
              </a:extLst>
            </p:cNvPr>
            <p:cNvSpPr/>
            <p:nvPr/>
          </p:nvSpPr>
          <p:spPr>
            <a:xfrm>
              <a:off x="173765" y="3430587"/>
              <a:ext cx="2175161"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325" name="Rectangle: Rounded Corners 3">
              <a:extLst>
                <a:ext uri="{FF2B5EF4-FFF2-40B4-BE49-F238E27FC236}">
                  <a16:creationId xmlns:a16="http://schemas.microsoft.com/office/drawing/2014/main" id="{94943815-8BCB-71EA-85E3-5C733B932D97}"/>
                </a:ext>
              </a:extLst>
            </p:cNvPr>
            <p:cNvSpPr/>
            <p:nvPr/>
          </p:nvSpPr>
          <p:spPr>
            <a:xfrm>
              <a:off x="173765" y="3430587"/>
              <a:ext cx="2175161"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326" name="TextBox 325"/>
            <p:cNvSpPr txBox="1"/>
            <p:nvPr/>
          </p:nvSpPr>
          <p:spPr>
            <a:xfrm>
              <a:off x="154303" y="3564329"/>
              <a:ext cx="219462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MẢNG NĂNG LƯỢNG</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cxnSp>
        <p:nvCxnSpPr>
          <p:cNvPr id="17" name="Straight Arrow Connector 16"/>
          <p:cNvCxnSpPr/>
          <p:nvPr/>
        </p:nvCxnSpPr>
        <p:spPr>
          <a:xfrm flipH="1">
            <a:off x="1687423" y="2791951"/>
            <a:ext cx="2042490" cy="436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251" idx="0"/>
          </p:cNvCxnSpPr>
          <p:nvPr/>
        </p:nvCxnSpPr>
        <p:spPr>
          <a:xfrm>
            <a:off x="3729913" y="2799186"/>
            <a:ext cx="1969936" cy="444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306" idx="0"/>
          </p:cNvCxnSpPr>
          <p:nvPr/>
        </p:nvCxnSpPr>
        <p:spPr>
          <a:xfrm>
            <a:off x="9727222" y="2799186"/>
            <a:ext cx="0" cy="42962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67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marL="0" marR="0" lvl="0" indent="0" algn="l" defTabSz="1219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C0504D">
                    <a:lumMod val="75000"/>
                  </a:srgbClr>
                </a:solidFill>
                <a:effectLst/>
                <a:uLnTx/>
                <a:uFillTx/>
                <a:latin typeface="FS Magistral Bold" panose="020B0804030204080304" pitchFamily="34" charset="0"/>
                <a:ea typeface="+mn-ea"/>
                <a:cs typeface="+mn-cs"/>
              </a:rPr>
              <a:t>2.2.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HỆ</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SINH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THÁI</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SẢN</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PHẨM</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CƠ</a:t>
            </a:r>
            <a:r>
              <a:rPr kumimoji="0" lang="en-US" sz="2400" b="1" i="0" u="none" strike="noStrike" kern="1200" cap="none" spc="0" normalizeH="0" baseline="0" noProof="0" dirty="0">
                <a:ln>
                  <a:noFill/>
                </a:ln>
                <a:solidFill>
                  <a:srgbClr val="C0504D">
                    <a:lumMod val="75000"/>
                  </a:srgbClr>
                </a:solidFill>
                <a:effectLst/>
                <a:uLnTx/>
                <a:uFillTx/>
                <a:latin typeface="FS Magistral Bold" panose="020B0804030204080304" pitchFamily="34" charset="0"/>
                <a:ea typeface="+mn-ea"/>
                <a:cs typeface="+mn-cs"/>
              </a:rPr>
              <a:t> </a:t>
            </a:r>
            <a:r>
              <a:rPr kumimoji="0" lang="en-US" sz="2400" b="1" i="0" u="none" strike="noStrike" kern="1200" cap="none" spc="0" normalizeH="0" baseline="0" noProof="0" dirty="0" err="1">
                <a:ln>
                  <a:noFill/>
                </a:ln>
                <a:solidFill>
                  <a:srgbClr val="C0504D">
                    <a:lumMod val="75000"/>
                  </a:srgbClr>
                </a:solidFill>
                <a:effectLst/>
                <a:uLnTx/>
                <a:uFillTx/>
                <a:latin typeface="FS Magistral Bold" panose="020B0804030204080304" pitchFamily="34" charset="0"/>
                <a:ea typeface="+mn-ea"/>
                <a:cs typeface="+mn-cs"/>
              </a:rPr>
              <a:t>ĐIỆN</a:t>
            </a:r>
            <a:endParaRPr kumimoji="0" lang="vi-VN" sz="2400" b="1" i="0" u="none" strike="noStrike" kern="1200" cap="none" spc="0" normalizeH="0" baseline="0" noProof="0" dirty="0">
              <a:ln>
                <a:noFill/>
              </a:ln>
              <a:solidFill>
                <a:prstClr val="black">
                  <a:lumMod val="75000"/>
                  <a:lumOff val="25000"/>
                </a:prstClr>
              </a:solidFill>
              <a:effectLst/>
              <a:uLnTx/>
              <a:uFillTx/>
              <a:latin typeface="FS Magistral Bold" panose="020B0804030204080304" pitchFamily="34" charset="0"/>
              <a:ea typeface="+mn-ea"/>
              <a:cs typeface="+mn-cs"/>
            </a:endParaRPr>
          </a:p>
        </p:txBody>
      </p:sp>
      <p:grpSp>
        <p:nvGrpSpPr>
          <p:cNvPr id="3" name="Group 2"/>
          <p:cNvGrpSpPr/>
          <p:nvPr/>
        </p:nvGrpSpPr>
        <p:grpSpPr>
          <a:xfrm>
            <a:off x="111417" y="662836"/>
            <a:ext cx="11915064" cy="5965877"/>
            <a:chOff x="111417" y="662836"/>
            <a:chExt cx="11915064" cy="5965877"/>
          </a:xfrm>
        </p:grpSpPr>
        <p:sp>
          <p:nvSpPr>
            <p:cNvPr id="19" name="Shape">
              <a:extLst>
                <a:ext uri="{FF2B5EF4-FFF2-40B4-BE49-F238E27FC236}">
                  <a16:creationId xmlns:a16="http://schemas.microsoft.com/office/drawing/2014/main" id="{14DA6734-6430-1144-827A-C607F771603E}"/>
                </a:ext>
              </a:extLst>
            </p:cNvPr>
            <p:cNvSpPr/>
            <p:nvPr/>
          </p:nvSpPr>
          <p:spPr>
            <a:xfrm>
              <a:off x="2705132" y="662836"/>
              <a:ext cx="6558152" cy="378960"/>
            </a:xfrm>
            <a:custGeom>
              <a:avLst/>
              <a:gdLst/>
              <a:ahLst/>
              <a:cxnLst>
                <a:cxn ang="0">
                  <a:pos x="wd2" y="hd2"/>
                </a:cxn>
                <a:cxn ang="5400000">
                  <a:pos x="wd2" y="hd2"/>
                </a:cxn>
                <a:cxn ang="10800000">
                  <a:pos x="wd2" y="hd2"/>
                </a:cxn>
                <a:cxn ang="16200000">
                  <a:pos x="wd2" y="hd2"/>
                </a:cxn>
              </a:cxnLst>
              <a:rect l="0" t="0" r="r" b="b"/>
              <a:pathLst>
                <a:path w="21600" h="21600" extrusionOk="0">
                  <a:moveTo>
                    <a:pt x="21298" y="0"/>
                  </a:moveTo>
                  <a:lnTo>
                    <a:pt x="302" y="0"/>
                  </a:lnTo>
                  <a:cubicBezTo>
                    <a:pt x="135" y="0"/>
                    <a:pt x="0" y="2339"/>
                    <a:pt x="0" y="5228"/>
                  </a:cubicBezTo>
                  <a:lnTo>
                    <a:pt x="0" y="16372"/>
                  </a:lnTo>
                  <a:cubicBezTo>
                    <a:pt x="0" y="19261"/>
                    <a:pt x="135" y="21600"/>
                    <a:pt x="302" y="21600"/>
                  </a:cubicBezTo>
                  <a:lnTo>
                    <a:pt x="21298" y="21600"/>
                  </a:lnTo>
                  <a:cubicBezTo>
                    <a:pt x="21465" y="21600"/>
                    <a:pt x="21600" y="19261"/>
                    <a:pt x="21600" y="16372"/>
                  </a:cubicBezTo>
                  <a:lnTo>
                    <a:pt x="21600" y="5228"/>
                  </a:lnTo>
                  <a:cubicBezTo>
                    <a:pt x="21600" y="2339"/>
                    <a:pt x="21465" y="0"/>
                    <a:pt x="21298" y="0"/>
                  </a:cubicBezTo>
                  <a:close/>
                </a:path>
              </a:pathLst>
            </a:custGeom>
            <a:solidFill>
              <a:schemeClr val="accent2">
                <a:lumMod val="40000"/>
                <a:lumOff val="60000"/>
              </a:schemeClr>
            </a:solidFill>
            <a:ln w="12700">
              <a:miter lim="400000"/>
            </a:ln>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CƠ ĐIỆN TÒA NHÀ</a:t>
              </a:r>
            </a:p>
          </p:txBody>
        </p:sp>
        <p:grpSp>
          <p:nvGrpSpPr>
            <p:cNvPr id="4" name="Group 3"/>
            <p:cNvGrpSpPr/>
            <p:nvPr/>
          </p:nvGrpSpPr>
          <p:grpSpPr>
            <a:xfrm>
              <a:off x="351932" y="1461186"/>
              <a:ext cx="2104317" cy="497151"/>
              <a:chOff x="647195" y="1489591"/>
              <a:chExt cx="2104317" cy="497151"/>
            </a:xfrm>
          </p:grpSpPr>
          <p:grpSp>
            <p:nvGrpSpPr>
              <p:cNvPr id="21" name="Group 20">
                <a:extLst>
                  <a:ext uri="{FF2B5EF4-FFF2-40B4-BE49-F238E27FC236}">
                    <a16:creationId xmlns:a16="http://schemas.microsoft.com/office/drawing/2014/main" id="{A62647AF-C646-2EE7-A87F-A95D69D63E21}"/>
                  </a:ext>
                </a:extLst>
              </p:cNvPr>
              <p:cNvGrpSpPr/>
              <p:nvPr/>
            </p:nvGrpSpPr>
            <p:grpSpPr>
              <a:xfrm>
                <a:off x="647195" y="1489591"/>
                <a:ext cx="2104317" cy="497151"/>
                <a:chOff x="736446" y="2345802"/>
                <a:chExt cx="1941678" cy="497151"/>
              </a:xfrm>
            </p:grpSpPr>
            <p:sp>
              <p:nvSpPr>
                <p:cNvPr id="22" name="Freeform: Shape 63">
                  <a:extLst>
                    <a:ext uri="{FF2B5EF4-FFF2-40B4-BE49-F238E27FC236}">
                      <a16:creationId xmlns:a16="http://schemas.microsoft.com/office/drawing/2014/main" id="{6787463B-36C5-8675-A31B-2659919B5167}"/>
                    </a:ext>
                  </a:extLst>
                </p:cNvPr>
                <p:cNvSpPr/>
                <p:nvPr/>
              </p:nvSpPr>
              <p:spPr>
                <a:xfrm>
                  <a:off x="736446" y="2345802"/>
                  <a:ext cx="1941678"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3"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extBox 1"/>
              <p:cNvSpPr txBox="1"/>
              <p:nvPr/>
            </p:nvSpPr>
            <p:spPr>
              <a:xfrm>
                <a:off x="682682" y="1623333"/>
                <a:ext cx="20333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ĐIỀU HÒA THÔNG GIÓ</a:t>
                </a:r>
                <a:endParaRPr kumimoji="0" lang="en-US" sz="14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31" name="Group 30"/>
            <p:cNvGrpSpPr/>
            <p:nvPr/>
          </p:nvGrpSpPr>
          <p:grpSpPr>
            <a:xfrm>
              <a:off x="2612447" y="1461186"/>
              <a:ext cx="2283750" cy="497151"/>
              <a:chOff x="628367" y="1489591"/>
              <a:chExt cx="2209369" cy="497151"/>
            </a:xfrm>
          </p:grpSpPr>
          <p:grpSp>
            <p:nvGrpSpPr>
              <p:cNvPr id="32" name="Group 31">
                <a:extLst>
                  <a:ext uri="{FF2B5EF4-FFF2-40B4-BE49-F238E27FC236}">
                    <a16:creationId xmlns:a16="http://schemas.microsoft.com/office/drawing/2014/main" id="{A62647AF-C646-2EE7-A87F-A95D69D63E21}"/>
                  </a:ext>
                </a:extLst>
              </p:cNvPr>
              <p:cNvGrpSpPr/>
              <p:nvPr/>
            </p:nvGrpSpPr>
            <p:grpSpPr>
              <a:xfrm>
                <a:off x="647195" y="1489591"/>
                <a:ext cx="2104317" cy="497151"/>
                <a:chOff x="736446" y="2345802"/>
                <a:chExt cx="1941678" cy="497151"/>
              </a:xfrm>
            </p:grpSpPr>
            <p:sp>
              <p:nvSpPr>
                <p:cNvPr id="34" name="Freeform: Shape 63">
                  <a:extLst>
                    <a:ext uri="{FF2B5EF4-FFF2-40B4-BE49-F238E27FC236}">
                      <a16:creationId xmlns:a16="http://schemas.microsoft.com/office/drawing/2014/main" id="{6787463B-36C5-8675-A31B-2659919B5167}"/>
                    </a:ext>
                  </a:extLst>
                </p:cNvPr>
                <p:cNvSpPr/>
                <p:nvPr/>
              </p:nvSpPr>
              <p:spPr>
                <a:xfrm>
                  <a:off x="736446" y="2345802"/>
                  <a:ext cx="1941678"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35"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3" name="TextBox 32"/>
              <p:cNvSpPr txBox="1"/>
              <p:nvPr/>
            </p:nvSpPr>
            <p:spPr>
              <a:xfrm>
                <a:off x="628367" y="1623333"/>
                <a:ext cx="220936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PHÒNG CHÁY CHỮA CHÁY</a:t>
                </a:r>
                <a:endParaRPr kumimoji="0" lang="en-US" sz="14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36" name="Group 35"/>
            <p:cNvGrpSpPr/>
            <p:nvPr/>
          </p:nvGrpSpPr>
          <p:grpSpPr>
            <a:xfrm>
              <a:off x="6788859" y="1461186"/>
              <a:ext cx="2057009" cy="497151"/>
              <a:chOff x="647195" y="1489591"/>
              <a:chExt cx="2229864" cy="497151"/>
            </a:xfrm>
          </p:grpSpPr>
          <p:grpSp>
            <p:nvGrpSpPr>
              <p:cNvPr id="37" name="Group 36">
                <a:extLst>
                  <a:ext uri="{FF2B5EF4-FFF2-40B4-BE49-F238E27FC236}">
                    <a16:creationId xmlns:a16="http://schemas.microsoft.com/office/drawing/2014/main" id="{A62647AF-C646-2EE7-A87F-A95D69D63E21}"/>
                  </a:ext>
                </a:extLst>
              </p:cNvPr>
              <p:cNvGrpSpPr/>
              <p:nvPr/>
            </p:nvGrpSpPr>
            <p:grpSpPr>
              <a:xfrm>
                <a:off x="647195" y="1489591"/>
                <a:ext cx="2104317" cy="497151"/>
                <a:chOff x="736446" y="2345802"/>
                <a:chExt cx="1941678" cy="497151"/>
              </a:xfrm>
            </p:grpSpPr>
            <p:sp>
              <p:nvSpPr>
                <p:cNvPr id="39" name="Freeform: Shape 63">
                  <a:extLst>
                    <a:ext uri="{FF2B5EF4-FFF2-40B4-BE49-F238E27FC236}">
                      <a16:creationId xmlns:a16="http://schemas.microsoft.com/office/drawing/2014/main" id="{6787463B-36C5-8675-A31B-2659919B5167}"/>
                    </a:ext>
                  </a:extLst>
                </p:cNvPr>
                <p:cNvSpPr/>
                <p:nvPr/>
              </p:nvSpPr>
              <p:spPr>
                <a:xfrm>
                  <a:off x="736446" y="2345802"/>
                  <a:ext cx="1941678"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40"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8" name="TextBox 37"/>
              <p:cNvSpPr txBox="1"/>
              <p:nvPr/>
            </p:nvSpPr>
            <p:spPr>
              <a:xfrm>
                <a:off x="1400922" y="1631923"/>
                <a:ext cx="147613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ĐIỆN</a:t>
                </a:r>
                <a:endParaRPr kumimoji="0" lang="en-US" sz="14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41" name="Group 40"/>
            <p:cNvGrpSpPr/>
            <p:nvPr/>
          </p:nvGrpSpPr>
          <p:grpSpPr>
            <a:xfrm>
              <a:off x="2611424" y="3174513"/>
              <a:ext cx="1823229" cy="642754"/>
              <a:chOff x="600119" y="1489591"/>
              <a:chExt cx="2198469" cy="642754"/>
            </a:xfrm>
          </p:grpSpPr>
          <p:grpSp>
            <p:nvGrpSpPr>
              <p:cNvPr id="48" name="Group 47">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50"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51"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49" name="TextBox 48"/>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TRẠM BIẾN ÁP/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TỦ TRUNG, HẠ THẾ</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52" name="Group 51"/>
            <p:cNvGrpSpPr/>
            <p:nvPr/>
          </p:nvGrpSpPr>
          <p:grpSpPr>
            <a:xfrm>
              <a:off x="8893901" y="1459478"/>
              <a:ext cx="2576257" cy="497151"/>
              <a:chOff x="647195" y="1489591"/>
              <a:chExt cx="2104317" cy="497151"/>
            </a:xfrm>
          </p:grpSpPr>
          <p:grpSp>
            <p:nvGrpSpPr>
              <p:cNvPr id="53" name="Group 52">
                <a:extLst>
                  <a:ext uri="{FF2B5EF4-FFF2-40B4-BE49-F238E27FC236}">
                    <a16:creationId xmlns:a16="http://schemas.microsoft.com/office/drawing/2014/main" id="{A62647AF-C646-2EE7-A87F-A95D69D63E21}"/>
                  </a:ext>
                </a:extLst>
              </p:cNvPr>
              <p:cNvGrpSpPr/>
              <p:nvPr/>
            </p:nvGrpSpPr>
            <p:grpSpPr>
              <a:xfrm>
                <a:off x="647195" y="1489591"/>
                <a:ext cx="2104317" cy="497151"/>
                <a:chOff x="736446" y="2345802"/>
                <a:chExt cx="1941678" cy="497151"/>
              </a:xfrm>
            </p:grpSpPr>
            <p:sp>
              <p:nvSpPr>
                <p:cNvPr id="55" name="Freeform: Shape 63">
                  <a:extLst>
                    <a:ext uri="{FF2B5EF4-FFF2-40B4-BE49-F238E27FC236}">
                      <a16:creationId xmlns:a16="http://schemas.microsoft.com/office/drawing/2014/main" id="{6787463B-36C5-8675-A31B-2659919B5167}"/>
                    </a:ext>
                  </a:extLst>
                </p:cNvPr>
                <p:cNvSpPr/>
                <p:nvPr/>
              </p:nvSpPr>
              <p:spPr>
                <a:xfrm>
                  <a:off x="736446" y="2345802"/>
                  <a:ext cx="1941678"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56"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54" name="TextBox 53"/>
              <p:cNvSpPr txBox="1"/>
              <p:nvPr/>
            </p:nvSpPr>
            <p:spPr>
              <a:xfrm>
                <a:off x="1236985" y="1629759"/>
                <a:ext cx="132532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THANG MÁY</a:t>
                </a:r>
                <a:endParaRPr kumimoji="0" lang="en-US" sz="14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0" name="Group 9"/>
            <p:cNvGrpSpPr/>
            <p:nvPr/>
          </p:nvGrpSpPr>
          <p:grpSpPr>
            <a:xfrm>
              <a:off x="111417" y="2775352"/>
              <a:ext cx="1604560" cy="649010"/>
              <a:chOff x="111417" y="2775352"/>
              <a:chExt cx="1604560" cy="649010"/>
            </a:xfrm>
          </p:grpSpPr>
          <p:grpSp>
            <p:nvGrpSpPr>
              <p:cNvPr id="28" name="Group 27">
                <a:extLst>
                  <a:ext uri="{FF2B5EF4-FFF2-40B4-BE49-F238E27FC236}">
                    <a16:creationId xmlns:a16="http://schemas.microsoft.com/office/drawing/2014/main" id="{2A676BE3-9359-86A3-2D46-9F89A7CD3FB8}"/>
                  </a:ext>
                </a:extLst>
              </p:cNvPr>
              <p:cNvGrpSpPr/>
              <p:nvPr/>
            </p:nvGrpSpPr>
            <p:grpSpPr>
              <a:xfrm rot="10800000">
                <a:off x="111417" y="2775352"/>
                <a:ext cx="1604560" cy="649010"/>
                <a:chOff x="2096037" y="3806199"/>
                <a:chExt cx="2139413" cy="1038852"/>
              </a:xfrm>
            </p:grpSpPr>
            <p:sp>
              <p:nvSpPr>
                <p:cNvPr id="29" name="Freeform: Shape 52">
                  <a:extLst>
                    <a:ext uri="{FF2B5EF4-FFF2-40B4-BE49-F238E27FC236}">
                      <a16:creationId xmlns:a16="http://schemas.microsoft.com/office/drawing/2014/main" id="{EFFB89D2-60EF-EB7B-A9AC-8E8470F47C98}"/>
                    </a:ext>
                  </a:extLst>
                </p:cNvPr>
                <p:cNvSpPr/>
                <p:nvPr/>
              </p:nvSpPr>
              <p:spPr>
                <a:xfrm>
                  <a:off x="2096037" y="3806199"/>
                  <a:ext cx="2139413" cy="1038852"/>
                </a:xfrm>
                <a:custGeom>
                  <a:avLst/>
                  <a:gdLst>
                    <a:gd name="connsiteX0" fmla="*/ 131301 w 2139413"/>
                    <a:gd name="connsiteY0" fmla="*/ 0 h 1038852"/>
                    <a:gd name="connsiteX1" fmla="*/ 2008112 w 2139413"/>
                    <a:gd name="connsiteY1" fmla="*/ 0 h 1038852"/>
                    <a:gd name="connsiteX2" fmla="*/ 2139413 w 2139413"/>
                    <a:gd name="connsiteY2" fmla="*/ 131301 h 1038852"/>
                    <a:gd name="connsiteX3" fmla="*/ 2139413 w 2139413"/>
                    <a:gd name="connsiteY3" fmla="*/ 907551 h 1038852"/>
                    <a:gd name="connsiteX4" fmla="*/ 2008112 w 2139413"/>
                    <a:gd name="connsiteY4" fmla="*/ 1038852 h 1038852"/>
                    <a:gd name="connsiteX5" fmla="*/ 131301 w 2139413"/>
                    <a:gd name="connsiteY5" fmla="*/ 1038852 h 1038852"/>
                    <a:gd name="connsiteX6" fmla="*/ 0 w 2139413"/>
                    <a:gd name="connsiteY6" fmla="*/ 907551 h 1038852"/>
                    <a:gd name="connsiteX7" fmla="*/ 0 w 2139413"/>
                    <a:gd name="connsiteY7" fmla="*/ 131301 h 1038852"/>
                    <a:gd name="connsiteX8" fmla="*/ 80193 w 2139413"/>
                    <a:gd name="connsiteY8" fmla="*/ 10318 h 1038852"/>
                    <a:gd name="connsiteX9" fmla="*/ 80193 w 2139413"/>
                    <a:gd name="connsiteY9" fmla="*/ 10318 h 1038852"/>
                    <a:gd name="connsiteX10" fmla="*/ 38458 w 2139413"/>
                    <a:gd name="connsiteY10" fmla="*/ 38457 h 1038852"/>
                    <a:gd name="connsiteX11" fmla="*/ 10319 w 2139413"/>
                    <a:gd name="connsiteY11" fmla="*/ 80192 h 1038852"/>
                    <a:gd name="connsiteX12" fmla="*/ 2 w 2139413"/>
                    <a:gd name="connsiteY12" fmla="*/ 131293 h 1038852"/>
                    <a:gd name="connsiteX13" fmla="*/ 2 w 2139413"/>
                    <a:gd name="connsiteY13" fmla="*/ 907558 h 1038852"/>
                    <a:gd name="connsiteX14" fmla="*/ 10319 w 2139413"/>
                    <a:gd name="connsiteY14" fmla="*/ 958659 h 1038852"/>
                    <a:gd name="connsiteX15" fmla="*/ 80193 w 2139413"/>
                    <a:gd name="connsiteY15" fmla="*/ 1028533 h 1038852"/>
                    <a:gd name="connsiteX16" fmla="*/ 89377 w 2139413"/>
                    <a:gd name="connsiteY16" fmla="*/ 1030387 h 1038852"/>
                    <a:gd name="connsiteX17" fmla="*/ 89377 w 2139413"/>
                    <a:gd name="connsiteY17" fmla="*/ 8464 h 1038852"/>
                    <a:gd name="connsiteX18" fmla="*/ 87376 w 2139413"/>
                    <a:gd name="connsiteY18" fmla="*/ 8868 h 103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39413" h="1038852">
                      <a:moveTo>
                        <a:pt x="131301" y="0"/>
                      </a:moveTo>
                      <a:lnTo>
                        <a:pt x="2008112" y="0"/>
                      </a:lnTo>
                      <a:cubicBezTo>
                        <a:pt x="2080628" y="0"/>
                        <a:pt x="2139413" y="58785"/>
                        <a:pt x="2139413" y="131301"/>
                      </a:cubicBezTo>
                      <a:lnTo>
                        <a:pt x="2139413" y="907551"/>
                      </a:lnTo>
                      <a:cubicBezTo>
                        <a:pt x="2139413" y="980067"/>
                        <a:pt x="2080628" y="1038852"/>
                        <a:pt x="2008112" y="1038852"/>
                      </a:cubicBezTo>
                      <a:lnTo>
                        <a:pt x="131301" y="1038852"/>
                      </a:lnTo>
                      <a:cubicBezTo>
                        <a:pt x="58785" y="1038852"/>
                        <a:pt x="0" y="980067"/>
                        <a:pt x="0" y="907551"/>
                      </a:cubicBezTo>
                      <a:lnTo>
                        <a:pt x="0" y="131301"/>
                      </a:lnTo>
                      <a:cubicBezTo>
                        <a:pt x="0" y="76914"/>
                        <a:pt x="33067" y="30251"/>
                        <a:pt x="80193" y="10318"/>
                      </a:cubicBezTo>
                      <a:lnTo>
                        <a:pt x="80193" y="10318"/>
                      </a:lnTo>
                      <a:lnTo>
                        <a:pt x="38458" y="38457"/>
                      </a:lnTo>
                      <a:cubicBezTo>
                        <a:pt x="26577" y="50337"/>
                        <a:pt x="16963" y="64484"/>
                        <a:pt x="10319" y="80192"/>
                      </a:cubicBezTo>
                      <a:lnTo>
                        <a:pt x="2" y="131293"/>
                      </a:lnTo>
                      <a:lnTo>
                        <a:pt x="2" y="907558"/>
                      </a:lnTo>
                      <a:lnTo>
                        <a:pt x="10319" y="958659"/>
                      </a:lnTo>
                      <a:cubicBezTo>
                        <a:pt x="23607" y="990076"/>
                        <a:pt x="48776" y="1015245"/>
                        <a:pt x="80193" y="1028533"/>
                      </a:cubicBezTo>
                      <a:lnTo>
                        <a:pt x="89377" y="1030387"/>
                      </a:lnTo>
                      <a:lnTo>
                        <a:pt x="89377" y="8464"/>
                      </a:lnTo>
                      <a:lnTo>
                        <a:pt x="87376" y="8868"/>
                      </a:lnTo>
                      <a:close/>
                    </a:path>
                  </a:pathLst>
                </a:custGeom>
                <a:solidFill>
                  <a:schemeClr val="bg1"/>
                </a:solidFill>
                <a:ln>
                  <a:noFill/>
                </a:ln>
                <a:effectLst>
                  <a:outerShdw blurRad="50800" dist="254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1">
                    <a:ln>
                      <a:noFill/>
                    </a:ln>
                    <a:solidFill>
                      <a:prstClr val="white">
                        <a:lumMod val="65000"/>
                      </a:prstClr>
                    </a:solidFill>
                    <a:effectLst/>
                    <a:uLnTx/>
                    <a:uFillTx/>
                    <a:latin typeface="Calibri"/>
                    <a:ea typeface="+mn-ea"/>
                    <a:cs typeface="+mn-cs"/>
                  </a:endParaRPr>
                </a:p>
              </p:txBody>
            </p:sp>
            <p:sp>
              <p:nvSpPr>
                <p:cNvPr id="30" name="Freeform: Shape 56">
                  <a:extLst>
                    <a:ext uri="{FF2B5EF4-FFF2-40B4-BE49-F238E27FC236}">
                      <a16:creationId xmlns:a16="http://schemas.microsoft.com/office/drawing/2014/main" id="{6C89DAD1-FC4F-4885-07A1-578AB65E3A30}"/>
                    </a:ext>
                  </a:extLst>
                </p:cNvPr>
                <p:cNvSpPr/>
                <p:nvPr/>
              </p:nvSpPr>
              <p:spPr>
                <a:xfrm rot="16200000">
                  <a:off x="1629765" y="4280938"/>
                  <a:ext cx="1021923" cy="89375"/>
                </a:xfrm>
                <a:custGeom>
                  <a:avLst/>
                  <a:gdLst>
                    <a:gd name="connsiteX0" fmla="*/ 1021923 w 1021923"/>
                    <a:gd name="connsiteY0" fmla="*/ 89375 h 89375"/>
                    <a:gd name="connsiteX1" fmla="*/ 0 w 1021923"/>
                    <a:gd name="connsiteY1" fmla="*/ 89375 h 89375"/>
                    <a:gd name="connsiteX2" fmla="*/ 1854 w 1021923"/>
                    <a:gd name="connsiteY2" fmla="*/ 80191 h 89375"/>
                    <a:gd name="connsiteX3" fmla="*/ 71728 w 1021923"/>
                    <a:gd name="connsiteY3" fmla="*/ 10317 h 89375"/>
                    <a:gd name="connsiteX4" fmla="*/ 122829 w 1021923"/>
                    <a:gd name="connsiteY4" fmla="*/ 0 h 89375"/>
                    <a:gd name="connsiteX5" fmla="*/ 899094 w 1021923"/>
                    <a:gd name="connsiteY5" fmla="*/ 0 h 89375"/>
                    <a:gd name="connsiteX6" fmla="*/ 950195 w 1021923"/>
                    <a:gd name="connsiteY6" fmla="*/ 10317 h 89375"/>
                    <a:gd name="connsiteX7" fmla="*/ 1020069 w 1021923"/>
                    <a:gd name="connsiteY7" fmla="*/ 80191 h 8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1923" h="89375">
                      <a:moveTo>
                        <a:pt x="1021923" y="89375"/>
                      </a:moveTo>
                      <a:lnTo>
                        <a:pt x="0" y="89375"/>
                      </a:lnTo>
                      <a:lnTo>
                        <a:pt x="1854" y="80191"/>
                      </a:lnTo>
                      <a:cubicBezTo>
                        <a:pt x="15142" y="48774"/>
                        <a:pt x="40311" y="23605"/>
                        <a:pt x="71728" y="10317"/>
                      </a:cubicBezTo>
                      <a:lnTo>
                        <a:pt x="122829" y="0"/>
                      </a:lnTo>
                      <a:lnTo>
                        <a:pt x="899094" y="0"/>
                      </a:lnTo>
                      <a:lnTo>
                        <a:pt x="950195" y="10317"/>
                      </a:lnTo>
                      <a:cubicBezTo>
                        <a:pt x="981612" y="23605"/>
                        <a:pt x="1006781" y="48774"/>
                        <a:pt x="1020069" y="80191"/>
                      </a:cubicBezTo>
                      <a:close/>
                    </a:path>
                  </a:pathLst>
                </a:custGeom>
                <a:solidFill>
                  <a:srgbClr val="A9C1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5" name="TextBox 4"/>
              <p:cNvSpPr txBox="1"/>
              <p:nvPr/>
            </p:nvSpPr>
            <p:spPr>
              <a:xfrm>
                <a:off x="244120" y="2843689"/>
                <a:ext cx="1339151"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ĐIỀU HOÀ DÂN DỤNG</a:t>
                </a:r>
              </a:p>
            </p:txBody>
          </p:sp>
        </p:grpSp>
        <p:grpSp>
          <p:nvGrpSpPr>
            <p:cNvPr id="66" name="Group 65"/>
            <p:cNvGrpSpPr/>
            <p:nvPr/>
          </p:nvGrpSpPr>
          <p:grpSpPr>
            <a:xfrm>
              <a:off x="111417" y="3706378"/>
              <a:ext cx="1604560" cy="649010"/>
              <a:chOff x="111417" y="2775352"/>
              <a:chExt cx="1604560" cy="649010"/>
            </a:xfrm>
          </p:grpSpPr>
          <p:grpSp>
            <p:nvGrpSpPr>
              <p:cNvPr id="67" name="Group 66">
                <a:extLst>
                  <a:ext uri="{FF2B5EF4-FFF2-40B4-BE49-F238E27FC236}">
                    <a16:creationId xmlns:a16="http://schemas.microsoft.com/office/drawing/2014/main" id="{2A676BE3-9359-86A3-2D46-9F89A7CD3FB8}"/>
                  </a:ext>
                </a:extLst>
              </p:cNvPr>
              <p:cNvGrpSpPr/>
              <p:nvPr/>
            </p:nvGrpSpPr>
            <p:grpSpPr>
              <a:xfrm rot="10800000">
                <a:off x="111417" y="2775352"/>
                <a:ext cx="1604560" cy="649010"/>
                <a:chOff x="2096037" y="3806199"/>
                <a:chExt cx="2139413" cy="1038852"/>
              </a:xfrm>
            </p:grpSpPr>
            <p:sp>
              <p:nvSpPr>
                <p:cNvPr id="69" name="Freeform: Shape 52">
                  <a:extLst>
                    <a:ext uri="{FF2B5EF4-FFF2-40B4-BE49-F238E27FC236}">
                      <a16:creationId xmlns:a16="http://schemas.microsoft.com/office/drawing/2014/main" id="{EFFB89D2-60EF-EB7B-A9AC-8E8470F47C98}"/>
                    </a:ext>
                  </a:extLst>
                </p:cNvPr>
                <p:cNvSpPr/>
                <p:nvPr/>
              </p:nvSpPr>
              <p:spPr>
                <a:xfrm>
                  <a:off x="2096037" y="3806199"/>
                  <a:ext cx="2139413" cy="1038852"/>
                </a:xfrm>
                <a:custGeom>
                  <a:avLst/>
                  <a:gdLst>
                    <a:gd name="connsiteX0" fmla="*/ 131301 w 2139413"/>
                    <a:gd name="connsiteY0" fmla="*/ 0 h 1038852"/>
                    <a:gd name="connsiteX1" fmla="*/ 2008112 w 2139413"/>
                    <a:gd name="connsiteY1" fmla="*/ 0 h 1038852"/>
                    <a:gd name="connsiteX2" fmla="*/ 2139413 w 2139413"/>
                    <a:gd name="connsiteY2" fmla="*/ 131301 h 1038852"/>
                    <a:gd name="connsiteX3" fmla="*/ 2139413 w 2139413"/>
                    <a:gd name="connsiteY3" fmla="*/ 907551 h 1038852"/>
                    <a:gd name="connsiteX4" fmla="*/ 2008112 w 2139413"/>
                    <a:gd name="connsiteY4" fmla="*/ 1038852 h 1038852"/>
                    <a:gd name="connsiteX5" fmla="*/ 131301 w 2139413"/>
                    <a:gd name="connsiteY5" fmla="*/ 1038852 h 1038852"/>
                    <a:gd name="connsiteX6" fmla="*/ 0 w 2139413"/>
                    <a:gd name="connsiteY6" fmla="*/ 907551 h 1038852"/>
                    <a:gd name="connsiteX7" fmla="*/ 0 w 2139413"/>
                    <a:gd name="connsiteY7" fmla="*/ 131301 h 1038852"/>
                    <a:gd name="connsiteX8" fmla="*/ 80193 w 2139413"/>
                    <a:gd name="connsiteY8" fmla="*/ 10318 h 1038852"/>
                    <a:gd name="connsiteX9" fmla="*/ 80193 w 2139413"/>
                    <a:gd name="connsiteY9" fmla="*/ 10318 h 1038852"/>
                    <a:gd name="connsiteX10" fmla="*/ 38458 w 2139413"/>
                    <a:gd name="connsiteY10" fmla="*/ 38457 h 1038852"/>
                    <a:gd name="connsiteX11" fmla="*/ 10319 w 2139413"/>
                    <a:gd name="connsiteY11" fmla="*/ 80192 h 1038852"/>
                    <a:gd name="connsiteX12" fmla="*/ 2 w 2139413"/>
                    <a:gd name="connsiteY12" fmla="*/ 131293 h 1038852"/>
                    <a:gd name="connsiteX13" fmla="*/ 2 w 2139413"/>
                    <a:gd name="connsiteY13" fmla="*/ 907558 h 1038852"/>
                    <a:gd name="connsiteX14" fmla="*/ 10319 w 2139413"/>
                    <a:gd name="connsiteY14" fmla="*/ 958659 h 1038852"/>
                    <a:gd name="connsiteX15" fmla="*/ 80193 w 2139413"/>
                    <a:gd name="connsiteY15" fmla="*/ 1028533 h 1038852"/>
                    <a:gd name="connsiteX16" fmla="*/ 89377 w 2139413"/>
                    <a:gd name="connsiteY16" fmla="*/ 1030387 h 1038852"/>
                    <a:gd name="connsiteX17" fmla="*/ 89377 w 2139413"/>
                    <a:gd name="connsiteY17" fmla="*/ 8464 h 1038852"/>
                    <a:gd name="connsiteX18" fmla="*/ 87376 w 2139413"/>
                    <a:gd name="connsiteY18" fmla="*/ 8868 h 103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39413" h="1038852">
                      <a:moveTo>
                        <a:pt x="131301" y="0"/>
                      </a:moveTo>
                      <a:lnTo>
                        <a:pt x="2008112" y="0"/>
                      </a:lnTo>
                      <a:cubicBezTo>
                        <a:pt x="2080628" y="0"/>
                        <a:pt x="2139413" y="58785"/>
                        <a:pt x="2139413" y="131301"/>
                      </a:cubicBezTo>
                      <a:lnTo>
                        <a:pt x="2139413" y="907551"/>
                      </a:lnTo>
                      <a:cubicBezTo>
                        <a:pt x="2139413" y="980067"/>
                        <a:pt x="2080628" y="1038852"/>
                        <a:pt x="2008112" y="1038852"/>
                      </a:cubicBezTo>
                      <a:lnTo>
                        <a:pt x="131301" y="1038852"/>
                      </a:lnTo>
                      <a:cubicBezTo>
                        <a:pt x="58785" y="1038852"/>
                        <a:pt x="0" y="980067"/>
                        <a:pt x="0" y="907551"/>
                      </a:cubicBezTo>
                      <a:lnTo>
                        <a:pt x="0" y="131301"/>
                      </a:lnTo>
                      <a:cubicBezTo>
                        <a:pt x="0" y="76914"/>
                        <a:pt x="33067" y="30251"/>
                        <a:pt x="80193" y="10318"/>
                      </a:cubicBezTo>
                      <a:lnTo>
                        <a:pt x="80193" y="10318"/>
                      </a:lnTo>
                      <a:lnTo>
                        <a:pt x="38458" y="38457"/>
                      </a:lnTo>
                      <a:cubicBezTo>
                        <a:pt x="26577" y="50337"/>
                        <a:pt x="16963" y="64484"/>
                        <a:pt x="10319" y="80192"/>
                      </a:cubicBezTo>
                      <a:lnTo>
                        <a:pt x="2" y="131293"/>
                      </a:lnTo>
                      <a:lnTo>
                        <a:pt x="2" y="907558"/>
                      </a:lnTo>
                      <a:lnTo>
                        <a:pt x="10319" y="958659"/>
                      </a:lnTo>
                      <a:cubicBezTo>
                        <a:pt x="23607" y="990076"/>
                        <a:pt x="48776" y="1015245"/>
                        <a:pt x="80193" y="1028533"/>
                      </a:cubicBezTo>
                      <a:lnTo>
                        <a:pt x="89377" y="1030387"/>
                      </a:lnTo>
                      <a:lnTo>
                        <a:pt x="89377" y="8464"/>
                      </a:lnTo>
                      <a:lnTo>
                        <a:pt x="87376" y="8868"/>
                      </a:lnTo>
                      <a:close/>
                    </a:path>
                  </a:pathLst>
                </a:custGeom>
                <a:solidFill>
                  <a:schemeClr val="bg1"/>
                </a:solidFill>
                <a:ln>
                  <a:noFill/>
                </a:ln>
                <a:effectLst>
                  <a:outerShdw blurRad="50800" dist="254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1">
                    <a:ln>
                      <a:noFill/>
                    </a:ln>
                    <a:solidFill>
                      <a:prstClr val="white">
                        <a:lumMod val="65000"/>
                      </a:prstClr>
                    </a:solidFill>
                    <a:effectLst/>
                    <a:uLnTx/>
                    <a:uFillTx/>
                    <a:latin typeface="Calibri"/>
                    <a:ea typeface="+mn-ea"/>
                    <a:cs typeface="+mn-cs"/>
                  </a:endParaRPr>
                </a:p>
              </p:txBody>
            </p:sp>
            <p:sp>
              <p:nvSpPr>
                <p:cNvPr id="70" name="Freeform: Shape 56">
                  <a:extLst>
                    <a:ext uri="{FF2B5EF4-FFF2-40B4-BE49-F238E27FC236}">
                      <a16:creationId xmlns:a16="http://schemas.microsoft.com/office/drawing/2014/main" id="{6C89DAD1-FC4F-4885-07A1-578AB65E3A30}"/>
                    </a:ext>
                  </a:extLst>
                </p:cNvPr>
                <p:cNvSpPr/>
                <p:nvPr/>
              </p:nvSpPr>
              <p:spPr>
                <a:xfrm rot="16200000">
                  <a:off x="1629765" y="4280938"/>
                  <a:ext cx="1021923" cy="89375"/>
                </a:xfrm>
                <a:custGeom>
                  <a:avLst/>
                  <a:gdLst>
                    <a:gd name="connsiteX0" fmla="*/ 1021923 w 1021923"/>
                    <a:gd name="connsiteY0" fmla="*/ 89375 h 89375"/>
                    <a:gd name="connsiteX1" fmla="*/ 0 w 1021923"/>
                    <a:gd name="connsiteY1" fmla="*/ 89375 h 89375"/>
                    <a:gd name="connsiteX2" fmla="*/ 1854 w 1021923"/>
                    <a:gd name="connsiteY2" fmla="*/ 80191 h 89375"/>
                    <a:gd name="connsiteX3" fmla="*/ 71728 w 1021923"/>
                    <a:gd name="connsiteY3" fmla="*/ 10317 h 89375"/>
                    <a:gd name="connsiteX4" fmla="*/ 122829 w 1021923"/>
                    <a:gd name="connsiteY4" fmla="*/ 0 h 89375"/>
                    <a:gd name="connsiteX5" fmla="*/ 899094 w 1021923"/>
                    <a:gd name="connsiteY5" fmla="*/ 0 h 89375"/>
                    <a:gd name="connsiteX6" fmla="*/ 950195 w 1021923"/>
                    <a:gd name="connsiteY6" fmla="*/ 10317 h 89375"/>
                    <a:gd name="connsiteX7" fmla="*/ 1020069 w 1021923"/>
                    <a:gd name="connsiteY7" fmla="*/ 80191 h 8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1923" h="89375">
                      <a:moveTo>
                        <a:pt x="1021923" y="89375"/>
                      </a:moveTo>
                      <a:lnTo>
                        <a:pt x="0" y="89375"/>
                      </a:lnTo>
                      <a:lnTo>
                        <a:pt x="1854" y="80191"/>
                      </a:lnTo>
                      <a:cubicBezTo>
                        <a:pt x="15142" y="48774"/>
                        <a:pt x="40311" y="23605"/>
                        <a:pt x="71728" y="10317"/>
                      </a:cubicBezTo>
                      <a:lnTo>
                        <a:pt x="122829" y="0"/>
                      </a:lnTo>
                      <a:lnTo>
                        <a:pt x="899094" y="0"/>
                      </a:lnTo>
                      <a:lnTo>
                        <a:pt x="950195" y="10317"/>
                      </a:lnTo>
                      <a:cubicBezTo>
                        <a:pt x="981612" y="23605"/>
                        <a:pt x="1006781" y="48774"/>
                        <a:pt x="1020069" y="80191"/>
                      </a:cubicBezTo>
                      <a:close/>
                    </a:path>
                  </a:pathLst>
                </a:custGeom>
                <a:solidFill>
                  <a:srgbClr val="A9C1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68" name="TextBox 67"/>
              <p:cNvSpPr txBox="1"/>
              <p:nvPr/>
            </p:nvSpPr>
            <p:spPr>
              <a:xfrm>
                <a:off x="210605" y="2938578"/>
                <a:ext cx="13391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CHILLER</a:t>
                </a:r>
              </a:p>
            </p:txBody>
          </p:sp>
        </p:grpSp>
        <p:grpSp>
          <p:nvGrpSpPr>
            <p:cNvPr id="71" name="Group 70"/>
            <p:cNvGrpSpPr/>
            <p:nvPr/>
          </p:nvGrpSpPr>
          <p:grpSpPr>
            <a:xfrm>
              <a:off x="111417" y="4635981"/>
              <a:ext cx="1604560" cy="649010"/>
              <a:chOff x="111417" y="2775352"/>
              <a:chExt cx="1604560" cy="649010"/>
            </a:xfrm>
          </p:grpSpPr>
          <p:grpSp>
            <p:nvGrpSpPr>
              <p:cNvPr id="72" name="Group 71">
                <a:extLst>
                  <a:ext uri="{FF2B5EF4-FFF2-40B4-BE49-F238E27FC236}">
                    <a16:creationId xmlns:a16="http://schemas.microsoft.com/office/drawing/2014/main" id="{2A676BE3-9359-86A3-2D46-9F89A7CD3FB8}"/>
                  </a:ext>
                </a:extLst>
              </p:cNvPr>
              <p:cNvGrpSpPr/>
              <p:nvPr/>
            </p:nvGrpSpPr>
            <p:grpSpPr>
              <a:xfrm rot="10800000">
                <a:off x="111417" y="2775352"/>
                <a:ext cx="1604560" cy="649010"/>
                <a:chOff x="2096037" y="3806199"/>
                <a:chExt cx="2139413" cy="1038852"/>
              </a:xfrm>
            </p:grpSpPr>
            <p:sp>
              <p:nvSpPr>
                <p:cNvPr id="74" name="Freeform: Shape 52">
                  <a:extLst>
                    <a:ext uri="{FF2B5EF4-FFF2-40B4-BE49-F238E27FC236}">
                      <a16:creationId xmlns:a16="http://schemas.microsoft.com/office/drawing/2014/main" id="{EFFB89D2-60EF-EB7B-A9AC-8E8470F47C98}"/>
                    </a:ext>
                  </a:extLst>
                </p:cNvPr>
                <p:cNvSpPr/>
                <p:nvPr/>
              </p:nvSpPr>
              <p:spPr>
                <a:xfrm>
                  <a:off x="2096037" y="3806199"/>
                  <a:ext cx="2139413" cy="1038852"/>
                </a:xfrm>
                <a:custGeom>
                  <a:avLst/>
                  <a:gdLst>
                    <a:gd name="connsiteX0" fmla="*/ 131301 w 2139413"/>
                    <a:gd name="connsiteY0" fmla="*/ 0 h 1038852"/>
                    <a:gd name="connsiteX1" fmla="*/ 2008112 w 2139413"/>
                    <a:gd name="connsiteY1" fmla="*/ 0 h 1038852"/>
                    <a:gd name="connsiteX2" fmla="*/ 2139413 w 2139413"/>
                    <a:gd name="connsiteY2" fmla="*/ 131301 h 1038852"/>
                    <a:gd name="connsiteX3" fmla="*/ 2139413 w 2139413"/>
                    <a:gd name="connsiteY3" fmla="*/ 907551 h 1038852"/>
                    <a:gd name="connsiteX4" fmla="*/ 2008112 w 2139413"/>
                    <a:gd name="connsiteY4" fmla="*/ 1038852 h 1038852"/>
                    <a:gd name="connsiteX5" fmla="*/ 131301 w 2139413"/>
                    <a:gd name="connsiteY5" fmla="*/ 1038852 h 1038852"/>
                    <a:gd name="connsiteX6" fmla="*/ 0 w 2139413"/>
                    <a:gd name="connsiteY6" fmla="*/ 907551 h 1038852"/>
                    <a:gd name="connsiteX7" fmla="*/ 0 w 2139413"/>
                    <a:gd name="connsiteY7" fmla="*/ 131301 h 1038852"/>
                    <a:gd name="connsiteX8" fmla="*/ 80193 w 2139413"/>
                    <a:gd name="connsiteY8" fmla="*/ 10318 h 1038852"/>
                    <a:gd name="connsiteX9" fmla="*/ 80193 w 2139413"/>
                    <a:gd name="connsiteY9" fmla="*/ 10318 h 1038852"/>
                    <a:gd name="connsiteX10" fmla="*/ 38458 w 2139413"/>
                    <a:gd name="connsiteY10" fmla="*/ 38457 h 1038852"/>
                    <a:gd name="connsiteX11" fmla="*/ 10319 w 2139413"/>
                    <a:gd name="connsiteY11" fmla="*/ 80192 h 1038852"/>
                    <a:gd name="connsiteX12" fmla="*/ 2 w 2139413"/>
                    <a:gd name="connsiteY12" fmla="*/ 131293 h 1038852"/>
                    <a:gd name="connsiteX13" fmla="*/ 2 w 2139413"/>
                    <a:gd name="connsiteY13" fmla="*/ 907558 h 1038852"/>
                    <a:gd name="connsiteX14" fmla="*/ 10319 w 2139413"/>
                    <a:gd name="connsiteY14" fmla="*/ 958659 h 1038852"/>
                    <a:gd name="connsiteX15" fmla="*/ 80193 w 2139413"/>
                    <a:gd name="connsiteY15" fmla="*/ 1028533 h 1038852"/>
                    <a:gd name="connsiteX16" fmla="*/ 89377 w 2139413"/>
                    <a:gd name="connsiteY16" fmla="*/ 1030387 h 1038852"/>
                    <a:gd name="connsiteX17" fmla="*/ 89377 w 2139413"/>
                    <a:gd name="connsiteY17" fmla="*/ 8464 h 1038852"/>
                    <a:gd name="connsiteX18" fmla="*/ 87376 w 2139413"/>
                    <a:gd name="connsiteY18" fmla="*/ 8868 h 103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39413" h="1038852">
                      <a:moveTo>
                        <a:pt x="131301" y="0"/>
                      </a:moveTo>
                      <a:lnTo>
                        <a:pt x="2008112" y="0"/>
                      </a:lnTo>
                      <a:cubicBezTo>
                        <a:pt x="2080628" y="0"/>
                        <a:pt x="2139413" y="58785"/>
                        <a:pt x="2139413" y="131301"/>
                      </a:cubicBezTo>
                      <a:lnTo>
                        <a:pt x="2139413" y="907551"/>
                      </a:lnTo>
                      <a:cubicBezTo>
                        <a:pt x="2139413" y="980067"/>
                        <a:pt x="2080628" y="1038852"/>
                        <a:pt x="2008112" y="1038852"/>
                      </a:cubicBezTo>
                      <a:lnTo>
                        <a:pt x="131301" y="1038852"/>
                      </a:lnTo>
                      <a:cubicBezTo>
                        <a:pt x="58785" y="1038852"/>
                        <a:pt x="0" y="980067"/>
                        <a:pt x="0" y="907551"/>
                      </a:cubicBezTo>
                      <a:lnTo>
                        <a:pt x="0" y="131301"/>
                      </a:lnTo>
                      <a:cubicBezTo>
                        <a:pt x="0" y="76914"/>
                        <a:pt x="33067" y="30251"/>
                        <a:pt x="80193" y="10318"/>
                      </a:cubicBezTo>
                      <a:lnTo>
                        <a:pt x="80193" y="10318"/>
                      </a:lnTo>
                      <a:lnTo>
                        <a:pt x="38458" y="38457"/>
                      </a:lnTo>
                      <a:cubicBezTo>
                        <a:pt x="26577" y="50337"/>
                        <a:pt x="16963" y="64484"/>
                        <a:pt x="10319" y="80192"/>
                      </a:cubicBezTo>
                      <a:lnTo>
                        <a:pt x="2" y="131293"/>
                      </a:lnTo>
                      <a:lnTo>
                        <a:pt x="2" y="907558"/>
                      </a:lnTo>
                      <a:lnTo>
                        <a:pt x="10319" y="958659"/>
                      </a:lnTo>
                      <a:cubicBezTo>
                        <a:pt x="23607" y="990076"/>
                        <a:pt x="48776" y="1015245"/>
                        <a:pt x="80193" y="1028533"/>
                      </a:cubicBezTo>
                      <a:lnTo>
                        <a:pt x="89377" y="1030387"/>
                      </a:lnTo>
                      <a:lnTo>
                        <a:pt x="89377" y="8464"/>
                      </a:lnTo>
                      <a:lnTo>
                        <a:pt x="87376" y="8868"/>
                      </a:lnTo>
                      <a:close/>
                    </a:path>
                  </a:pathLst>
                </a:custGeom>
                <a:solidFill>
                  <a:schemeClr val="bg1"/>
                </a:solidFill>
                <a:ln>
                  <a:noFill/>
                </a:ln>
                <a:effectLst>
                  <a:outerShdw blurRad="50800" dist="254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1">
                    <a:ln>
                      <a:noFill/>
                    </a:ln>
                    <a:solidFill>
                      <a:prstClr val="white">
                        <a:lumMod val="65000"/>
                      </a:prstClr>
                    </a:solidFill>
                    <a:effectLst/>
                    <a:uLnTx/>
                    <a:uFillTx/>
                    <a:latin typeface="Calibri"/>
                    <a:ea typeface="+mn-ea"/>
                    <a:cs typeface="+mn-cs"/>
                  </a:endParaRPr>
                </a:p>
              </p:txBody>
            </p:sp>
            <p:sp>
              <p:nvSpPr>
                <p:cNvPr id="75" name="Freeform: Shape 56">
                  <a:extLst>
                    <a:ext uri="{FF2B5EF4-FFF2-40B4-BE49-F238E27FC236}">
                      <a16:creationId xmlns:a16="http://schemas.microsoft.com/office/drawing/2014/main" id="{6C89DAD1-FC4F-4885-07A1-578AB65E3A30}"/>
                    </a:ext>
                  </a:extLst>
                </p:cNvPr>
                <p:cNvSpPr/>
                <p:nvPr/>
              </p:nvSpPr>
              <p:spPr>
                <a:xfrm rot="16200000">
                  <a:off x="1629765" y="4280938"/>
                  <a:ext cx="1021923" cy="89375"/>
                </a:xfrm>
                <a:custGeom>
                  <a:avLst/>
                  <a:gdLst>
                    <a:gd name="connsiteX0" fmla="*/ 1021923 w 1021923"/>
                    <a:gd name="connsiteY0" fmla="*/ 89375 h 89375"/>
                    <a:gd name="connsiteX1" fmla="*/ 0 w 1021923"/>
                    <a:gd name="connsiteY1" fmla="*/ 89375 h 89375"/>
                    <a:gd name="connsiteX2" fmla="*/ 1854 w 1021923"/>
                    <a:gd name="connsiteY2" fmla="*/ 80191 h 89375"/>
                    <a:gd name="connsiteX3" fmla="*/ 71728 w 1021923"/>
                    <a:gd name="connsiteY3" fmla="*/ 10317 h 89375"/>
                    <a:gd name="connsiteX4" fmla="*/ 122829 w 1021923"/>
                    <a:gd name="connsiteY4" fmla="*/ 0 h 89375"/>
                    <a:gd name="connsiteX5" fmla="*/ 899094 w 1021923"/>
                    <a:gd name="connsiteY5" fmla="*/ 0 h 89375"/>
                    <a:gd name="connsiteX6" fmla="*/ 950195 w 1021923"/>
                    <a:gd name="connsiteY6" fmla="*/ 10317 h 89375"/>
                    <a:gd name="connsiteX7" fmla="*/ 1020069 w 1021923"/>
                    <a:gd name="connsiteY7" fmla="*/ 80191 h 8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1923" h="89375">
                      <a:moveTo>
                        <a:pt x="1021923" y="89375"/>
                      </a:moveTo>
                      <a:lnTo>
                        <a:pt x="0" y="89375"/>
                      </a:lnTo>
                      <a:lnTo>
                        <a:pt x="1854" y="80191"/>
                      </a:lnTo>
                      <a:cubicBezTo>
                        <a:pt x="15142" y="48774"/>
                        <a:pt x="40311" y="23605"/>
                        <a:pt x="71728" y="10317"/>
                      </a:cubicBezTo>
                      <a:lnTo>
                        <a:pt x="122829" y="0"/>
                      </a:lnTo>
                      <a:lnTo>
                        <a:pt x="899094" y="0"/>
                      </a:lnTo>
                      <a:lnTo>
                        <a:pt x="950195" y="10317"/>
                      </a:lnTo>
                      <a:cubicBezTo>
                        <a:pt x="981612" y="23605"/>
                        <a:pt x="1006781" y="48774"/>
                        <a:pt x="1020069" y="80191"/>
                      </a:cubicBezTo>
                      <a:close/>
                    </a:path>
                  </a:pathLst>
                </a:custGeom>
                <a:solidFill>
                  <a:srgbClr val="A9C1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73" name="TextBox 72"/>
              <p:cNvSpPr txBox="1"/>
              <p:nvPr/>
            </p:nvSpPr>
            <p:spPr>
              <a:xfrm>
                <a:off x="244119" y="2945967"/>
                <a:ext cx="13391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mbria" panose="02040503050406030204" pitchFamily="18" charset="0"/>
                    <a:ea typeface="Cambria" panose="02040503050406030204" pitchFamily="18" charset="0"/>
                    <a:cs typeface="+mn-cs"/>
                  </a:rPr>
                  <a:t>VRV</a:t>
                </a:r>
              </a:p>
            </p:txBody>
          </p:sp>
        </p:grpSp>
        <p:grpSp>
          <p:nvGrpSpPr>
            <p:cNvPr id="76" name="Group 75"/>
            <p:cNvGrpSpPr/>
            <p:nvPr/>
          </p:nvGrpSpPr>
          <p:grpSpPr>
            <a:xfrm>
              <a:off x="111417" y="5567007"/>
              <a:ext cx="1604560" cy="649010"/>
              <a:chOff x="111417" y="2775352"/>
              <a:chExt cx="1604560" cy="649010"/>
            </a:xfrm>
          </p:grpSpPr>
          <p:grpSp>
            <p:nvGrpSpPr>
              <p:cNvPr id="77" name="Group 76">
                <a:extLst>
                  <a:ext uri="{FF2B5EF4-FFF2-40B4-BE49-F238E27FC236}">
                    <a16:creationId xmlns:a16="http://schemas.microsoft.com/office/drawing/2014/main" id="{2A676BE3-9359-86A3-2D46-9F89A7CD3FB8}"/>
                  </a:ext>
                </a:extLst>
              </p:cNvPr>
              <p:cNvGrpSpPr/>
              <p:nvPr/>
            </p:nvGrpSpPr>
            <p:grpSpPr>
              <a:xfrm rot="10800000">
                <a:off x="111417" y="2775352"/>
                <a:ext cx="1604560" cy="649010"/>
                <a:chOff x="2096037" y="3806199"/>
                <a:chExt cx="2139413" cy="1038852"/>
              </a:xfrm>
            </p:grpSpPr>
            <p:sp>
              <p:nvSpPr>
                <p:cNvPr id="79" name="Freeform: Shape 52">
                  <a:extLst>
                    <a:ext uri="{FF2B5EF4-FFF2-40B4-BE49-F238E27FC236}">
                      <a16:creationId xmlns:a16="http://schemas.microsoft.com/office/drawing/2014/main" id="{EFFB89D2-60EF-EB7B-A9AC-8E8470F47C98}"/>
                    </a:ext>
                  </a:extLst>
                </p:cNvPr>
                <p:cNvSpPr/>
                <p:nvPr/>
              </p:nvSpPr>
              <p:spPr>
                <a:xfrm>
                  <a:off x="2096037" y="3806199"/>
                  <a:ext cx="2139413" cy="1038852"/>
                </a:xfrm>
                <a:custGeom>
                  <a:avLst/>
                  <a:gdLst>
                    <a:gd name="connsiteX0" fmla="*/ 131301 w 2139413"/>
                    <a:gd name="connsiteY0" fmla="*/ 0 h 1038852"/>
                    <a:gd name="connsiteX1" fmla="*/ 2008112 w 2139413"/>
                    <a:gd name="connsiteY1" fmla="*/ 0 h 1038852"/>
                    <a:gd name="connsiteX2" fmla="*/ 2139413 w 2139413"/>
                    <a:gd name="connsiteY2" fmla="*/ 131301 h 1038852"/>
                    <a:gd name="connsiteX3" fmla="*/ 2139413 w 2139413"/>
                    <a:gd name="connsiteY3" fmla="*/ 907551 h 1038852"/>
                    <a:gd name="connsiteX4" fmla="*/ 2008112 w 2139413"/>
                    <a:gd name="connsiteY4" fmla="*/ 1038852 h 1038852"/>
                    <a:gd name="connsiteX5" fmla="*/ 131301 w 2139413"/>
                    <a:gd name="connsiteY5" fmla="*/ 1038852 h 1038852"/>
                    <a:gd name="connsiteX6" fmla="*/ 0 w 2139413"/>
                    <a:gd name="connsiteY6" fmla="*/ 907551 h 1038852"/>
                    <a:gd name="connsiteX7" fmla="*/ 0 w 2139413"/>
                    <a:gd name="connsiteY7" fmla="*/ 131301 h 1038852"/>
                    <a:gd name="connsiteX8" fmla="*/ 80193 w 2139413"/>
                    <a:gd name="connsiteY8" fmla="*/ 10318 h 1038852"/>
                    <a:gd name="connsiteX9" fmla="*/ 80193 w 2139413"/>
                    <a:gd name="connsiteY9" fmla="*/ 10318 h 1038852"/>
                    <a:gd name="connsiteX10" fmla="*/ 38458 w 2139413"/>
                    <a:gd name="connsiteY10" fmla="*/ 38457 h 1038852"/>
                    <a:gd name="connsiteX11" fmla="*/ 10319 w 2139413"/>
                    <a:gd name="connsiteY11" fmla="*/ 80192 h 1038852"/>
                    <a:gd name="connsiteX12" fmla="*/ 2 w 2139413"/>
                    <a:gd name="connsiteY12" fmla="*/ 131293 h 1038852"/>
                    <a:gd name="connsiteX13" fmla="*/ 2 w 2139413"/>
                    <a:gd name="connsiteY13" fmla="*/ 907558 h 1038852"/>
                    <a:gd name="connsiteX14" fmla="*/ 10319 w 2139413"/>
                    <a:gd name="connsiteY14" fmla="*/ 958659 h 1038852"/>
                    <a:gd name="connsiteX15" fmla="*/ 80193 w 2139413"/>
                    <a:gd name="connsiteY15" fmla="*/ 1028533 h 1038852"/>
                    <a:gd name="connsiteX16" fmla="*/ 89377 w 2139413"/>
                    <a:gd name="connsiteY16" fmla="*/ 1030387 h 1038852"/>
                    <a:gd name="connsiteX17" fmla="*/ 89377 w 2139413"/>
                    <a:gd name="connsiteY17" fmla="*/ 8464 h 1038852"/>
                    <a:gd name="connsiteX18" fmla="*/ 87376 w 2139413"/>
                    <a:gd name="connsiteY18" fmla="*/ 8868 h 1038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39413" h="1038852">
                      <a:moveTo>
                        <a:pt x="131301" y="0"/>
                      </a:moveTo>
                      <a:lnTo>
                        <a:pt x="2008112" y="0"/>
                      </a:lnTo>
                      <a:cubicBezTo>
                        <a:pt x="2080628" y="0"/>
                        <a:pt x="2139413" y="58785"/>
                        <a:pt x="2139413" y="131301"/>
                      </a:cubicBezTo>
                      <a:lnTo>
                        <a:pt x="2139413" y="907551"/>
                      </a:lnTo>
                      <a:cubicBezTo>
                        <a:pt x="2139413" y="980067"/>
                        <a:pt x="2080628" y="1038852"/>
                        <a:pt x="2008112" y="1038852"/>
                      </a:cubicBezTo>
                      <a:lnTo>
                        <a:pt x="131301" y="1038852"/>
                      </a:lnTo>
                      <a:cubicBezTo>
                        <a:pt x="58785" y="1038852"/>
                        <a:pt x="0" y="980067"/>
                        <a:pt x="0" y="907551"/>
                      </a:cubicBezTo>
                      <a:lnTo>
                        <a:pt x="0" y="131301"/>
                      </a:lnTo>
                      <a:cubicBezTo>
                        <a:pt x="0" y="76914"/>
                        <a:pt x="33067" y="30251"/>
                        <a:pt x="80193" y="10318"/>
                      </a:cubicBezTo>
                      <a:lnTo>
                        <a:pt x="80193" y="10318"/>
                      </a:lnTo>
                      <a:lnTo>
                        <a:pt x="38458" y="38457"/>
                      </a:lnTo>
                      <a:cubicBezTo>
                        <a:pt x="26577" y="50337"/>
                        <a:pt x="16963" y="64484"/>
                        <a:pt x="10319" y="80192"/>
                      </a:cubicBezTo>
                      <a:lnTo>
                        <a:pt x="2" y="131293"/>
                      </a:lnTo>
                      <a:lnTo>
                        <a:pt x="2" y="907558"/>
                      </a:lnTo>
                      <a:lnTo>
                        <a:pt x="10319" y="958659"/>
                      </a:lnTo>
                      <a:cubicBezTo>
                        <a:pt x="23607" y="990076"/>
                        <a:pt x="48776" y="1015245"/>
                        <a:pt x="80193" y="1028533"/>
                      </a:cubicBezTo>
                      <a:lnTo>
                        <a:pt x="89377" y="1030387"/>
                      </a:lnTo>
                      <a:lnTo>
                        <a:pt x="89377" y="8464"/>
                      </a:lnTo>
                      <a:lnTo>
                        <a:pt x="87376" y="8868"/>
                      </a:lnTo>
                      <a:close/>
                    </a:path>
                  </a:pathLst>
                </a:custGeom>
                <a:solidFill>
                  <a:schemeClr val="bg1"/>
                </a:solidFill>
                <a:ln>
                  <a:noFill/>
                </a:ln>
                <a:effectLst>
                  <a:outerShdw blurRad="50800" dist="254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1">
                    <a:ln>
                      <a:noFill/>
                    </a:ln>
                    <a:solidFill>
                      <a:prstClr val="white">
                        <a:lumMod val="65000"/>
                      </a:prstClr>
                    </a:solidFill>
                    <a:effectLst/>
                    <a:uLnTx/>
                    <a:uFillTx/>
                    <a:latin typeface="Calibri"/>
                    <a:ea typeface="+mn-ea"/>
                    <a:cs typeface="+mn-cs"/>
                  </a:endParaRPr>
                </a:p>
              </p:txBody>
            </p:sp>
            <p:sp>
              <p:nvSpPr>
                <p:cNvPr id="80" name="Freeform: Shape 56">
                  <a:extLst>
                    <a:ext uri="{FF2B5EF4-FFF2-40B4-BE49-F238E27FC236}">
                      <a16:creationId xmlns:a16="http://schemas.microsoft.com/office/drawing/2014/main" id="{6C89DAD1-FC4F-4885-07A1-578AB65E3A30}"/>
                    </a:ext>
                  </a:extLst>
                </p:cNvPr>
                <p:cNvSpPr/>
                <p:nvPr/>
              </p:nvSpPr>
              <p:spPr>
                <a:xfrm rot="16200000">
                  <a:off x="1629765" y="4280938"/>
                  <a:ext cx="1021923" cy="89375"/>
                </a:xfrm>
                <a:custGeom>
                  <a:avLst/>
                  <a:gdLst>
                    <a:gd name="connsiteX0" fmla="*/ 1021923 w 1021923"/>
                    <a:gd name="connsiteY0" fmla="*/ 89375 h 89375"/>
                    <a:gd name="connsiteX1" fmla="*/ 0 w 1021923"/>
                    <a:gd name="connsiteY1" fmla="*/ 89375 h 89375"/>
                    <a:gd name="connsiteX2" fmla="*/ 1854 w 1021923"/>
                    <a:gd name="connsiteY2" fmla="*/ 80191 h 89375"/>
                    <a:gd name="connsiteX3" fmla="*/ 71728 w 1021923"/>
                    <a:gd name="connsiteY3" fmla="*/ 10317 h 89375"/>
                    <a:gd name="connsiteX4" fmla="*/ 122829 w 1021923"/>
                    <a:gd name="connsiteY4" fmla="*/ 0 h 89375"/>
                    <a:gd name="connsiteX5" fmla="*/ 899094 w 1021923"/>
                    <a:gd name="connsiteY5" fmla="*/ 0 h 89375"/>
                    <a:gd name="connsiteX6" fmla="*/ 950195 w 1021923"/>
                    <a:gd name="connsiteY6" fmla="*/ 10317 h 89375"/>
                    <a:gd name="connsiteX7" fmla="*/ 1020069 w 1021923"/>
                    <a:gd name="connsiteY7" fmla="*/ 80191 h 89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1923" h="89375">
                      <a:moveTo>
                        <a:pt x="1021923" y="89375"/>
                      </a:moveTo>
                      <a:lnTo>
                        <a:pt x="0" y="89375"/>
                      </a:lnTo>
                      <a:lnTo>
                        <a:pt x="1854" y="80191"/>
                      </a:lnTo>
                      <a:cubicBezTo>
                        <a:pt x="15142" y="48774"/>
                        <a:pt x="40311" y="23605"/>
                        <a:pt x="71728" y="10317"/>
                      </a:cubicBezTo>
                      <a:lnTo>
                        <a:pt x="122829" y="0"/>
                      </a:lnTo>
                      <a:lnTo>
                        <a:pt x="899094" y="0"/>
                      </a:lnTo>
                      <a:lnTo>
                        <a:pt x="950195" y="10317"/>
                      </a:lnTo>
                      <a:cubicBezTo>
                        <a:pt x="981612" y="23605"/>
                        <a:pt x="1006781" y="48774"/>
                        <a:pt x="1020069" y="80191"/>
                      </a:cubicBezTo>
                      <a:close/>
                    </a:path>
                  </a:pathLst>
                </a:custGeom>
                <a:solidFill>
                  <a:srgbClr val="A9C1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78" name="TextBox 77"/>
              <p:cNvSpPr txBox="1"/>
              <p:nvPr/>
            </p:nvSpPr>
            <p:spPr>
              <a:xfrm>
                <a:off x="244120" y="2843689"/>
                <a:ext cx="1339151"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mn-cs"/>
                  </a:rPr>
                  <a:t>ĐIỀU</a:t>
                </a:r>
                <a:r>
                  <a:rPr kumimoji="0" lang="en-US" sz="1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mn-cs"/>
                  </a:rPr>
                  <a:t>HÒA</a:t>
                </a:r>
                <a:r>
                  <a:rPr kumimoji="0" lang="en-US" sz="1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mn-cs"/>
                  </a:rPr>
                  <a:t>CHÍNH</a:t>
                </a:r>
                <a:r>
                  <a:rPr kumimoji="0" lang="en-US" sz="1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mn-cs"/>
                  </a:rPr>
                  <a:t>XÁC</a:t>
                </a:r>
                <a:endParaRPr kumimoji="0" lang="en-US" sz="1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p:txBody>
          </p:sp>
        </p:grpSp>
        <p:cxnSp>
          <p:nvCxnSpPr>
            <p:cNvPr id="102" name="Straight Connector 101"/>
            <p:cNvCxnSpPr/>
            <p:nvPr/>
          </p:nvCxnSpPr>
          <p:spPr>
            <a:xfrm>
              <a:off x="2061556" y="1958337"/>
              <a:ext cx="0" cy="3933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715976" y="5891511"/>
              <a:ext cx="3538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715976" y="4941646"/>
              <a:ext cx="3538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H="1">
              <a:off x="1715976" y="4023492"/>
              <a:ext cx="3538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1715976" y="3099856"/>
              <a:ext cx="353893"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512890" y="2336392"/>
              <a:ext cx="2672397" cy="497151"/>
              <a:chOff x="628367" y="1489591"/>
              <a:chExt cx="2209369" cy="497151"/>
            </a:xfrm>
          </p:grpSpPr>
          <p:grpSp>
            <p:nvGrpSpPr>
              <p:cNvPr id="109" name="Group 108">
                <a:extLst>
                  <a:ext uri="{FF2B5EF4-FFF2-40B4-BE49-F238E27FC236}">
                    <a16:creationId xmlns:a16="http://schemas.microsoft.com/office/drawing/2014/main" id="{A62647AF-C646-2EE7-A87F-A95D69D63E21}"/>
                  </a:ext>
                </a:extLst>
              </p:cNvPr>
              <p:cNvGrpSpPr/>
              <p:nvPr/>
            </p:nvGrpSpPr>
            <p:grpSpPr>
              <a:xfrm>
                <a:off x="647195" y="1489591"/>
                <a:ext cx="2104317" cy="497151"/>
                <a:chOff x="736446" y="2345802"/>
                <a:chExt cx="1941678" cy="497151"/>
              </a:xfrm>
            </p:grpSpPr>
            <p:sp>
              <p:nvSpPr>
                <p:cNvPr id="111" name="Freeform: Shape 63">
                  <a:extLst>
                    <a:ext uri="{FF2B5EF4-FFF2-40B4-BE49-F238E27FC236}">
                      <a16:creationId xmlns:a16="http://schemas.microsoft.com/office/drawing/2014/main" id="{6787463B-36C5-8675-A31B-2659919B5167}"/>
                    </a:ext>
                  </a:extLst>
                </p:cNvPr>
                <p:cNvSpPr/>
                <p:nvPr/>
              </p:nvSpPr>
              <p:spPr>
                <a:xfrm>
                  <a:off x="736446" y="2345802"/>
                  <a:ext cx="1941678"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1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10" name="TextBox 109"/>
              <p:cNvSpPr txBox="1"/>
              <p:nvPr/>
            </p:nvSpPr>
            <p:spPr>
              <a:xfrm>
                <a:off x="628367" y="1623333"/>
                <a:ext cx="220936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ĐIỆN CHIẾU SÁNG/ĐỘNG</a:t>
                </a:r>
                <a:r>
                  <a:rPr kumimoji="0" lang="en-US" sz="1400" b="1" i="0" u="none" strike="noStrike" kern="1200" cap="none" spc="0" normalizeH="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 LỰC</a:t>
                </a:r>
                <a:endParaRPr kumimoji="0" lang="en-US" sz="14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13" name="Group 112"/>
            <p:cNvGrpSpPr/>
            <p:nvPr/>
          </p:nvGrpSpPr>
          <p:grpSpPr>
            <a:xfrm>
              <a:off x="9189959" y="2336392"/>
              <a:ext cx="1377076" cy="497151"/>
              <a:chOff x="647195" y="1489591"/>
              <a:chExt cx="2104317" cy="497151"/>
            </a:xfrm>
          </p:grpSpPr>
          <p:grpSp>
            <p:nvGrpSpPr>
              <p:cNvPr id="114" name="Group 113">
                <a:extLst>
                  <a:ext uri="{FF2B5EF4-FFF2-40B4-BE49-F238E27FC236}">
                    <a16:creationId xmlns:a16="http://schemas.microsoft.com/office/drawing/2014/main" id="{A62647AF-C646-2EE7-A87F-A95D69D63E21}"/>
                  </a:ext>
                </a:extLst>
              </p:cNvPr>
              <p:cNvGrpSpPr/>
              <p:nvPr/>
            </p:nvGrpSpPr>
            <p:grpSpPr>
              <a:xfrm>
                <a:off x="647195" y="1489591"/>
                <a:ext cx="2104317" cy="497151"/>
                <a:chOff x="736446" y="2345802"/>
                <a:chExt cx="1941678" cy="497151"/>
              </a:xfrm>
            </p:grpSpPr>
            <p:sp>
              <p:nvSpPr>
                <p:cNvPr id="116" name="Freeform: Shape 63">
                  <a:extLst>
                    <a:ext uri="{FF2B5EF4-FFF2-40B4-BE49-F238E27FC236}">
                      <a16:creationId xmlns:a16="http://schemas.microsoft.com/office/drawing/2014/main" id="{6787463B-36C5-8675-A31B-2659919B5167}"/>
                    </a:ext>
                  </a:extLst>
                </p:cNvPr>
                <p:cNvSpPr/>
                <p:nvPr/>
              </p:nvSpPr>
              <p:spPr>
                <a:xfrm>
                  <a:off x="736446" y="2345802"/>
                  <a:ext cx="1941678"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1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15" name="TextBox 114"/>
              <p:cNvSpPr txBox="1"/>
              <p:nvPr/>
            </p:nvSpPr>
            <p:spPr>
              <a:xfrm>
                <a:off x="935021" y="1623333"/>
                <a:ext cx="178100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ĐIỆN NHẸ</a:t>
                </a:r>
                <a:endParaRPr kumimoji="0" lang="en-US" sz="14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38" name="Group 137"/>
            <p:cNvGrpSpPr/>
            <p:nvPr/>
          </p:nvGrpSpPr>
          <p:grpSpPr>
            <a:xfrm>
              <a:off x="4896197" y="1461186"/>
              <a:ext cx="1745147" cy="497151"/>
              <a:chOff x="647195" y="1489591"/>
              <a:chExt cx="2104317" cy="497151"/>
            </a:xfrm>
          </p:grpSpPr>
          <p:grpSp>
            <p:nvGrpSpPr>
              <p:cNvPr id="139" name="Group 138">
                <a:extLst>
                  <a:ext uri="{FF2B5EF4-FFF2-40B4-BE49-F238E27FC236}">
                    <a16:creationId xmlns:a16="http://schemas.microsoft.com/office/drawing/2014/main" id="{A62647AF-C646-2EE7-A87F-A95D69D63E21}"/>
                  </a:ext>
                </a:extLst>
              </p:cNvPr>
              <p:cNvGrpSpPr/>
              <p:nvPr/>
            </p:nvGrpSpPr>
            <p:grpSpPr>
              <a:xfrm>
                <a:off x="647195" y="1489591"/>
                <a:ext cx="2104317" cy="497151"/>
                <a:chOff x="736446" y="2345802"/>
                <a:chExt cx="1941678" cy="497151"/>
              </a:xfrm>
            </p:grpSpPr>
            <p:sp>
              <p:nvSpPr>
                <p:cNvPr id="141" name="Freeform: Shape 63">
                  <a:extLst>
                    <a:ext uri="{FF2B5EF4-FFF2-40B4-BE49-F238E27FC236}">
                      <a16:creationId xmlns:a16="http://schemas.microsoft.com/office/drawing/2014/main" id="{6787463B-36C5-8675-A31B-2659919B5167}"/>
                    </a:ext>
                  </a:extLst>
                </p:cNvPr>
                <p:cNvSpPr/>
                <p:nvPr/>
              </p:nvSpPr>
              <p:spPr>
                <a:xfrm>
                  <a:off x="736446" y="2345802"/>
                  <a:ext cx="1941678" cy="497151"/>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4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40" name="TextBox 139"/>
              <p:cNvSpPr txBox="1"/>
              <p:nvPr/>
            </p:nvSpPr>
            <p:spPr>
              <a:xfrm>
                <a:off x="682682" y="1623333"/>
                <a:ext cx="20333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CẤP THOÁT NƯỚC</a:t>
                </a:r>
                <a:endParaRPr kumimoji="0" lang="en-US" sz="1400" b="1"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58" name="Group 157"/>
            <p:cNvGrpSpPr/>
            <p:nvPr/>
          </p:nvGrpSpPr>
          <p:grpSpPr>
            <a:xfrm>
              <a:off x="5072594" y="3174513"/>
              <a:ext cx="1823229" cy="642754"/>
              <a:chOff x="600119" y="1489591"/>
              <a:chExt cx="2198469" cy="642754"/>
            </a:xfrm>
          </p:grpSpPr>
          <p:grpSp>
            <p:nvGrpSpPr>
              <p:cNvPr id="159" name="Group 15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6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6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60" name="TextBox 159"/>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MÁY PHÁT ĐIỆN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BỘ CHUYỂN MẠCH</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63" name="Group 162"/>
            <p:cNvGrpSpPr/>
            <p:nvPr/>
          </p:nvGrpSpPr>
          <p:grpSpPr>
            <a:xfrm>
              <a:off x="7742082" y="3174513"/>
              <a:ext cx="1914551" cy="642754"/>
              <a:chOff x="600119" y="1489591"/>
              <a:chExt cx="2308586" cy="642754"/>
            </a:xfrm>
          </p:grpSpPr>
          <p:grpSp>
            <p:nvGrpSpPr>
              <p:cNvPr id="164" name="Group 163">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66"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6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65" name="TextBox 164"/>
              <p:cNvSpPr txBox="1"/>
              <p:nvPr/>
            </p:nvSpPr>
            <p:spPr>
              <a:xfrm>
                <a:off x="600119" y="1592138"/>
                <a:ext cx="230858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HỆ THỐNG QL TOÀ NHÀ TÍCH HỢP (BMS)</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68" name="Group 167"/>
            <p:cNvGrpSpPr/>
            <p:nvPr/>
          </p:nvGrpSpPr>
          <p:grpSpPr>
            <a:xfrm>
              <a:off x="10203252" y="3174513"/>
              <a:ext cx="1823229" cy="642754"/>
              <a:chOff x="600119" y="1489591"/>
              <a:chExt cx="2198469" cy="642754"/>
            </a:xfrm>
          </p:grpSpPr>
          <p:grpSp>
            <p:nvGrpSpPr>
              <p:cNvPr id="169" name="Group 16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7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7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70" name="TextBox 169"/>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MẠNG LAN VÀ INTERNET</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73" name="Group 172"/>
            <p:cNvGrpSpPr/>
            <p:nvPr/>
          </p:nvGrpSpPr>
          <p:grpSpPr>
            <a:xfrm>
              <a:off x="2611424" y="4145343"/>
              <a:ext cx="1823229" cy="642754"/>
              <a:chOff x="600119" y="1489591"/>
              <a:chExt cx="2198469" cy="642754"/>
            </a:xfrm>
          </p:grpSpPr>
          <p:grpSp>
            <p:nvGrpSpPr>
              <p:cNvPr id="174" name="Group 173">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76"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7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75" name="TextBox 174"/>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HỆ THỐNG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CHIẾU SÁNG</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78" name="Group 177"/>
            <p:cNvGrpSpPr/>
            <p:nvPr/>
          </p:nvGrpSpPr>
          <p:grpSpPr>
            <a:xfrm>
              <a:off x="5072594" y="4145343"/>
              <a:ext cx="1823229" cy="642754"/>
              <a:chOff x="600119" y="1489591"/>
              <a:chExt cx="2198469" cy="642754"/>
            </a:xfrm>
          </p:grpSpPr>
          <p:grpSp>
            <p:nvGrpSpPr>
              <p:cNvPr id="179" name="Group 17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8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8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80" name="TextBox 179"/>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THANH DẪN/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TỦ PHÂN PHỐI</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83" name="Group 182"/>
            <p:cNvGrpSpPr/>
            <p:nvPr/>
          </p:nvGrpSpPr>
          <p:grpSpPr>
            <a:xfrm>
              <a:off x="7742082" y="4145343"/>
              <a:ext cx="1823229" cy="642754"/>
              <a:chOff x="600119" y="1489591"/>
              <a:chExt cx="2198469" cy="642754"/>
            </a:xfrm>
          </p:grpSpPr>
          <p:grpSp>
            <p:nvGrpSpPr>
              <p:cNvPr id="184" name="Group 183">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86"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8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85" name="TextBox 184"/>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TỔNG ĐÀI,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ĐIỆN THOẠI</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88" name="Group 187"/>
            <p:cNvGrpSpPr/>
            <p:nvPr/>
          </p:nvGrpSpPr>
          <p:grpSpPr>
            <a:xfrm>
              <a:off x="10203252" y="4145343"/>
              <a:ext cx="1823229" cy="642754"/>
              <a:chOff x="600119" y="1489591"/>
              <a:chExt cx="2198469" cy="642754"/>
            </a:xfrm>
          </p:grpSpPr>
          <p:grpSp>
            <p:nvGrpSpPr>
              <p:cNvPr id="189" name="Group 18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9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9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90" name="TextBox 189"/>
              <p:cNvSpPr txBox="1"/>
              <p:nvPr/>
            </p:nvSpPr>
            <p:spPr>
              <a:xfrm>
                <a:off x="600119" y="1691375"/>
                <a:ext cx="21984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HỆ THỐNG CAMERA</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93" name="Group 192"/>
            <p:cNvGrpSpPr/>
            <p:nvPr/>
          </p:nvGrpSpPr>
          <p:grpSpPr>
            <a:xfrm>
              <a:off x="2611424" y="5056619"/>
              <a:ext cx="1823229" cy="642754"/>
              <a:chOff x="600119" y="1489591"/>
              <a:chExt cx="2198469" cy="642754"/>
            </a:xfrm>
          </p:grpSpPr>
          <p:grpSp>
            <p:nvGrpSpPr>
              <p:cNvPr id="194" name="Group 193">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196"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19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195" name="TextBox 194"/>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CHIẾU SÁNG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KHẨN CẤP</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198" name="Group 197"/>
            <p:cNvGrpSpPr/>
            <p:nvPr/>
          </p:nvGrpSpPr>
          <p:grpSpPr>
            <a:xfrm>
              <a:off x="5072594" y="5056619"/>
              <a:ext cx="1823229" cy="642754"/>
              <a:chOff x="600119" y="1489591"/>
              <a:chExt cx="2198469" cy="642754"/>
            </a:xfrm>
          </p:grpSpPr>
          <p:grpSp>
            <p:nvGrpSpPr>
              <p:cNvPr id="199" name="Group 19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20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0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00" name="TextBox 199"/>
              <p:cNvSpPr txBox="1"/>
              <p:nvPr/>
            </p:nvSpPr>
            <p:spPr>
              <a:xfrm>
                <a:off x="600119" y="1708353"/>
                <a:ext cx="21984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Ổ CẮM</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203" name="Group 202"/>
            <p:cNvGrpSpPr/>
            <p:nvPr/>
          </p:nvGrpSpPr>
          <p:grpSpPr>
            <a:xfrm>
              <a:off x="7742082" y="5056619"/>
              <a:ext cx="1823229" cy="642754"/>
              <a:chOff x="600119" y="1489591"/>
              <a:chExt cx="2198469" cy="642754"/>
            </a:xfrm>
          </p:grpSpPr>
          <p:grpSp>
            <p:nvGrpSpPr>
              <p:cNvPr id="204" name="Group 203">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206"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0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05" name="TextBox 204"/>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ÂM THANH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CÔNG CỘNG</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208" name="Group 207"/>
            <p:cNvGrpSpPr/>
            <p:nvPr/>
          </p:nvGrpSpPr>
          <p:grpSpPr>
            <a:xfrm>
              <a:off x="10203252" y="5056619"/>
              <a:ext cx="1823229" cy="642754"/>
              <a:chOff x="600119" y="1489591"/>
              <a:chExt cx="2198469" cy="642754"/>
            </a:xfrm>
          </p:grpSpPr>
          <p:grpSp>
            <p:nvGrpSpPr>
              <p:cNvPr id="209" name="Group 20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21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1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10" name="TextBox 209"/>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HỆ THỐNG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KIỂM SOÁT RA VÀO</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213" name="Group 212"/>
            <p:cNvGrpSpPr/>
            <p:nvPr/>
          </p:nvGrpSpPr>
          <p:grpSpPr>
            <a:xfrm>
              <a:off x="2601276" y="5985959"/>
              <a:ext cx="1823229" cy="642754"/>
              <a:chOff x="587882" y="1489591"/>
              <a:chExt cx="2198469" cy="642754"/>
            </a:xfrm>
          </p:grpSpPr>
          <p:grpSp>
            <p:nvGrpSpPr>
              <p:cNvPr id="214" name="Group 213">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216"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1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15" name="TextBox 214"/>
              <p:cNvSpPr txBox="1"/>
              <p:nvPr/>
            </p:nvSpPr>
            <p:spPr>
              <a:xfrm>
                <a:off x="587882" y="1699859"/>
                <a:ext cx="21984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CHỐNG SÉT</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218" name="Group 217"/>
            <p:cNvGrpSpPr/>
            <p:nvPr/>
          </p:nvGrpSpPr>
          <p:grpSpPr>
            <a:xfrm>
              <a:off x="5072594" y="5985959"/>
              <a:ext cx="1823229" cy="642754"/>
              <a:chOff x="600119" y="1489591"/>
              <a:chExt cx="2198469" cy="642754"/>
            </a:xfrm>
          </p:grpSpPr>
          <p:grpSp>
            <p:nvGrpSpPr>
              <p:cNvPr id="219" name="Group 21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22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2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20" name="TextBox 219"/>
              <p:cNvSpPr txBox="1"/>
              <p:nvPr/>
            </p:nvSpPr>
            <p:spPr>
              <a:xfrm>
                <a:off x="600119" y="1699859"/>
                <a:ext cx="21984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TIẾP ĐỊA</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223" name="Group 222"/>
            <p:cNvGrpSpPr/>
            <p:nvPr/>
          </p:nvGrpSpPr>
          <p:grpSpPr>
            <a:xfrm>
              <a:off x="7742082" y="5985959"/>
              <a:ext cx="1823229" cy="642754"/>
              <a:chOff x="600119" y="1489591"/>
              <a:chExt cx="2198469" cy="642754"/>
            </a:xfrm>
          </p:grpSpPr>
          <p:grpSp>
            <p:nvGrpSpPr>
              <p:cNvPr id="224" name="Group 223">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226"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27"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25" name="TextBox 224"/>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TRUYỀN HÌNH VỆ TINH, CABLE</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grpSp>
          <p:nvGrpSpPr>
            <p:cNvPr id="228" name="Group 227"/>
            <p:cNvGrpSpPr/>
            <p:nvPr/>
          </p:nvGrpSpPr>
          <p:grpSpPr>
            <a:xfrm>
              <a:off x="10203252" y="5985959"/>
              <a:ext cx="1823229" cy="642754"/>
              <a:chOff x="600119" y="1489591"/>
              <a:chExt cx="2198469" cy="642754"/>
            </a:xfrm>
          </p:grpSpPr>
          <p:grpSp>
            <p:nvGrpSpPr>
              <p:cNvPr id="229" name="Group 228">
                <a:extLst>
                  <a:ext uri="{FF2B5EF4-FFF2-40B4-BE49-F238E27FC236}">
                    <a16:creationId xmlns:a16="http://schemas.microsoft.com/office/drawing/2014/main" id="{A62647AF-C646-2EE7-A87F-A95D69D63E21}"/>
                  </a:ext>
                </a:extLst>
              </p:cNvPr>
              <p:cNvGrpSpPr/>
              <p:nvPr/>
            </p:nvGrpSpPr>
            <p:grpSpPr>
              <a:xfrm>
                <a:off x="647195" y="1489591"/>
                <a:ext cx="2104317" cy="642754"/>
                <a:chOff x="736446" y="2345802"/>
                <a:chExt cx="1941678" cy="642754"/>
              </a:xfrm>
            </p:grpSpPr>
            <p:sp>
              <p:nvSpPr>
                <p:cNvPr id="231" name="Freeform: Shape 63">
                  <a:extLst>
                    <a:ext uri="{FF2B5EF4-FFF2-40B4-BE49-F238E27FC236}">
                      <a16:creationId xmlns:a16="http://schemas.microsoft.com/office/drawing/2014/main" id="{6787463B-36C5-8675-A31B-2659919B5167}"/>
                    </a:ext>
                  </a:extLst>
                </p:cNvPr>
                <p:cNvSpPr/>
                <p:nvPr/>
              </p:nvSpPr>
              <p:spPr>
                <a:xfrm>
                  <a:off x="736446" y="2345802"/>
                  <a:ext cx="1941678" cy="642754"/>
                </a:xfrm>
                <a:custGeom>
                  <a:avLst/>
                  <a:gdLst>
                    <a:gd name="connsiteX0" fmla="*/ 0 w 1941678"/>
                    <a:gd name="connsiteY0" fmla="*/ 102547 h 998806"/>
                    <a:gd name="connsiteX1" fmla="*/ 1941678 w 1941678"/>
                    <a:gd name="connsiteY1" fmla="*/ 102547 h 998806"/>
                    <a:gd name="connsiteX2" fmla="*/ 1941678 w 1941678"/>
                    <a:gd name="connsiteY2" fmla="*/ 896259 h 998806"/>
                    <a:gd name="connsiteX3" fmla="*/ 1839131 w 1941678"/>
                    <a:gd name="connsiteY3" fmla="*/ 998806 h 998806"/>
                    <a:gd name="connsiteX4" fmla="*/ 102547 w 1941678"/>
                    <a:gd name="connsiteY4" fmla="*/ 998806 h 998806"/>
                    <a:gd name="connsiteX5" fmla="*/ 0 w 1941678"/>
                    <a:gd name="connsiteY5" fmla="*/ 896259 h 998806"/>
                    <a:gd name="connsiteX6" fmla="*/ 102547 w 1941678"/>
                    <a:gd name="connsiteY6" fmla="*/ 0 h 998806"/>
                    <a:gd name="connsiteX7" fmla="*/ 102547 w 1941678"/>
                    <a:gd name="connsiteY7" fmla="*/ 0 h 998806"/>
                    <a:gd name="connsiteX8" fmla="*/ 92459 w 1941678"/>
                    <a:gd name="connsiteY8" fmla="*/ 2037 h 99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1678" h="998806">
                      <a:moveTo>
                        <a:pt x="0" y="102547"/>
                      </a:moveTo>
                      <a:lnTo>
                        <a:pt x="1941678" y="102547"/>
                      </a:lnTo>
                      <a:lnTo>
                        <a:pt x="1941678" y="896259"/>
                      </a:lnTo>
                      <a:cubicBezTo>
                        <a:pt x="1941678" y="952894"/>
                        <a:pt x="1895766" y="998806"/>
                        <a:pt x="1839131" y="998806"/>
                      </a:cubicBezTo>
                      <a:lnTo>
                        <a:pt x="102547" y="998806"/>
                      </a:lnTo>
                      <a:cubicBezTo>
                        <a:pt x="45912" y="998806"/>
                        <a:pt x="0" y="952894"/>
                        <a:pt x="0" y="896259"/>
                      </a:cubicBezTo>
                      <a:close/>
                      <a:moveTo>
                        <a:pt x="102547" y="0"/>
                      </a:moveTo>
                      <a:lnTo>
                        <a:pt x="102547" y="0"/>
                      </a:lnTo>
                      <a:lnTo>
                        <a:pt x="92459" y="2037"/>
                      </a:lnTo>
                      <a:close/>
                    </a:path>
                  </a:pathLst>
                </a:custGeom>
                <a:solidFill>
                  <a:schemeClr val="bg1"/>
                </a:solidFill>
                <a:ln>
                  <a:noFill/>
                </a:ln>
                <a:effectLst>
                  <a:outerShdw blurRad="50800" dist="38100" dir="5400000" algn="t"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bIns="17145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sp>
              <p:nvSpPr>
                <p:cNvPr id="232" name="Rectangle: Rounded Corners 3">
                  <a:extLst>
                    <a:ext uri="{FF2B5EF4-FFF2-40B4-BE49-F238E27FC236}">
                      <a16:creationId xmlns:a16="http://schemas.microsoft.com/office/drawing/2014/main" id="{94943815-8BCB-71EA-85E3-5C733B932D97}"/>
                    </a:ext>
                  </a:extLst>
                </p:cNvPr>
                <p:cNvSpPr/>
                <p:nvPr/>
              </p:nvSpPr>
              <p:spPr>
                <a:xfrm>
                  <a:off x="736446" y="2345802"/>
                  <a:ext cx="1941678" cy="102547"/>
                </a:xfrm>
                <a:custGeom>
                  <a:avLst/>
                  <a:gdLst>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97793 w 1851660"/>
                    <a:gd name="connsiteY6" fmla="*/ 952500 h 952500"/>
                    <a:gd name="connsiteX7" fmla="*/ 0 w 1851660"/>
                    <a:gd name="connsiteY7" fmla="*/ 854707 h 952500"/>
                    <a:gd name="connsiteX8" fmla="*/ 0 w 1851660"/>
                    <a:gd name="connsiteY8" fmla="*/ 97793 h 952500"/>
                    <a:gd name="connsiteX0" fmla="*/ 63416 w 1915076"/>
                    <a:gd name="connsiteY0" fmla="*/ 97793 h 952500"/>
                    <a:gd name="connsiteX1" fmla="*/ 161209 w 1915076"/>
                    <a:gd name="connsiteY1" fmla="*/ 0 h 952500"/>
                    <a:gd name="connsiteX2" fmla="*/ 1817283 w 1915076"/>
                    <a:gd name="connsiteY2" fmla="*/ 0 h 952500"/>
                    <a:gd name="connsiteX3" fmla="*/ 1915076 w 1915076"/>
                    <a:gd name="connsiteY3" fmla="*/ 97793 h 952500"/>
                    <a:gd name="connsiteX4" fmla="*/ 1915076 w 1915076"/>
                    <a:gd name="connsiteY4" fmla="*/ 854707 h 952500"/>
                    <a:gd name="connsiteX5" fmla="*/ 1817283 w 1915076"/>
                    <a:gd name="connsiteY5" fmla="*/ 952500 h 952500"/>
                    <a:gd name="connsiteX6" fmla="*/ 161209 w 1915076"/>
                    <a:gd name="connsiteY6" fmla="*/ 952500 h 952500"/>
                    <a:gd name="connsiteX7" fmla="*/ 63416 w 1915076"/>
                    <a:gd name="connsiteY7" fmla="*/ 97793 h 952500"/>
                    <a:gd name="connsiteX0" fmla="*/ 0 w 1851660"/>
                    <a:gd name="connsiteY0" fmla="*/ 97793 h 952500"/>
                    <a:gd name="connsiteX1" fmla="*/ 97793 w 1851660"/>
                    <a:gd name="connsiteY1" fmla="*/ 0 h 952500"/>
                    <a:gd name="connsiteX2" fmla="*/ 1753867 w 1851660"/>
                    <a:gd name="connsiteY2" fmla="*/ 0 h 952500"/>
                    <a:gd name="connsiteX3" fmla="*/ 1851660 w 1851660"/>
                    <a:gd name="connsiteY3" fmla="*/ 97793 h 952500"/>
                    <a:gd name="connsiteX4" fmla="*/ 1851660 w 1851660"/>
                    <a:gd name="connsiteY4" fmla="*/ 854707 h 952500"/>
                    <a:gd name="connsiteX5" fmla="*/ 1753867 w 1851660"/>
                    <a:gd name="connsiteY5" fmla="*/ 952500 h 952500"/>
                    <a:gd name="connsiteX6" fmla="*/ 0 w 1851660"/>
                    <a:gd name="connsiteY6" fmla="*/ 97793 h 952500"/>
                    <a:gd name="connsiteX0" fmla="*/ 0 w 1851660"/>
                    <a:gd name="connsiteY0" fmla="*/ 97793 h 854707"/>
                    <a:gd name="connsiteX1" fmla="*/ 97793 w 1851660"/>
                    <a:gd name="connsiteY1" fmla="*/ 0 h 854707"/>
                    <a:gd name="connsiteX2" fmla="*/ 1753867 w 1851660"/>
                    <a:gd name="connsiteY2" fmla="*/ 0 h 854707"/>
                    <a:gd name="connsiteX3" fmla="*/ 1851660 w 1851660"/>
                    <a:gd name="connsiteY3" fmla="*/ 97793 h 854707"/>
                    <a:gd name="connsiteX4" fmla="*/ 1851660 w 1851660"/>
                    <a:gd name="connsiteY4" fmla="*/ 854707 h 854707"/>
                    <a:gd name="connsiteX5" fmla="*/ 0 w 1851660"/>
                    <a:gd name="connsiteY5" fmla="*/ 97793 h 854707"/>
                    <a:gd name="connsiteX0" fmla="*/ 0 w 1851660"/>
                    <a:gd name="connsiteY0" fmla="*/ 97793 h 97793"/>
                    <a:gd name="connsiteX1" fmla="*/ 97793 w 1851660"/>
                    <a:gd name="connsiteY1" fmla="*/ 0 h 97793"/>
                    <a:gd name="connsiteX2" fmla="*/ 1753867 w 1851660"/>
                    <a:gd name="connsiteY2" fmla="*/ 0 h 97793"/>
                    <a:gd name="connsiteX3" fmla="*/ 1851660 w 1851660"/>
                    <a:gd name="connsiteY3" fmla="*/ 97793 h 97793"/>
                    <a:gd name="connsiteX4" fmla="*/ 0 w 1851660"/>
                    <a:gd name="connsiteY4" fmla="*/ 97793 h 97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1660" h="97793">
                      <a:moveTo>
                        <a:pt x="0" y="97793"/>
                      </a:moveTo>
                      <a:cubicBezTo>
                        <a:pt x="0" y="43783"/>
                        <a:pt x="43783" y="0"/>
                        <a:pt x="97793" y="0"/>
                      </a:cubicBezTo>
                      <a:lnTo>
                        <a:pt x="1753867" y="0"/>
                      </a:lnTo>
                      <a:cubicBezTo>
                        <a:pt x="1807877" y="0"/>
                        <a:pt x="1851660" y="43783"/>
                        <a:pt x="1851660" y="97793"/>
                      </a:cubicBezTo>
                      <a:lnTo>
                        <a:pt x="0" y="97793"/>
                      </a:lnTo>
                      <a:close/>
                    </a:path>
                  </a:pathLst>
                </a:cu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230" name="TextBox 229"/>
              <p:cNvSpPr txBox="1"/>
              <p:nvPr/>
            </p:nvSpPr>
            <p:spPr>
              <a:xfrm>
                <a:off x="600119" y="1592138"/>
                <a:ext cx="219846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HỆ THỐNG CẦU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1">
                    <a:ln>
                      <a:noFill/>
                    </a:ln>
                    <a:solidFill>
                      <a:prstClr val="black">
                        <a:lumMod val="85000"/>
                        <a:lumOff val="15000"/>
                      </a:prstClr>
                    </a:solidFill>
                    <a:effectLst/>
                    <a:uLnTx/>
                    <a:uFillTx/>
                    <a:latin typeface="Cambria" panose="02040503050406030204" pitchFamily="18" charset="0"/>
                    <a:ea typeface="Cambria" panose="02040503050406030204" pitchFamily="18" charset="0"/>
                    <a:cs typeface="+mn-cs"/>
                  </a:rPr>
                  <a:t>TRUYỀN HÌNH</a:t>
                </a:r>
                <a:endParaRPr kumimoji="0" lang="en-US" sz="1400" b="0" i="0" u="none" strike="noStrike" kern="1200" cap="none" spc="0" normalizeH="0" baseline="0" noProof="1">
                  <a:ln>
                    <a:noFill/>
                  </a:ln>
                  <a:solidFill>
                    <a:prstClr val="white">
                      <a:lumMod val="65000"/>
                    </a:prstClr>
                  </a:solidFill>
                  <a:effectLst/>
                  <a:uLnTx/>
                  <a:uFillTx/>
                  <a:latin typeface="Cambria" panose="02040503050406030204" pitchFamily="18" charset="0"/>
                  <a:ea typeface="Cambria" panose="02040503050406030204" pitchFamily="18" charset="0"/>
                  <a:cs typeface="+mn-cs"/>
                </a:endParaRPr>
              </a:p>
            </p:txBody>
          </p:sp>
        </p:grpSp>
        <p:cxnSp>
          <p:nvCxnSpPr>
            <p:cNvPr id="234" name="Straight Connector 233"/>
            <p:cNvCxnSpPr/>
            <p:nvPr/>
          </p:nvCxnSpPr>
          <p:spPr>
            <a:xfrm>
              <a:off x="5984208" y="1041796"/>
              <a:ext cx="0" cy="419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a:off x="1404089" y="1230284"/>
              <a:ext cx="87051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a:off x="1404089" y="1230284"/>
              <a:ext cx="0" cy="230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a:off x="3754322" y="1230284"/>
              <a:ext cx="0" cy="230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a:off x="7843157" y="1230284"/>
              <a:ext cx="0" cy="230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a:off x="10109252" y="1230284"/>
              <a:ext cx="0" cy="230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a:off x="4780604" y="2151400"/>
              <a:ext cx="50978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7742082" y="1958337"/>
              <a:ext cx="0" cy="19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a:off x="4780604" y="2151400"/>
              <a:ext cx="0" cy="1849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a:off x="9878497" y="2151400"/>
              <a:ext cx="0" cy="18499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a:off x="4780604" y="2843689"/>
              <a:ext cx="0" cy="35064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Connector 253"/>
            <p:cNvCxnSpPr>
              <a:stCxn id="215" idx="3"/>
              <a:endCxn id="220" idx="1"/>
            </p:cNvCxnSpPr>
            <p:nvPr/>
          </p:nvCxnSpPr>
          <p:spPr>
            <a:xfrm>
              <a:off x="4424505" y="6350116"/>
              <a:ext cx="648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4424505" y="5419968"/>
              <a:ext cx="648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4424505" y="4501015"/>
              <a:ext cx="648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4424505" y="3508032"/>
              <a:ext cx="648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a:off x="9912535" y="2843689"/>
              <a:ext cx="0" cy="35064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a:off x="9556436" y="6350116"/>
              <a:ext cx="648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9556436" y="5419968"/>
              <a:ext cx="648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a:off x="9556436" y="4501015"/>
              <a:ext cx="6480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9556436" y="3508032"/>
              <a:ext cx="648089"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2579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marL="0" marR="0" lvl="0" indent="0" algn="l" defTabSz="1219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C0504D">
                    <a:lumMod val="75000"/>
                  </a:srgbClr>
                </a:solidFill>
                <a:effectLst/>
                <a:uLnTx/>
                <a:uFillTx/>
                <a:latin typeface="FS Magistral Bold" panose="020B0804030204080304" pitchFamily="34" charset="0"/>
                <a:ea typeface="+mn-ea"/>
                <a:cs typeface="+mn-cs"/>
              </a:rPr>
              <a:t>2.3. PHƯƠNG</a:t>
            </a:r>
            <a:r>
              <a:rPr kumimoji="0" lang="en-US" sz="2400" b="1" i="0" u="none" strike="noStrike" kern="1200" cap="none" spc="0" normalizeH="0" noProof="0">
                <a:ln>
                  <a:noFill/>
                </a:ln>
                <a:solidFill>
                  <a:srgbClr val="C0504D">
                    <a:lumMod val="75000"/>
                  </a:srgbClr>
                </a:solidFill>
                <a:effectLst/>
                <a:uLnTx/>
                <a:uFillTx/>
                <a:latin typeface="FS Magistral Bold" panose="020B0804030204080304" pitchFamily="34" charset="0"/>
                <a:ea typeface="+mn-ea"/>
                <a:cs typeface="+mn-cs"/>
              </a:rPr>
              <a:t> PHÁP VÀ CÁCH THỨC TIẾP CẬN </a:t>
            </a:r>
            <a:endParaRPr kumimoji="0" lang="vi-VN" sz="2400" b="1" i="0" u="none" strike="noStrike" kern="1200" cap="none" spc="0" normalizeH="0" baseline="0" noProof="0" dirty="0">
              <a:ln>
                <a:noFill/>
              </a:ln>
              <a:solidFill>
                <a:prstClr val="black">
                  <a:lumMod val="75000"/>
                  <a:lumOff val="25000"/>
                </a:prstClr>
              </a:solidFill>
              <a:effectLst/>
              <a:uLnTx/>
              <a:uFillTx/>
              <a:latin typeface="FS Magistral Bold" panose="020B0804030204080304" pitchFamily="34" charset="0"/>
              <a:ea typeface="+mn-ea"/>
              <a:cs typeface="+mn-cs"/>
            </a:endParaRPr>
          </a:p>
        </p:txBody>
      </p:sp>
      <p:sp>
        <p:nvSpPr>
          <p:cNvPr id="237" name="TextBox 236">
            <a:extLst>
              <a:ext uri="{FF2B5EF4-FFF2-40B4-BE49-F238E27FC236}">
                <a16:creationId xmlns:a16="http://schemas.microsoft.com/office/drawing/2014/main" id="{53C8D6F4-BE71-726F-5661-F0DF30CF074E}"/>
              </a:ext>
            </a:extLst>
          </p:cNvPr>
          <p:cNvSpPr txBox="1"/>
          <p:nvPr/>
        </p:nvSpPr>
        <p:spPr>
          <a:xfrm>
            <a:off x="8816105" y="2590572"/>
            <a:ext cx="2466387" cy="415926"/>
          </a:xfrm>
          <a:prstGeom prst="rect">
            <a:avLst/>
          </a:prstGeom>
          <a:noFill/>
        </p:spPr>
        <p:txBody>
          <a:bodyPr wrap="square" rtlCol="0">
            <a:spAutoFit/>
          </a:bodyPr>
          <a:lstStyle/>
          <a:p>
            <a:pPr>
              <a:buClr>
                <a:srgbClr val="000000"/>
              </a:buClr>
              <a:buFont typeface="Arial"/>
              <a:buNone/>
              <a:defRPr/>
            </a:pPr>
            <a:r>
              <a:rPr lang="en-US" sz="1600" kern="0" dirty="0">
                <a:solidFill>
                  <a:srgbClr val="F9F9F9"/>
                </a:solidFill>
                <a:latin typeface="FS Magistral Bold" panose="020B0804030204080304" pitchFamily="34" charset="0"/>
                <a:cs typeface="Arial"/>
                <a:sym typeface="Arial"/>
              </a:rPr>
              <a:t>ME - </a:t>
            </a:r>
            <a:r>
              <a:rPr lang="en-US" sz="1600" kern="0" dirty="0" err="1">
                <a:solidFill>
                  <a:srgbClr val="F9F9F9"/>
                </a:solidFill>
                <a:latin typeface="FS Magistral Bold" panose="020B0804030204080304" pitchFamily="34" charset="0"/>
                <a:cs typeface="Arial"/>
                <a:sym typeface="Arial"/>
              </a:rPr>
              <a:t>Đồ</a:t>
            </a:r>
            <a:r>
              <a:rPr lang="en-US" sz="1600" kern="0" dirty="0">
                <a:solidFill>
                  <a:srgbClr val="F9F9F9"/>
                </a:solidFill>
                <a:latin typeface="FS Magistral Bold" panose="020B0804030204080304" pitchFamily="34" charset="0"/>
                <a:cs typeface="Arial"/>
                <a:sym typeface="Arial"/>
              </a:rPr>
              <a:t> </a:t>
            </a:r>
            <a:r>
              <a:rPr lang="en-US" sz="1600" kern="0" dirty="0" err="1">
                <a:solidFill>
                  <a:srgbClr val="F9F9F9"/>
                </a:solidFill>
                <a:latin typeface="FS Magistral Bold" panose="020B0804030204080304" pitchFamily="34" charset="0"/>
                <a:cs typeface="Arial"/>
                <a:sym typeface="Arial"/>
              </a:rPr>
              <a:t>gia</a:t>
            </a:r>
            <a:r>
              <a:rPr lang="en-US" sz="1600" kern="0" dirty="0">
                <a:solidFill>
                  <a:srgbClr val="F9F9F9"/>
                </a:solidFill>
                <a:latin typeface="FS Magistral Bold" panose="020B0804030204080304" pitchFamily="34" charset="0"/>
                <a:cs typeface="Arial"/>
                <a:sym typeface="Arial"/>
              </a:rPr>
              <a:t> </a:t>
            </a:r>
            <a:r>
              <a:rPr lang="en-US" sz="1600" kern="0" dirty="0" err="1">
                <a:solidFill>
                  <a:srgbClr val="F9F9F9"/>
                </a:solidFill>
                <a:latin typeface="FS Magistral Bold" panose="020B0804030204080304" pitchFamily="34" charset="0"/>
                <a:cs typeface="Arial"/>
                <a:sym typeface="Arial"/>
              </a:rPr>
              <a:t>dụng</a:t>
            </a:r>
            <a:endParaRPr lang="en-US" sz="1600" kern="0" dirty="0">
              <a:solidFill>
                <a:srgbClr val="F9F9F9"/>
              </a:solidFill>
              <a:latin typeface="FS Magistral Bold" panose="020B0804030204080304" pitchFamily="34" charset="0"/>
              <a:cs typeface="Arial"/>
              <a:sym typeface="Arial"/>
            </a:endParaRPr>
          </a:p>
        </p:txBody>
      </p:sp>
      <p:grpSp>
        <p:nvGrpSpPr>
          <p:cNvPr id="239" name="Group 238">
            <a:extLst>
              <a:ext uri="{FF2B5EF4-FFF2-40B4-BE49-F238E27FC236}">
                <a16:creationId xmlns:a16="http://schemas.microsoft.com/office/drawing/2014/main" id="{CAAF7E58-E1B1-49C5-9C5C-E77EC737554E}"/>
              </a:ext>
            </a:extLst>
          </p:cNvPr>
          <p:cNvGrpSpPr/>
          <p:nvPr/>
        </p:nvGrpSpPr>
        <p:grpSpPr>
          <a:xfrm>
            <a:off x="778765" y="2880574"/>
            <a:ext cx="3043538" cy="1615662"/>
            <a:chOff x="952760" y="3075695"/>
            <a:chExt cx="3319272" cy="1376768"/>
          </a:xfrm>
        </p:grpSpPr>
        <p:sp>
          <p:nvSpPr>
            <p:cNvPr id="243" name="Rectangle: Rounded Corners 44">
              <a:extLst>
                <a:ext uri="{FF2B5EF4-FFF2-40B4-BE49-F238E27FC236}">
                  <a16:creationId xmlns:a16="http://schemas.microsoft.com/office/drawing/2014/main" id="{B51801E4-E106-406D-910D-D45098DB74B5}"/>
                </a:ext>
              </a:extLst>
            </p:cNvPr>
            <p:cNvSpPr/>
            <p:nvPr/>
          </p:nvSpPr>
          <p:spPr>
            <a:xfrm>
              <a:off x="952760" y="3201263"/>
              <a:ext cx="3319272" cy="1251200"/>
            </a:xfrm>
            <a:prstGeom prst="roundRect">
              <a:avLst>
                <a:gd name="adj" fmla="val 15145"/>
              </a:avLst>
            </a:prstGeom>
            <a:blipFill dpi="0" rotWithShape="1">
              <a:blip r:embed="rId3">
                <a:extLst>
                  <a:ext uri="{28A0092B-C50C-407E-A947-70E740481C1C}">
                    <a14:useLocalDpi xmlns:a14="http://schemas.microsoft.com/office/drawing/2010/main" val="0"/>
                  </a:ext>
                </a:extLst>
              </a:blip>
              <a:srcRect/>
              <a:stretch>
                <a:fillRect/>
              </a:stretch>
            </a:blipFill>
            <a:ln w="28575" cap="flat" cmpd="sng" algn="ctr">
              <a:solidFill>
                <a:srgbClr val="063951"/>
              </a:solidFill>
              <a:prstDash val="solid"/>
              <a:miter lim="800000"/>
            </a:ln>
            <a:effectLst/>
          </p:spPr>
          <p:txBody>
            <a:bodyPr wrap="square" tIns="68580" bIns="68580" rtlCol="0" anchor="b"/>
            <a:lstStyle/>
            <a:p>
              <a:pPr algn="ctr">
                <a:defRPr/>
              </a:pPr>
              <a:endParaRPr lang="en-US" sz="1050" noProof="1">
                <a:solidFill>
                  <a:prstClr val="black">
                    <a:lumMod val="65000"/>
                    <a:lumOff val="35000"/>
                  </a:prstClr>
                </a:solidFill>
                <a:cs typeface="Arial"/>
                <a:sym typeface="Arial"/>
              </a:endParaRPr>
            </a:p>
          </p:txBody>
        </p:sp>
        <p:sp>
          <p:nvSpPr>
            <p:cNvPr id="245" name="Freeform: Shape 46">
              <a:extLst>
                <a:ext uri="{FF2B5EF4-FFF2-40B4-BE49-F238E27FC236}">
                  <a16:creationId xmlns:a16="http://schemas.microsoft.com/office/drawing/2014/main" id="{1BA2D5D4-17DD-4CCA-8DD6-2FB2B96C9879}"/>
                </a:ext>
              </a:extLst>
            </p:cNvPr>
            <p:cNvSpPr/>
            <p:nvPr/>
          </p:nvSpPr>
          <p:spPr>
            <a:xfrm>
              <a:off x="1094949" y="3075695"/>
              <a:ext cx="3046539" cy="271056"/>
            </a:xfrm>
            <a:custGeom>
              <a:avLst/>
              <a:gdLst>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37522 w 3046538"/>
                <a:gd name="connsiteY17" fmla="*/ 52906 h 331361"/>
                <a:gd name="connsiteX18" fmla="*/ 243006 w 3046538"/>
                <a:gd name="connsiteY18" fmla="*/ 44772 h 331361"/>
                <a:gd name="connsiteX19" fmla="*/ 351094 w 3046538"/>
                <a:gd name="connsiteY19" fmla="*/ 0 h 331361"/>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43006 w 3046538"/>
                <a:gd name="connsiteY17" fmla="*/ 44772 h 331361"/>
                <a:gd name="connsiteX18" fmla="*/ 351094 w 3046538"/>
                <a:gd name="connsiteY18" fmla="*/ 0 h 331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46538" h="331361">
                  <a:moveTo>
                    <a:pt x="351094" y="0"/>
                  </a:moveTo>
                  <a:lnTo>
                    <a:pt x="2683799" y="0"/>
                  </a:lnTo>
                  <a:cubicBezTo>
                    <a:pt x="2704905" y="0"/>
                    <a:pt x="2725011" y="4278"/>
                    <a:pt x="2743299" y="12013"/>
                  </a:cubicBezTo>
                  <a:lnTo>
                    <a:pt x="2743789" y="12343"/>
                  </a:lnTo>
                  <a:lnTo>
                    <a:pt x="2747886" y="13140"/>
                  </a:lnTo>
                  <a:cubicBezTo>
                    <a:pt x="2767699" y="21175"/>
                    <a:pt x="2786265" y="33227"/>
                    <a:pt x="2802334" y="49296"/>
                  </a:cubicBezTo>
                  <a:cubicBezTo>
                    <a:pt x="2862432" y="109394"/>
                    <a:pt x="2943833" y="148189"/>
                    <a:pt x="3046538" y="165680"/>
                  </a:cubicBezTo>
                  <a:cubicBezTo>
                    <a:pt x="2943833" y="183171"/>
                    <a:pt x="2862432" y="221967"/>
                    <a:pt x="2802334" y="282064"/>
                  </a:cubicBezTo>
                  <a:cubicBezTo>
                    <a:pt x="2786265" y="298133"/>
                    <a:pt x="2767699" y="310186"/>
                    <a:pt x="2747886" y="318220"/>
                  </a:cubicBezTo>
                  <a:lnTo>
                    <a:pt x="2743791" y="319017"/>
                  </a:lnTo>
                  <a:lnTo>
                    <a:pt x="2743299" y="319349"/>
                  </a:lnTo>
                  <a:cubicBezTo>
                    <a:pt x="2725011" y="327084"/>
                    <a:pt x="2704905" y="331361"/>
                    <a:pt x="2683799" y="331361"/>
                  </a:cubicBezTo>
                  <a:lnTo>
                    <a:pt x="351094" y="331361"/>
                  </a:lnTo>
                  <a:cubicBezTo>
                    <a:pt x="308883" y="331361"/>
                    <a:pt x="270668" y="314252"/>
                    <a:pt x="243006" y="286589"/>
                  </a:cubicBezTo>
                  <a:lnTo>
                    <a:pt x="193128" y="241208"/>
                  </a:lnTo>
                  <a:cubicBezTo>
                    <a:pt x="140512" y="204273"/>
                    <a:pt x="76137" y="179097"/>
                    <a:pt x="0" y="165680"/>
                  </a:cubicBezTo>
                  <a:cubicBezTo>
                    <a:pt x="76137" y="152264"/>
                    <a:pt x="140512" y="127088"/>
                    <a:pt x="193128" y="90152"/>
                  </a:cubicBezTo>
                  <a:lnTo>
                    <a:pt x="243006" y="44772"/>
                  </a:lnTo>
                  <a:cubicBezTo>
                    <a:pt x="270668" y="17110"/>
                    <a:pt x="308883" y="0"/>
                    <a:pt x="351094" y="0"/>
                  </a:cubicBezTo>
                  <a:close/>
                </a:path>
              </a:pathLst>
            </a:custGeom>
            <a:solidFill>
              <a:srgbClr val="063951"/>
            </a:solidFill>
            <a:ln w="12700" cap="flat" cmpd="sng" algn="ctr">
              <a:noFill/>
              <a:prstDash val="solid"/>
              <a:miter lim="800000"/>
            </a:ln>
            <a:effectLst/>
          </p:spPr>
          <p:txBody>
            <a:bodyPr wrap="square" rtlCol="0" anchor="ctr">
              <a:noAutofit/>
            </a:bodyPr>
            <a:lstStyle/>
            <a:p>
              <a:pPr algn="ctr">
                <a:defRPr/>
              </a:pPr>
              <a:endParaRPr lang="en-US" sz="1350" b="1" dirty="0">
                <a:solidFill>
                  <a:prstClr val="white"/>
                </a:solidFill>
                <a:cs typeface="Arial"/>
                <a:sym typeface="Arial"/>
              </a:endParaRPr>
            </a:p>
          </p:txBody>
        </p:sp>
      </p:grpSp>
      <p:grpSp>
        <p:nvGrpSpPr>
          <p:cNvPr id="247" name="Group 246">
            <a:extLst>
              <a:ext uri="{FF2B5EF4-FFF2-40B4-BE49-F238E27FC236}">
                <a16:creationId xmlns:a16="http://schemas.microsoft.com/office/drawing/2014/main" id="{621ADB06-1450-4681-B542-3BE3F2AA2FE7}"/>
              </a:ext>
            </a:extLst>
          </p:cNvPr>
          <p:cNvGrpSpPr/>
          <p:nvPr/>
        </p:nvGrpSpPr>
        <p:grpSpPr>
          <a:xfrm>
            <a:off x="2314943" y="5010436"/>
            <a:ext cx="3043538" cy="1421409"/>
            <a:chOff x="952760" y="2978191"/>
            <a:chExt cx="3319272" cy="1464079"/>
          </a:xfrm>
        </p:grpSpPr>
        <p:sp>
          <p:nvSpPr>
            <p:cNvPr id="250" name="Rectangle: Rounded Corners 58">
              <a:extLst>
                <a:ext uri="{FF2B5EF4-FFF2-40B4-BE49-F238E27FC236}">
                  <a16:creationId xmlns:a16="http://schemas.microsoft.com/office/drawing/2014/main" id="{01AC539F-B99A-40DF-8F18-83D7EE17E2E7}"/>
                </a:ext>
              </a:extLst>
            </p:cNvPr>
            <p:cNvSpPr/>
            <p:nvPr/>
          </p:nvSpPr>
          <p:spPr>
            <a:xfrm>
              <a:off x="952760" y="3127489"/>
              <a:ext cx="3319272" cy="1314781"/>
            </a:xfrm>
            <a:prstGeom prst="roundRect">
              <a:avLst>
                <a:gd name="adj" fmla="val 15145"/>
              </a:avLst>
            </a:prstGeom>
            <a:blipFill dpi="0" rotWithShape="1">
              <a:blip r:embed="rId4">
                <a:extLst>
                  <a:ext uri="{28A0092B-C50C-407E-A947-70E740481C1C}">
                    <a14:useLocalDpi xmlns:a14="http://schemas.microsoft.com/office/drawing/2010/main" val="0"/>
                  </a:ext>
                </a:extLst>
              </a:blip>
              <a:srcRect/>
              <a:stretch>
                <a:fillRect/>
              </a:stretch>
            </a:blipFill>
            <a:ln w="28575" cap="flat" cmpd="sng" algn="ctr">
              <a:solidFill>
                <a:srgbClr val="063951"/>
              </a:solidFill>
              <a:prstDash val="solid"/>
              <a:miter lim="800000"/>
            </a:ln>
            <a:effectLst/>
          </p:spPr>
          <p:txBody>
            <a:bodyPr rtlCol="0" anchor="b"/>
            <a:lstStyle/>
            <a:p>
              <a:pPr algn="ctr" defTabSz="685800">
                <a:defRPr/>
              </a:pPr>
              <a:endParaRPr lang="en-US" sz="1050" noProof="1">
                <a:solidFill>
                  <a:prstClr val="black">
                    <a:lumMod val="65000"/>
                    <a:lumOff val="35000"/>
                  </a:prstClr>
                </a:solidFill>
                <a:cs typeface="Arial"/>
                <a:sym typeface="Arial"/>
              </a:endParaRPr>
            </a:p>
          </p:txBody>
        </p:sp>
        <p:sp>
          <p:nvSpPr>
            <p:cNvPr id="251" name="Freeform: Shape 59">
              <a:extLst>
                <a:ext uri="{FF2B5EF4-FFF2-40B4-BE49-F238E27FC236}">
                  <a16:creationId xmlns:a16="http://schemas.microsoft.com/office/drawing/2014/main" id="{44A9CAA3-1F25-4DA5-8E15-964B28315B4E}"/>
                </a:ext>
              </a:extLst>
            </p:cNvPr>
            <p:cNvSpPr/>
            <p:nvPr/>
          </p:nvSpPr>
          <p:spPr>
            <a:xfrm>
              <a:off x="1094949" y="2978191"/>
              <a:ext cx="3046539" cy="331361"/>
            </a:xfrm>
            <a:custGeom>
              <a:avLst/>
              <a:gdLst>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37522 w 3046538"/>
                <a:gd name="connsiteY17" fmla="*/ 52906 h 331361"/>
                <a:gd name="connsiteX18" fmla="*/ 243006 w 3046538"/>
                <a:gd name="connsiteY18" fmla="*/ 44772 h 331361"/>
                <a:gd name="connsiteX19" fmla="*/ 351094 w 3046538"/>
                <a:gd name="connsiteY19" fmla="*/ 0 h 331361"/>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43006 w 3046538"/>
                <a:gd name="connsiteY17" fmla="*/ 44772 h 331361"/>
                <a:gd name="connsiteX18" fmla="*/ 351094 w 3046538"/>
                <a:gd name="connsiteY18" fmla="*/ 0 h 331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46538" h="331361">
                  <a:moveTo>
                    <a:pt x="351094" y="0"/>
                  </a:moveTo>
                  <a:lnTo>
                    <a:pt x="2683799" y="0"/>
                  </a:lnTo>
                  <a:cubicBezTo>
                    <a:pt x="2704905" y="0"/>
                    <a:pt x="2725011" y="4278"/>
                    <a:pt x="2743299" y="12013"/>
                  </a:cubicBezTo>
                  <a:lnTo>
                    <a:pt x="2743789" y="12343"/>
                  </a:lnTo>
                  <a:lnTo>
                    <a:pt x="2747886" y="13140"/>
                  </a:lnTo>
                  <a:cubicBezTo>
                    <a:pt x="2767699" y="21175"/>
                    <a:pt x="2786265" y="33227"/>
                    <a:pt x="2802334" y="49296"/>
                  </a:cubicBezTo>
                  <a:cubicBezTo>
                    <a:pt x="2862432" y="109394"/>
                    <a:pt x="2943833" y="148189"/>
                    <a:pt x="3046538" y="165680"/>
                  </a:cubicBezTo>
                  <a:cubicBezTo>
                    <a:pt x="2943833" y="183171"/>
                    <a:pt x="2862432" y="221967"/>
                    <a:pt x="2802334" y="282064"/>
                  </a:cubicBezTo>
                  <a:cubicBezTo>
                    <a:pt x="2786265" y="298133"/>
                    <a:pt x="2767699" y="310186"/>
                    <a:pt x="2747886" y="318220"/>
                  </a:cubicBezTo>
                  <a:lnTo>
                    <a:pt x="2743791" y="319017"/>
                  </a:lnTo>
                  <a:lnTo>
                    <a:pt x="2743299" y="319349"/>
                  </a:lnTo>
                  <a:cubicBezTo>
                    <a:pt x="2725011" y="327084"/>
                    <a:pt x="2704905" y="331361"/>
                    <a:pt x="2683799" y="331361"/>
                  </a:cubicBezTo>
                  <a:lnTo>
                    <a:pt x="351094" y="331361"/>
                  </a:lnTo>
                  <a:cubicBezTo>
                    <a:pt x="308883" y="331361"/>
                    <a:pt x="270668" y="314252"/>
                    <a:pt x="243006" y="286589"/>
                  </a:cubicBezTo>
                  <a:lnTo>
                    <a:pt x="193128" y="241208"/>
                  </a:lnTo>
                  <a:cubicBezTo>
                    <a:pt x="140512" y="204273"/>
                    <a:pt x="76137" y="179097"/>
                    <a:pt x="0" y="165680"/>
                  </a:cubicBezTo>
                  <a:cubicBezTo>
                    <a:pt x="76137" y="152264"/>
                    <a:pt x="140512" y="127088"/>
                    <a:pt x="193128" y="90152"/>
                  </a:cubicBezTo>
                  <a:lnTo>
                    <a:pt x="243006" y="44772"/>
                  </a:lnTo>
                  <a:cubicBezTo>
                    <a:pt x="270668" y="17110"/>
                    <a:pt x="308883" y="0"/>
                    <a:pt x="351094" y="0"/>
                  </a:cubicBezTo>
                  <a:close/>
                </a:path>
              </a:pathLst>
            </a:custGeom>
            <a:solidFill>
              <a:srgbClr val="063951"/>
            </a:solidFill>
            <a:ln w="12700" cap="flat" cmpd="sng" algn="ctr">
              <a:noFill/>
              <a:prstDash val="solid"/>
              <a:miter lim="800000"/>
            </a:ln>
            <a:effectLst/>
          </p:spPr>
          <p:txBody>
            <a:bodyPr wrap="square" rtlCol="0" anchor="ctr">
              <a:noAutofit/>
            </a:bodyPr>
            <a:lstStyle/>
            <a:p>
              <a:pPr algn="ctr">
                <a:defRPr/>
              </a:pPr>
              <a:endParaRPr lang="en-US" sz="1350" b="1" dirty="0">
                <a:solidFill>
                  <a:prstClr val="white"/>
                </a:solidFill>
                <a:cs typeface="Arial"/>
                <a:sym typeface="Arial"/>
              </a:endParaRPr>
            </a:p>
          </p:txBody>
        </p:sp>
      </p:grpSp>
      <p:grpSp>
        <p:nvGrpSpPr>
          <p:cNvPr id="253" name="Group 252">
            <a:extLst>
              <a:ext uri="{FF2B5EF4-FFF2-40B4-BE49-F238E27FC236}">
                <a16:creationId xmlns:a16="http://schemas.microsoft.com/office/drawing/2014/main" id="{0E14474E-442E-4F05-8FAA-4CB9B469E101}"/>
              </a:ext>
            </a:extLst>
          </p:cNvPr>
          <p:cNvGrpSpPr/>
          <p:nvPr/>
        </p:nvGrpSpPr>
        <p:grpSpPr>
          <a:xfrm>
            <a:off x="2314943" y="829089"/>
            <a:ext cx="3043538" cy="1555413"/>
            <a:chOff x="1022640" y="2426665"/>
            <a:chExt cx="3319272" cy="1674768"/>
          </a:xfrm>
        </p:grpSpPr>
        <p:sp>
          <p:nvSpPr>
            <p:cNvPr id="255" name="Rectangle: Rounded Corners 61">
              <a:extLst>
                <a:ext uri="{FF2B5EF4-FFF2-40B4-BE49-F238E27FC236}">
                  <a16:creationId xmlns:a16="http://schemas.microsoft.com/office/drawing/2014/main" id="{FCCBBC8B-5FEA-44C2-90EF-6AB66AC95F15}"/>
                </a:ext>
              </a:extLst>
            </p:cNvPr>
            <p:cNvSpPr/>
            <p:nvPr/>
          </p:nvSpPr>
          <p:spPr>
            <a:xfrm>
              <a:off x="1022640" y="2571527"/>
              <a:ext cx="3319272" cy="1529906"/>
            </a:xfrm>
            <a:prstGeom prst="roundRect">
              <a:avLst>
                <a:gd name="adj" fmla="val 15145"/>
              </a:avLst>
            </a:prstGeom>
            <a:blipFill dpi="0" rotWithShape="1">
              <a:blip r:embed="rId5" cstate="print">
                <a:extLst>
                  <a:ext uri="{28A0092B-C50C-407E-A947-70E740481C1C}">
                    <a14:useLocalDpi xmlns:a14="http://schemas.microsoft.com/office/drawing/2010/main" val="0"/>
                  </a:ext>
                </a:extLst>
              </a:blip>
              <a:srcRect/>
              <a:stretch>
                <a:fillRect/>
              </a:stretch>
            </a:blipFill>
            <a:ln w="28575" cap="flat" cmpd="sng" algn="ctr">
              <a:solidFill>
                <a:srgbClr val="EB1E42"/>
              </a:solidFill>
              <a:prstDash val="solid"/>
              <a:miter lim="800000"/>
            </a:ln>
            <a:effectLst/>
          </p:spPr>
          <p:txBody>
            <a:bodyPr bIns="137160" rtlCol="0" anchor="b"/>
            <a:lstStyle/>
            <a:p>
              <a:pPr algn="ctr">
                <a:defRPr/>
              </a:pPr>
              <a:endParaRPr lang="en-US" sz="1050" noProof="1">
                <a:solidFill>
                  <a:prstClr val="black">
                    <a:lumMod val="65000"/>
                    <a:lumOff val="35000"/>
                  </a:prstClr>
                </a:solidFill>
                <a:cs typeface="Arial"/>
                <a:sym typeface="Arial"/>
              </a:endParaRPr>
            </a:p>
          </p:txBody>
        </p:sp>
        <p:sp>
          <p:nvSpPr>
            <p:cNvPr id="256" name="Freeform: Shape 62">
              <a:extLst>
                <a:ext uri="{FF2B5EF4-FFF2-40B4-BE49-F238E27FC236}">
                  <a16:creationId xmlns:a16="http://schemas.microsoft.com/office/drawing/2014/main" id="{A62F0513-5CF0-411E-8B6E-58ABA123D379}"/>
                </a:ext>
              </a:extLst>
            </p:cNvPr>
            <p:cNvSpPr/>
            <p:nvPr/>
          </p:nvSpPr>
          <p:spPr>
            <a:xfrm>
              <a:off x="1149021" y="2426665"/>
              <a:ext cx="3046538" cy="331361"/>
            </a:xfrm>
            <a:custGeom>
              <a:avLst/>
              <a:gdLst>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37522 w 3046538"/>
                <a:gd name="connsiteY17" fmla="*/ 52906 h 331361"/>
                <a:gd name="connsiteX18" fmla="*/ 243006 w 3046538"/>
                <a:gd name="connsiteY18" fmla="*/ 44772 h 331361"/>
                <a:gd name="connsiteX19" fmla="*/ 351094 w 3046538"/>
                <a:gd name="connsiteY19" fmla="*/ 0 h 331361"/>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43006 w 3046538"/>
                <a:gd name="connsiteY17" fmla="*/ 44772 h 331361"/>
                <a:gd name="connsiteX18" fmla="*/ 351094 w 3046538"/>
                <a:gd name="connsiteY18" fmla="*/ 0 h 331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46538" h="331361">
                  <a:moveTo>
                    <a:pt x="351094" y="0"/>
                  </a:moveTo>
                  <a:lnTo>
                    <a:pt x="2683799" y="0"/>
                  </a:lnTo>
                  <a:cubicBezTo>
                    <a:pt x="2704905" y="0"/>
                    <a:pt x="2725011" y="4278"/>
                    <a:pt x="2743299" y="12013"/>
                  </a:cubicBezTo>
                  <a:lnTo>
                    <a:pt x="2743789" y="12343"/>
                  </a:lnTo>
                  <a:lnTo>
                    <a:pt x="2747886" y="13140"/>
                  </a:lnTo>
                  <a:cubicBezTo>
                    <a:pt x="2767699" y="21175"/>
                    <a:pt x="2786265" y="33227"/>
                    <a:pt x="2802334" y="49296"/>
                  </a:cubicBezTo>
                  <a:cubicBezTo>
                    <a:pt x="2862432" y="109394"/>
                    <a:pt x="2943833" y="148189"/>
                    <a:pt x="3046538" y="165680"/>
                  </a:cubicBezTo>
                  <a:cubicBezTo>
                    <a:pt x="2943833" y="183171"/>
                    <a:pt x="2862432" y="221967"/>
                    <a:pt x="2802334" y="282064"/>
                  </a:cubicBezTo>
                  <a:cubicBezTo>
                    <a:pt x="2786265" y="298133"/>
                    <a:pt x="2767699" y="310186"/>
                    <a:pt x="2747886" y="318220"/>
                  </a:cubicBezTo>
                  <a:lnTo>
                    <a:pt x="2743791" y="319017"/>
                  </a:lnTo>
                  <a:lnTo>
                    <a:pt x="2743299" y="319349"/>
                  </a:lnTo>
                  <a:cubicBezTo>
                    <a:pt x="2725011" y="327084"/>
                    <a:pt x="2704905" y="331361"/>
                    <a:pt x="2683799" y="331361"/>
                  </a:cubicBezTo>
                  <a:lnTo>
                    <a:pt x="351094" y="331361"/>
                  </a:lnTo>
                  <a:cubicBezTo>
                    <a:pt x="308883" y="331361"/>
                    <a:pt x="270668" y="314252"/>
                    <a:pt x="243006" y="286589"/>
                  </a:cubicBezTo>
                  <a:lnTo>
                    <a:pt x="193128" y="241208"/>
                  </a:lnTo>
                  <a:cubicBezTo>
                    <a:pt x="140512" y="204273"/>
                    <a:pt x="76137" y="179097"/>
                    <a:pt x="0" y="165680"/>
                  </a:cubicBezTo>
                  <a:cubicBezTo>
                    <a:pt x="76137" y="152264"/>
                    <a:pt x="140512" y="127088"/>
                    <a:pt x="193128" y="90152"/>
                  </a:cubicBezTo>
                  <a:lnTo>
                    <a:pt x="243006" y="44772"/>
                  </a:lnTo>
                  <a:cubicBezTo>
                    <a:pt x="270668" y="17110"/>
                    <a:pt x="308883" y="0"/>
                    <a:pt x="351094" y="0"/>
                  </a:cubicBezTo>
                  <a:close/>
                </a:path>
              </a:pathLst>
            </a:custGeom>
            <a:solidFill>
              <a:srgbClr val="EB1E42"/>
            </a:solidFill>
            <a:ln w="12700" cap="flat" cmpd="sng" algn="ctr">
              <a:noFill/>
              <a:prstDash val="solid"/>
              <a:miter lim="800000"/>
            </a:ln>
            <a:effectLst/>
          </p:spPr>
          <p:txBody>
            <a:bodyPr wrap="square" rtlCol="0" anchor="ctr">
              <a:noAutofit/>
            </a:bodyPr>
            <a:lstStyle/>
            <a:p>
              <a:pPr algn="ctr">
                <a:defRPr/>
              </a:pPr>
              <a:endParaRPr lang="en-US" sz="1350" b="1" dirty="0">
                <a:solidFill>
                  <a:prstClr val="white"/>
                </a:solidFill>
                <a:cs typeface="Arial"/>
                <a:sym typeface="Arial"/>
              </a:endParaRPr>
            </a:p>
          </p:txBody>
        </p:sp>
      </p:grpSp>
      <p:cxnSp>
        <p:nvCxnSpPr>
          <p:cNvPr id="265" name="Connector: Curved 12">
            <a:extLst>
              <a:ext uri="{FF2B5EF4-FFF2-40B4-BE49-F238E27FC236}">
                <a16:creationId xmlns:a16="http://schemas.microsoft.com/office/drawing/2014/main" id="{26D1943B-C496-4270-B362-4DC2B0057A1F}"/>
              </a:ext>
            </a:extLst>
          </p:cNvPr>
          <p:cNvCxnSpPr>
            <a:cxnSpLocks/>
            <a:endCxn id="271" idx="1"/>
          </p:cNvCxnSpPr>
          <p:nvPr/>
        </p:nvCxnSpPr>
        <p:spPr>
          <a:xfrm rot="16200000" flipH="1">
            <a:off x="5806022" y="4764444"/>
            <a:ext cx="1297914" cy="741604"/>
          </a:xfrm>
          <a:prstGeom prst="curvedConnector2">
            <a:avLst/>
          </a:prstGeom>
          <a:noFill/>
          <a:ln w="9525" cap="flat" cmpd="sng" algn="ctr">
            <a:solidFill>
              <a:srgbClr val="C00000"/>
            </a:solidFill>
            <a:prstDash val="solid"/>
            <a:tailEnd type="triangle"/>
          </a:ln>
          <a:effectLst/>
        </p:spPr>
      </p:cxnSp>
      <p:cxnSp>
        <p:nvCxnSpPr>
          <p:cNvPr id="266" name="Connector: Curved 17">
            <a:extLst>
              <a:ext uri="{FF2B5EF4-FFF2-40B4-BE49-F238E27FC236}">
                <a16:creationId xmlns:a16="http://schemas.microsoft.com/office/drawing/2014/main" id="{0358A87E-5815-4E46-955D-A014FD8E2403}"/>
              </a:ext>
            </a:extLst>
          </p:cNvPr>
          <p:cNvCxnSpPr>
            <a:cxnSpLocks/>
            <a:endCxn id="250" idx="3"/>
          </p:cNvCxnSpPr>
          <p:nvPr/>
        </p:nvCxnSpPr>
        <p:spPr>
          <a:xfrm rot="5400000">
            <a:off x="5040210" y="4804561"/>
            <a:ext cx="1307325" cy="670781"/>
          </a:xfrm>
          <a:prstGeom prst="curvedConnector2">
            <a:avLst/>
          </a:prstGeom>
          <a:noFill/>
          <a:ln w="9525" cap="flat" cmpd="sng" algn="ctr">
            <a:solidFill>
              <a:srgbClr val="C00000"/>
            </a:solidFill>
            <a:prstDash val="solid"/>
            <a:tailEnd type="triangle"/>
          </a:ln>
          <a:effectLst/>
        </p:spPr>
      </p:cxnSp>
      <p:sp>
        <p:nvSpPr>
          <p:cNvPr id="267" name="TextBox 266">
            <a:extLst>
              <a:ext uri="{FF2B5EF4-FFF2-40B4-BE49-F238E27FC236}">
                <a16:creationId xmlns:a16="http://schemas.microsoft.com/office/drawing/2014/main" id="{2869D6D4-62EB-4A2E-9267-7FC219697F30}"/>
              </a:ext>
            </a:extLst>
          </p:cNvPr>
          <p:cNvSpPr txBox="1"/>
          <p:nvPr/>
        </p:nvSpPr>
        <p:spPr>
          <a:xfrm>
            <a:off x="1259453" y="2844470"/>
            <a:ext cx="2810157" cy="338554"/>
          </a:xfrm>
          <a:prstGeom prst="rect">
            <a:avLst/>
          </a:prstGeom>
          <a:noFill/>
        </p:spPr>
        <p:txBody>
          <a:bodyPr wrap="square" rtlCol="0">
            <a:spAutoFit/>
          </a:bodyPr>
          <a:lstStyle/>
          <a:p>
            <a:pPr>
              <a:buClr>
                <a:srgbClr val="000000"/>
              </a:buClr>
              <a:buFont typeface="Arial"/>
              <a:buNone/>
              <a:defRPr/>
            </a:pPr>
            <a:r>
              <a:rPr lang="en-US" sz="1600" kern="0">
                <a:solidFill>
                  <a:srgbClr val="F9F9F9"/>
                </a:solidFill>
                <a:latin typeface="FS Magistral Bold" panose="020B0804030204080304" pitchFamily="34" charset="0"/>
                <a:cs typeface="Arial"/>
                <a:sym typeface="Arial"/>
              </a:rPr>
              <a:t>Doanh nghiệp KCN</a:t>
            </a:r>
          </a:p>
        </p:txBody>
      </p:sp>
      <p:sp>
        <p:nvSpPr>
          <p:cNvPr id="268" name="TextBox 267">
            <a:extLst>
              <a:ext uri="{FF2B5EF4-FFF2-40B4-BE49-F238E27FC236}">
                <a16:creationId xmlns:a16="http://schemas.microsoft.com/office/drawing/2014/main" id="{958AE32B-05D6-4937-87DC-F09F06C949F0}"/>
              </a:ext>
            </a:extLst>
          </p:cNvPr>
          <p:cNvSpPr txBox="1"/>
          <p:nvPr/>
        </p:nvSpPr>
        <p:spPr>
          <a:xfrm>
            <a:off x="2548691" y="790841"/>
            <a:ext cx="2619420" cy="338554"/>
          </a:xfrm>
          <a:prstGeom prst="rect">
            <a:avLst/>
          </a:prstGeom>
          <a:noFill/>
        </p:spPr>
        <p:txBody>
          <a:bodyPr wrap="square" rtlCol="0">
            <a:spAutoFit/>
          </a:bodyPr>
          <a:lstStyle/>
          <a:p>
            <a:pPr algn="ctr">
              <a:buClr>
                <a:srgbClr val="000000"/>
              </a:buClr>
              <a:buFont typeface="Arial"/>
              <a:buNone/>
              <a:defRPr/>
            </a:pPr>
            <a:r>
              <a:rPr lang="en-US" sz="1600" kern="0">
                <a:solidFill>
                  <a:srgbClr val="F9F9F9"/>
                </a:solidFill>
                <a:latin typeface="FS Magistral Bold" panose="020B0804030204080304" pitchFamily="34" charset="0"/>
                <a:cs typeface="Arial"/>
                <a:sym typeface="Arial"/>
              </a:rPr>
              <a:t>Doanh nghiệp FDI</a:t>
            </a:r>
          </a:p>
        </p:txBody>
      </p:sp>
      <p:sp>
        <p:nvSpPr>
          <p:cNvPr id="269" name="TextBox 268">
            <a:extLst>
              <a:ext uri="{FF2B5EF4-FFF2-40B4-BE49-F238E27FC236}">
                <a16:creationId xmlns:a16="http://schemas.microsoft.com/office/drawing/2014/main" id="{70A92A63-6059-4FB2-A36D-E2ECC696632E}"/>
              </a:ext>
            </a:extLst>
          </p:cNvPr>
          <p:cNvSpPr txBox="1"/>
          <p:nvPr/>
        </p:nvSpPr>
        <p:spPr>
          <a:xfrm>
            <a:off x="2603743" y="4980590"/>
            <a:ext cx="2465938" cy="338554"/>
          </a:xfrm>
          <a:prstGeom prst="rect">
            <a:avLst/>
          </a:prstGeom>
          <a:noFill/>
        </p:spPr>
        <p:txBody>
          <a:bodyPr wrap="square" rtlCol="0">
            <a:spAutoFit/>
          </a:bodyPr>
          <a:lstStyle/>
          <a:p>
            <a:pPr algn="ctr">
              <a:buClr>
                <a:srgbClr val="000000"/>
              </a:buClr>
              <a:buFont typeface="Arial"/>
              <a:buNone/>
              <a:defRPr/>
            </a:pPr>
            <a:r>
              <a:rPr lang="en-US" sz="1600" kern="0">
                <a:solidFill>
                  <a:srgbClr val="F9F9F9"/>
                </a:solidFill>
                <a:latin typeface="FS Magistral Bold" panose="020B0804030204080304" pitchFamily="34" charset="0"/>
                <a:cs typeface="Arial"/>
                <a:sym typeface="Arial"/>
              </a:rPr>
              <a:t>Đơn vị tư vấn TK</a:t>
            </a:r>
            <a:endParaRPr lang="en-US" sz="1600" kern="0" dirty="0">
              <a:solidFill>
                <a:srgbClr val="F9F9F9"/>
              </a:solidFill>
              <a:latin typeface="FS Magistral Bold" panose="020B0804030204080304" pitchFamily="34" charset="0"/>
              <a:cs typeface="Arial"/>
              <a:sym typeface="Arial"/>
            </a:endParaRPr>
          </a:p>
        </p:txBody>
      </p:sp>
      <p:grpSp>
        <p:nvGrpSpPr>
          <p:cNvPr id="270" name="Group 269">
            <a:extLst>
              <a:ext uri="{FF2B5EF4-FFF2-40B4-BE49-F238E27FC236}">
                <a16:creationId xmlns:a16="http://schemas.microsoft.com/office/drawing/2014/main" id="{84145367-6C2E-B847-E84B-A6920A4E08AF}"/>
              </a:ext>
            </a:extLst>
          </p:cNvPr>
          <p:cNvGrpSpPr/>
          <p:nvPr/>
        </p:nvGrpSpPr>
        <p:grpSpPr>
          <a:xfrm>
            <a:off x="6825781" y="4965658"/>
            <a:ext cx="3237402" cy="1466188"/>
            <a:chOff x="952759" y="3036178"/>
            <a:chExt cx="3530699" cy="1416285"/>
          </a:xfrm>
        </p:grpSpPr>
        <p:sp>
          <p:nvSpPr>
            <p:cNvPr id="271" name="Rectangle: Rounded Corners 30">
              <a:extLst>
                <a:ext uri="{FF2B5EF4-FFF2-40B4-BE49-F238E27FC236}">
                  <a16:creationId xmlns:a16="http://schemas.microsoft.com/office/drawing/2014/main" id="{AEE3FDD0-416F-68B2-7B8A-C94D6E1794D6}"/>
                </a:ext>
              </a:extLst>
            </p:cNvPr>
            <p:cNvSpPr/>
            <p:nvPr/>
          </p:nvSpPr>
          <p:spPr>
            <a:xfrm>
              <a:off x="952759" y="3201263"/>
              <a:ext cx="3530699" cy="1251200"/>
            </a:xfrm>
            <a:prstGeom prst="roundRect">
              <a:avLst>
                <a:gd name="adj" fmla="val 15145"/>
              </a:avLst>
            </a:prstGeom>
            <a:blipFill dpi="0" rotWithShape="1">
              <a:blip r:embed="rId6">
                <a:extLst>
                  <a:ext uri="{28A0092B-C50C-407E-A947-70E740481C1C}">
                    <a14:useLocalDpi xmlns:a14="http://schemas.microsoft.com/office/drawing/2010/main" val="0"/>
                  </a:ext>
                </a:extLst>
              </a:blip>
              <a:srcRect/>
              <a:stretch>
                <a:fillRect/>
              </a:stretch>
            </a:blipFill>
            <a:ln w="28575" cap="flat" cmpd="sng" algn="ctr">
              <a:solidFill>
                <a:srgbClr val="063951"/>
              </a:solidFill>
              <a:prstDash val="solid"/>
              <a:miter lim="800000"/>
            </a:ln>
            <a:effectLst/>
          </p:spPr>
          <p:txBody>
            <a:bodyPr rtlCol="0" anchor="b"/>
            <a:lstStyle/>
            <a:p>
              <a:pPr algn="ctr">
                <a:defRPr/>
              </a:pPr>
              <a:endParaRPr lang="en-US" sz="1050" noProof="1">
                <a:solidFill>
                  <a:prstClr val="black">
                    <a:lumMod val="65000"/>
                    <a:lumOff val="35000"/>
                  </a:prstClr>
                </a:solidFill>
                <a:cs typeface="Arial"/>
                <a:sym typeface="Arial"/>
              </a:endParaRPr>
            </a:p>
          </p:txBody>
        </p:sp>
        <p:sp>
          <p:nvSpPr>
            <p:cNvPr id="272" name="Freeform: Shape 31">
              <a:extLst>
                <a:ext uri="{FF2B5EF4-FFF2-40B4-BE49-F238E27FC236}">
                  <a16:creationId xmlns:a16="http://schemas.microsoft.com/office/drawing/2014/main" id="{F6F823B0-2E66-25EA-6D36-012E8C08F158}"/>
                </a:ext>
              </a:extLst>
            </p:cNvPr>
            <p:cNvSpPr/>
            <p:nvPr/>
          </p:nvSpPr>
          <p:spPr>
            <a:xfrm>
              <a:off x="1094950" y="3036178"/>
              <a:ext cx="3215561" cy="331361"/>
            </a:xfrm>
            <a:custGeom>
              <a:avLst/>
              <a:gdLst>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37522 w 3046538"/>
                <a:gd name="connsiteY17" fmla="*/ 52906 h 331361"/>
                <a:gd name="connsiteX18" fmla="*/ 243006 w 3046538"/>
                <a:gd name="connsiteY18" fmla="*/ 44772 h 331361"/>
                <a:gd name="connsiteX19" fmla="*/ 351094 w 3046538"/>
                <a:gd name="connsiteY19" fmla="*/ 0 h 331361"/>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43006 w 3046538"/>
                <a:gd name="connsiteY17" fmla="*/ 44772 h 331361"/>
                <a:gd name="connsiteX18" fmla="*/ 351094 w 3046538"/>
                <a:gd name="connsiteY18" fmla="*/ 0 h 331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46538" h="331361">
                  <a:moveTo>
                    <a:pt x="351094" y="0"/>
                  </a:moveTo>
                  <a:lnTo>
                    <a:pt x="2683799" y="0"/>
                  </a:lnTo>
                  <a:cubicBezTo>
                    <a:pt x="2704905" y="0"/>
                    <a:pt x="2725011" y="4278"/>
                    <a:pt x="2743299" y="12013"/>
                  </a:cubicBezTo>
                  <a:lnTo>
                    <a:pt x="2743789" y="12343"/>
                  </a:lnTo>
                  <a:lnTo>
                    <a:pt x="2747886" y="13140"/>
                  </a:lnTo>
                  <a:cubicBezTo>
                    <a:pt x="2767699" y="21175"/>
                    <a:pt x="2786265" y="33227"/>
                    <a:pt x="2802334" y="49296"/>
                  </a:cubicBezTo>
                  <a:cubicBezTo>
                    <a:pt x="2862432" y="109394"/>
                    <a:pt x="2943833" y="148189"/>
                    <a:pt x="3046538" y="165680"/>
                  </a:cubicBezTo>
                  <a:cubicBezTo>
                    <a:pt x="2943833" y="183171"/>
                    <a:pt x="2862432" y="221967"/>
                    <a:pt x="2802334" y="282064"/>
                  </a:cubicBezTo>
                  <a:cubicBezTo>
                    <a:pt x="2786265" y="298133"/>
                    <a:pt x="2767699" y="310186"/>
                    <a:pt x="2747886" y="318220"/>
                  </a:cubicBezTo>
                  <a:lnTo>
                    <a:pt x="2743791" y="319017"/>
                  </a:lnTo>
                  <a:lnTo>
                    <a:pt x="2743299" y="319349"/>
                  </a:lnTo>
                  <a:cubicBezTo>
                    <a:pt x="2725011" y="327084"/>
                    <a:pt x="2704905" y="331361"/>
                    <a:pt x="2683799" y="331361"/>
                  </a:cubicBezTo>
                  <a:lnTo>
                    <a:pt x="351094" y="331361"/>
                  </a:lnTo>
                  <a:cubicBezTo>
                    <a:pt x="308883" y="331361"/>
                    <a:pt x="270668" y="314252"/>
                    <a:pt x="243006" y="286589"/>
                  </a:cubicBezTo>
                  <a:lnTo>
                    <a:pt x="193128" y="241208"/>
                  </a:lnTo>
                  <a:cubicBezTo>
                    <a:pt x="140512" y="204273"/>
                    <a:pt x="76137" y="179097"/>
                    <a:pt x="0" y="165680"/>
                  </a:cubicBezTo>
                  <a:cubicBezTo>
                    <a:pt x="76137" y="152264"/>
                    <a:pt x="140512" y="127088"/>
                    <a:pt x="193128" y="90152"/>
                  </a:cubicBezTo>
                  <a:lnTo>
                    <a:pt x="243006" y="44772"/>
                  </a:lnTo>
                  <a:cubicBezTo>
                    <a:pt x="270668" y="17110"/>
                    <a:pt x="308883" y="0"/>
                    <a:pt x="351094" y="0"/>
                  </a:cubicBezTo>
                  <a:close/>
                </a:path>
              </a:pathLst>
            </a:custGeom>
            <a:solidFill>
              <a:srgbClr val="063951"/>
            </a:solidFill>
            <a:ln w="12700" cap="flat" cmpd="sng" algn="ctr">
              <a:noFill/>
              <a:prstDash val="solid"/>
              <a:miter lim="800000"/>
            </a:ln>
            <a:effectLst/>
          </p:spPr>
          <p:txBody>
            <a:bodyPr wrap="square" rtlCol="0" anchor="ctr">
              <a:noAutofit/>
            </a:bodyPr>
            <a:lstStyle/>
            <a:p>
              <a:pPr algn="ctr">
                <a:defRPr/>
              </a:pPr>
              <a:endParaRPr lang="en-US" sz="1350" b="1" dirty="0">
                <a:solidFill>
                  <a:prstClr val="white"/>
                </a:solidFill>
                <a:cs typeface="Arial"/>
                <a:sym typeface="Arial"/>
              </a:endParaRPr>
            </a:p>
          </p:txBody>
        </p:sp>
      </p:grpSp>
      <p:sp>
        <p:nvSpPr>
          <p:cNvPr id="273" name="TextBox 272">
            <a:extLst>
              <a:ext uri="{FF2B5EF4-FFF2-40B4-BE49-F238E27FC236}">
                <a16:creationId xmlns:a16="http://schemas.microsoft.com/office/drawing/2014/main" id="{1BBFB933-2D51-E984-A449-4EC63DB106BB}"/>
              </a:ext>
            </a:extLst>
          </p:cNvPr>
          <p:cNvSpPr txBox="1"/>
          <p:nvPr/>
        </p:nvSpPr>
        <p:spPr>
          <a:xfrm>
            <a:off x="7366933" y="4976931"/>
            <a:ext cx="2307292" cy="307777"/>
          </a:xfrm>
          <a:prstGeom prst="rect">
            <a:avLst/>
          </a:prstGeom>
          <a:noFill/>
        </p:spPr>
        <p:txBody>
          <a:bodyPr wrap="square" rtlCol="0">
            <a:spAutoFit/>
          </a:bodyPr>
          <a:lstStyle/>
          <a:p>
            <a:pPr>
              <a:buClr>
                <a:srgbClr val="000000"/>
              </a:buClr>
              <a:buFont typeface="Arial"/>
              <a:buNone/>
              <a:defRPr/>
            </a:pPr>
            <a:r>
              <a:rPr lang="en-US" sz="1400" kern="0">
                <a:solidFill>
                  <a:srgbClr val="F9F9F9"/>
                </a:solidFill>
                <a:latin typeface="FS Magistral Bold" panose="020B0804030204080304" pitchFamily="34" charset="0"/>
                <a:cs typeface="Arial"/>
                <a:sym typeface="Arial"/>
              </a:rPr>
              <a:t>Đơn vị Hành chính công</a:t>
            </a:r>
            <a:endParaRPr lang="en-US" sz="1400" kern="0" dirty="0">
              <a:solidFill>
                <a:srgbClr val="F9F9F9"/>
              </a:solidFill>
              <a:latin typeface="FS Magistral Bold" panose="020B0804030204080304" pitchFamily="34" charset="0"/>
              <a:cs typeface="Arial"/>
              <a:sym typeface="Arial"/>
            </a:endParaRPr>
          </a:p>
        </p:txBody>
      </p:sp>
      <p:grpSp>
        <p:nvGrpSpPr>
          <p:cNvPr id="274" name="Group 273">
            <a:extLst>
              <a:ext uri="{FF2B5EF4-FFF2-40B4-BE49-F238E27FC236}">
                <a16:creationId xmlns:a16="http://schemas.microsoft.com/office/drawing/2014/main" id="{161241C8-1EE1-8400-1268-6C5A01E6B5AD}"/>
              </a:ext>
            </a:extLst>
          </p:cNvPr>
          <p:cNvGrpSpPr/>
          <p:nvPr/>
        </p:nvGrpSpPr>
        <p:grpSpPr>
          <a:xfrm>
            <a:off x="8318721" y="2815161"/>
            <a:ext cx="3043538" cy="1808325"/>
            <a:chOff x="952760" y="2986206"/>
            <a:chExt cx="3319272" cy="1466258"/>
          </a:xfrm>
        </p:grpSpPr>
        <p:sp>
          <p:nvSpPr>
            <p:cNvPr id="275" name="Rectangle: Rounded Corners 36">
              <a:extLst>
                <a:ext uri="{FF2B5EF4-FFF2-40B4-BE49-F238E27FC236}">
                  <a16:creationId xmlns:a16="http://schemas.microsoft.com/office/drawing/2014/main" id="{F09B047B-793E-D201-5783-F6334A5FEF91}"/>
                </a:ext>
              </a:extLst>
            </p:cNvPr>
            <p:cNvSpPr/>
            <p:nvPr/>
          </p:nvSpPr>
          <p:spPr>
            <a:xfrm>
              <a:off x="952760" y="3106712"/>
              <a:ext cx="3319272" cy="1345752"/>
            </a:xfrm>
            <a:prstGeom prst="roundRect">
              <a:avLst>
                <a:gd name="adj" fmla="val 15145"/>
              </a:avLst>
            </a:prstGeom>
            <a:blipFill dpi="0" rotWithShape="1">
              <a:blip r:embed="rId7">
                <a:extLst>
                  <a:ext uri="{28A0092B-C50C-407E-A947-70E740481C1C}">
                    <a14:useLocalDpi xmlns:a14="http://schemas.microsoft.com/office/drawing/2010/main" val="0"/>
                  </a:ext>
                </a:extLst>
              </a:blip>
              <a:srcRect/>
              <a:stretch>
                <a:fillRect/>
              </a:stretch>
            </a:blipFill>
            <a:ln w="28575" cap="flat" cmpd="sng" algn="ctr">
              <a:solidFill>
                <a:srgbClr val="063951"/>
              </a:solidFill>
              <a:prstDash val="solid"/>
              <a:miter lim="800000"/>
            </a:ln>
            <a:effectLst/>
          </p:spPr>
          <p:txBody>
            <a:bodyPr rtlCol="0" anchor="b"/>
            <a:lstStyle/>
            <a:p>
              <a:pPr algn="ctr" defTabSz="685800">
                <a:defRPr/>
              </a:pPr>
              <a:endParaRPr lang="en-US" sz="1050" noProof="1">
                <a:solidFill>
                  <a:prstClr val="black">
                    <a:lumMod val="65000"/>
                    <a:lumOff val="35000"/>
                  </a:prstClr>
                </a:solidFill>
                <a:cs typeface="Arial"/>
                <a:sym typeface="Arial"/>
              </a:endParaRPr>
            </a:p>
          </p:txBody>
        </p:sp>
        <p:sp>
          <p:nvSpPr>
            <p:cNvPr id="276" name="Freeform: Shape 37">
              <a:extLst>
                <a:ext uri="{FF2B5EF4-FFF2-40B4-BE49-F238E27FC236}">
                  <a16:creationId xmlns:a16="http://schemas.microsoft.com/office/drawing/2014/main" id="{0E6C9945-17E1-5D32-B8CD-74EE93A11F2F}"/>
                </a:ext>
              </a:extLst>
            </p:cNvPr>
            <p:cNvSpPr/>
            <p:nvPr/>
          </p:nvSpPr>
          <p:spPr>
            <a:xfrm>
              <a:off x="1094949" y="2986206"/>
              <a:ext cx="3046539" cy="270730"/>
            </a:xfrm>
            <a:custGeom>
              <a:avLst/>
              <a:gdLst>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37522 w 3046538"/>
                <a:gd name="connsiteY17" fmla="*/ 52906 h 331361"/>
                <a:gd name="connsiteX18" fmla="*/ 243006 w 3046538"/>
                <a:gd name="connsiteY18" fmla="*/ 44772 h 331361"/>
                <a:gd name="connsiteX19" fmla="*/ 351094 w 3046538"/>
                <a:gd name="connsiteY19" fmla="*/ 0 h 331361"/>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43006 w 3046538"/>
                <a:gd name="connsiteY17" fmla="*/ 44772 h 331361"/>
                <a:gd name="connsiteX18" fmla="*/ 351094 w 3046538"/>
                <a:gd name="connsiteY18" fmla="*/ 0 h 331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46538" h="331361">
                  <a:moveTo>
                    <a:pt x="351094" y="0"/>
                  </a:moveTo>
                  <a:lnTo>
                    <a:pt x="2683799" y="0"/>
                  </a:lnTo>
                  <a:cubicBezTo>
                    <a:pt x="2704905" y="0"/>
                    <a:pt x="2725011" y="4278"/>
                    <a:pt x="2743299" y="12013"/>
                  </a:cubicBezTo>
                  <a:lnTo>
                    <a:pt x="2743789" y="12343"/>
                  </a:lnTo>
                  <a:lnTo>
                    <a:pt x="2747886" y="13140"/>
                  </a:lnTo>
                  <a:cubicBezTo>
                    <a:pt x="2767699" y="21175"/>
                    <a:pt x="2786265" y="33227"/>
                    <a:pt x="2802334" y="49296"/>
                  </a:cubicBezTo>
                  <a:cubicBezTo>
                    <a:pt x="2862432" y="109394"/>
                    <a:pt x="2943833" y="148189"/>
                    <a:pt x="3046538" y="165680"/>
                  </a:cubicBezTo>
                  <a:cubicBezTo>
                    <a:pt x="2943833" y="183171"/>
                    <a:pt x="2862432" y="221967"/>
                    <a:pt x="2802334" y="282064"/>
                  </a:cubicBezTo>
                  <a:cubicBezTo>
                    <a:pt x="2786265" y="298133"/>
                    <a:pt x="2767699" y="310186"/>
                    <a:pt x="2747886" y="318220"/>
                  </a:cubicBezTo>
                  <a:lnTo>
                    <a:pt x="2743791" y="319017"/>
                  </a:lnTo>
                  <a:lnTo>
                    <a:pt x="2743299" y="319349"/>
                  </a:lnTo>
                  <a:cubicBezTo>
                    <a:pt x="2725011" y="327084"/>
                    <a:pt x="2704905" y="331361"/>
                    <a:pt x="2683799" y="331361"/>
                  </a:cubicBezTo>
                  <a:lnTo>
                    <a:pt x="351094" y="331361"/>
                  </a:lnTo>
                  <a:cubicBezTo>
                    <a:pt x="308883" y="331361"/>
                    <a:pt x="270668" y="314252"/>
                    <a:pt x="243006" y="286589"/>
                  </a:cubicBezTo>
                  <a:lnTo>
                    <a:pt x="193128" y="241208"/>
                  </a:lnTo>
                  <a:cubicBezTo>
                    <a:pt x="140512" y="204273"/>
                    <a:pt x="76137" y="179097"/>
                    <a:pt x="0" y="165680"/>
                  </a:cubicBezTo>
                  <a:cubicBezTo>
                    <a:pt x="76137" y="152264"/>
                    <a:pt x="140512" y="127088"/>
                    <a:pt x="193128" y="90152"/>
                  </a:cubicBezTo>
                  <a:lnTo>
                    <a:pt x="243006" y="44772"/>
                  </a:lnTo>
                  <a:cubicBezTo>
                    <a:pt x="270668" y="17110"/>
                    <a:pt x="308883" y="0"/>
                    <a:pt x="351094" y="0"/>
                  </a:cubicBezTo>
                  <a:close/>
                </a:path>
              </a:pathLst>
            </a:custGeom>
            <a:solidFill>
              <a:srgbClr val="063951"/>
            </a:solidFill>
            <a:ln w="12700" cap="flat" cmpd="sng" algn="ctr">
              <a:noFill/>
              <a:prstDash val="solid"/>
              <a:miter lim="800000"/>
            </a:ln>
            <a:effectLst/>
          </p:spPr>
          <p:txBody>
            <a:bodyPr wrap="square" rtlCol="0" anchor="ctr">
              <a:noAutofit/>
            </a:bodyPr>
            <a:lstStyle/>
            <a:p>
              <a:pPr algn="ctr">
                <a:defRPr/>
              </a:pPr>
              <a:endParaRPr lang="en-US" sz="1350" b="1" dirty="0">
                <a:solidFill>
                  <a:prstClr val="white"/>
                </a:solidFill>
                <a:cs typeface="Arial"/>
                <a:sym typeface="Arial"/>
              </a:endParaRPr>
            </a:p>
          </p:txBody>
        </p:sp>
      </p:grpSp>
      <p:sp>
        <p:nvSpPr>
          <p:cNvPr id="277" name="TextBox 276">
            <a:extLst>
              <a:ext uri="{FF2B5EF4-FFF2-40B4-BE49-F238E27FC236}">
                <a16:creationId xmlns:a16="http://schemas.microsoft.com/office/drawing/2014/main" id="{1BBFB933-2D51-E984-A449-4EC63DB106BB}"/>
              </a:ext>
            </a:extLst>
          </p:cNvPr>
          <p:cNvSpPr txBox="1"/>
          <p:nvPr/>
        </p:nvSpPr>
        <p:spPr>
          <a:xfrm>
            <a:off x="8926177" y="2815161"/>
            <a:ext cx="2388367" cy="307777"/>
          </a:xfrm>
          <a:prstGeom prst="rect">
            <a:avLst/>
          </a:prstGeom>
          <a:noFill/>
        </p:spPr>
        <p:txBody>
          <a:bodyPr wrap="square" rtlCol="0">
            <a:spAutoFit/>
          </a:bodyPr>
          <a:lstStyle/>
          <a:p>
            <a:pPr>
              <a:buClr>
                <a:srgbClr val="000000"/>
              </a:buClr>
              <a:buFont typeface="Arial"/>
              <a:buNone/>
              <a:defRPr/>
            </a:pPr>
            <a:r>
              <a:rPr lang="en-US" sz="1400" kern="0">
                <a:solidFill>
                  <a:srgbClr val="F9F9F9"/>
                </a:solidFill>
                <a:latin typeface="FS Magistral Bold" panose="020B0804030204080304" pitchFamily="34" charset="0"/>
                <a:cs typeface="Arial"/>
                <a:sym typeface="Arial"/>
              </a:rPr>
              <a:t>Doanh nghiệp BĐS</a:t>
            </a:r>
            <a:endParaRPr lang="en-US" sz="1400" kern="0" dirty="0">
              <a:solidFill>
                <a:srgbClr val="F9F9F9"/>
              </a:solidFill>
              <a:latin typeface="FS Magistral Bold" panose="020B0804030204080304" pitchFamily="34" charset="0"/>
              <a:cs typeface="Arial"/>
              <a:sym typeface="Arial"/>
            </a:endParaRPr>
          </a:p>
        </p:txBody>
      </p:sp>
      <p:cxnSp>
        <p:nvCxnSpPr>
          <p:cNvPr id="278" name="Straight Arrow Connector 277"/>
          <p:cNvCxnSpPr>
            <a:endCxn id="275" idx="1"/>
          </p:cNvCxnSpPr>
          <p:nvPr/>
        </p:nvCxnSpPr>
        <p:spPr>
          <a:xfrm>
            <a:off x="7295755" y="3780110"/>
            <a:ext cx="1022966" cy="135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79" name="Straight Arrow Connector 278"/>
          <p:cNvCxnSpPr>
            <a:endCxn id="243" idx="3"/>
          </p:cNvCxnSpPr>
          <p:nvPr/>
        </p:nvCxnSpPr>
        <p:spPr>
          <a:xfrm flipH="1" flipV="1">
            <a:off x="3822303" y="3762082"/>
            <a:ext cx="940462" cy="1802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0" name="Rectangle 279"/>
          <p:cNvSpPr/>
          <p:nvPr/>
        </p:nvSpPr>
        <p:spPr>
          <a:xfrm>
            <a:off x="4762765" y="3073931"/>
            <a:ext cx="2514863" cy="1412357"/>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TextBox 280"/>
          <p:cNvSpPr txBox="1"/>
          <p:nvPr/>
        </p:nvSpPr>
        <p:spPr>
          <a:xfrm>
            <a:off x="4716630" y="3346583"/>
            <a:ext cx="2607132" cy="830997"/>
          </a:xfrm>
          <a:prstGeom prst="rect">
            <a:avLst/>
          </a:prstGeom>
          <a:noFill/>
        </p:spPr>
        <p:txBody>
          <a:bodyPr wrap="square" rtlCol="0">
            <a:spAutoFit/>
          </a:bodyPr>
          <a:lstStyle/>
          <a:p>
            <a:pPr algn="ctr"/>
            <a:r>
              <a:rPr lang="en-US" sz="2400" b="1">
                <a:solidFill>
                  <a:schemeClr val="accent2">
                    <a:lumMod val="75000"/>
                  </a:schemeClr>
                </a:solidFill>
                <a:latin typeface="Segoe UI Black" panose="020B0A02040204020203" pitchFamily="34" charset="0"/>
                <a:ea typeface="Segoe UI Black" panose="020B0A02040204020203" pitchFamily="34" charset="0"/>
              </a:rPr>
              <a:t>CHÂN DUNG KHÁCH HÀNG</a:t>
            </a:r>
          </a:p>
        </p:txBody>
      </p:sp>
      <p:grpSp>
        <p:nvGrpSpPr>
          <p:cNvPr id="282" name="Group 281">
            <a:extLst>
              <a:ext uri="{FF2B5EF4-FFF2-40B4-BE49-F238E27FC236}">
                <a16:creationId xmlns:a16="http://schemas.microsoft.com/office/drawing/2014/main" id="{0E14474E-442E-4F05-8FAA-4CB9B469E101}"/>
              </a:ext>
            </a:extLst>
          </p:cNvPr>
          <p:cNvGrpSpPr/>
          <p:nvPr/>
        </p:nvGrpSpPr>
        <p:grpSpPr>
          <a:xfrm>
            <a:off x="6826776" y="825247"/>
            <a:ext cx="3043538" cy="1559255"/>
            <a:chOff x="1022640" y="2426665"/>
            <a:chExt cx="3319272" cy="1674768"/>
          </a:xfrm>
        </p:grpSpPr>
        <p:sp>
          <p:nvSpPr>
            <p:cNvPr id="283" name="Rectangle: Rounded Corners 61">
              <a:extLst>
                <a:ext uri="{FF2B5EF4-FFF2-40B4-BE49-F238E27FC236}">
                  <a16:creationId xmlns:a16="http://schemas.microsoft.com/office/drawing/2014/main" id="{FCCBBC8B-5FEA-44C2-90EF-6AB66AC95F15}"/>
                </a:ext>
              </a:extLst>
            </p:cNvPr>
            <p:cNvSpPr/>
            <p:nvPr/>
          </p:nvSpPr>
          <p:spPr>
            <a:xfrm>
              <a:off x="1022640" y="2571527"/>
              <a:ext cx="3319272" cy="1529906"/>
            </a:xfrm>
            <a:prstGeom prst="roundRect">
              <a:avLst>
                <a:gd name="adj" fmla="val 15145"/>
              </a:avLst>
            </a:prstGeom>
            <a:blipFill dpi="0" rotWithShape="1">
              <a:blip r:embed="rId8">
                <a:extLst>
                  <a:ext uri="{28A0092B-C50C-407E-A947-70E740481C1C}">
                    <a14:useLocalDpi xmlns:a14="http://schemas.microsoft.com/office/drawing/2010/main" val="0"/>
                  </a:ext>
                </a:extLst>
              </a:blip>
              <a:srcRect/>
              <a:stretch>
                <a:fillRect/>
              </a:stretch>
            </a:blipFill>
            <a:ln w="28575" cap="flat" cmpd="sng" algn="ctr">
              <a:solidFill>
                <a:srgbClr val="EB1E42"/>
              </a:solidFill>
              <a:prstDash val="solid"/>
              <a:miter lim="800000"/>
            </a:ln>
            <a:effectLst/>
          </p:spPr>
          <p:txBody>
            <a:bodyPr bIns="137160" rtlCol="0" anchor="b"/>
            <a:lstStyle/>
            <a:p>
              <a:pPr algn="ctr">
                <a:defRPr/>
              </a:pPr>
              <a:endParaRPr lang="en-US" sz="1050" noProof="1">
                <a:solidFill>
                  <a:prstClr val="black">
                    <a:lumMod val="65000"/>
                    <a:lumOff val="35000"/>
                  </a:prstClr>
                </a:solidFill>
                <a:cs typeface="Arial"/>
                <a:sym typeface="Arial"/>
              </a:endParaRPr>
            </a:p>
          </p:txBody>
        </p:sp>
        <p:sp>
          <p:nvSpPr>
            <p:cNvPr id="284" name="Freeform: Shape 62">
              <a:extLst>
                <a:ext uri="{FF2B5EF4-FFF2-40B4-BE49-F238E27FC236}">
                  <a16:creationId xmlns:a16="http://schemas.microsoft.com/office/drawing/2014/main" id="{A62F0513-5CF0-411E-8B6E-58ABA123D379}"/>
                </a:ext>
              </a:extLst>
            </p:cNvPr>
            <p:cNvSpPr/>
            <p:nvPr/>
          </p:nvSpPr>
          <p:spPr>
            <a:xfrm>
              <a:off x="1149021" y="2426665"/>
              <a:ext cx="3046538" cy="331361"/>
            </a:xfrm>
            <a:custGeom>
              <a:avLst/>
              <a:gdLst>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37522 w 3046538"/>
                <a:gd name="connsiteY17" fmla="*/ 52906 h 331361"/>
                <a:gd name="connsiteX18" fmla="*/ 243006 w 3046538"/>
                <a:gd name="connsiteY18" fmla="*/ 44772 h 331361"/>
                <a:gd name="connsiteX19" fmla="*/ 351094 w 3046538"/>
                <a:gd name="connsiteY19" fmla="*/ 0 h 331361"/>
                <a:gd name="connsiteX0" fmla="*/ 351094 w 3046538"/>
                <a:gd name="connsiteY0" fmla="*/ 0 h 331361"/>
                <a:gd name="connsiteX1" fmla="*/ 2683799 w 3046538"/>
                <a:gd name="connsiteY1" fmla="*/ 0 h 331361"/>
                <a:gd name="connsiteX2" fmla="*/ 2743299 w 3046538"/>
                <a:gd name="connsiteY2" fmla="*/ 12013 h 331361"/>
                <a:gd name="connsiteX3" fmla="*/ 2743789 w 3046538"/>
                <a:gd name="connsiteY3" fmla="*/ 12343 h 331361"/>
                <a:gd name="connsiteX4" fmla="*/ 2747886 w 3046538"/>
                <a:gd name="connsiteY4" fmla="*/ 13140 h 331361"/>
                <a:gd name="connsiteX5" fmla="*/ 2802334 w 3046538"/>
                <a:gd name="connsiteY5" fmla="*/ 49296 h 331361"/>
                <a:gd name="connsiteX6" fmla="*/ 3046538 w 3046538"/>
                <a:gd name="connsiteY6" fmla="*/ 165680 h 331361"/>
                <a:gd name="connsiteX7" fmla="*/ 2802334 w 3046538"/>
                <a:gd name="connsiteY7" fmla="*/ 282064 h 331361"/>
                <a:gd name="connsiteX8" fmla="*/ 2747886 w 3046538"/>
                <a:gd name="connsiteY8" fmla="*/ 318220 h 331361"/>
                <a:gd name="connsiteX9" fmla="*/ 2743791 w 3046538"/>
                <a:gd name="connsiteY9" fmla="*/ 319017 h 331361"/>
                <a:gd name="connsiteX10" fmla="*/ 2743299 w 3046538"/>
                <a:gd name="connsiteY10" fmla="*/ 319349 h 331361"/>
                <a:gd name="connsiteX11" fmla="*/ 2683799 w 3046538"/>
                <a:gd name="connsiteY11" fmla="*/ 331361 h 331361"/>
                <a:gd name="connsiteX12" fmla="*/ 351094 w 3046538"/>
                <a:gd name="connsiteY12" fmla="*/ 331361 h 331361"/>
                <a:gd name="connsiteX13" fmla="*/ 243006 w 3046538"/>
                <a:gd name="connsiteY13" fmla="*/ 286589 h 331361"/>
                <a:gd name="connsiteX14" fmla="*/ 193128 w 3046538"/>
                <a:gd name="connsiteY14" fmla="*/ 241208 h 331361"/>
                <a:gd name="connsiteX15" fmla="*/ 0 w 3046538"/>
                <a:gd name="connsiteY15" fmla="*/ 165680 h 331361"/>
                <a:gd name="connsiteX16" fmla="*/ 193128 w 3046538"/>
                <a:gd name="connsiteY16" fmla="*/ 90152 h 331361"/>
                <a:gd name="connsiteX17" fmla="*/ 243006 w 3046538"/>
                <a:gd name="connsiteY17" fmla="*/ 44772 h 331361"/>
                <a:gd name="connsiteX18" fmla="*/ 351094 w 3046538"/>
                <a:gd name="connsiteY18" fmla="*/ 0 h 331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46538" h="331361">
                  <a:moveTo>
                    <a:pt x="351094" y="0"/>
                  </a:moveTo>
                  <a:lnTo>
                    <a:pt x="2683799" y="0"/>
                  </a:lnTo>
                  <a:cubicBezTo>
                    <a:pt x="2704905" y="0"/>
                    <a:pt x="2725011" y="4278"/>
                    <a:pt x="2743299" y="12013"/>
                  </a:cubicBezTo>
                  <a:lnTo>
                    <a:pt x="2743789" y="12343"/>
                  </a:lnTo>
                  <a:lnTo>
                    <a:pt x="2747886" y="13140"/>
                  </a:lnTo>
                  <a:cubicBezTo>
                    <a:pt x="2767699" y="21175"/>
                    <a:pt x="2786265" y="33227"/>
                    <a:pt x="2802334" y="49296"/>
                  </a:cubicBezTo>
                  <a:cubicBezTo>
                    <a:pt x="2862432" y="109394"/>
                    <a:pt x="2943833" y="148189"/>
                    <a:pt x="3046538" y="165680"/>
                  </a:cubicBezTo>
                  <a:cubicBezTo>
                    <a:pt x="2943833" y="183171"/>
                    <a:pt x="2862432" y="221967"/>
                    <a:pt x="2802334" y="282064"/>
                  </a:cubicBezTo>
                  <a:cubicBezTo>
                    <a:pt x="2786265" y="298133"/>
                    <a:pt x="2767699" y="310186"/>
                    <a:pt x="2747886" y="318220"/>
                  </a:cubicBezTo>
                  <a:lnTo>
                    <a:pt x="2743791" y="319017"/>
                  </a:lnTo>
                  <a:lnTo>
                    <a:pt x="2743299" y="319349"/>
                  </a:lnTo>
                  <a:cubicBezTo>
                    <a:pt x="2725011" y="327084"/>
                    <a:pt x="2704905" y="331361"/>
                    <a:pt x="2683799" y="331361"/>
                  </a:cubicBezTo>
                  <a:lnTo>
                    <a:pt x="351094" y="331361"/>
                  </a:lnTo>
                  <a:cubicBezTo>
                    <a:pt x="308883" y="331361"/>
                    <a:pt x="270668" y="314252"/>
                    <a:pt x="243006" y="286589"/>
                  </a:cubicBezTo>
                  <a:lnTo>
                    <a:pt x="193128" y="241208"/>
                  </a:lnTo>
                  <a:cubicBezTo>
                    <a:pt x="140512" y="204273"/>
                    <a:pt x="76137" y="179097"/>
                    <a:pt x="0" y="165680"/>
                  </a:cubicBezTo>
                  <a:cubicBezTo>
                    <a:pt x="76137" y="152264"/>
                    <a:pt x="140512" y="127088"/>
                    <a:pt x="193128" y="90152"/>
                  </a:cubicBezTo>
                  <a:lnTo>
                    <a:pt x="243006" y="44772"/>
                  </a:lnTo>
                  <a:cubicBezTo>
                    <a:pt x="270668" y="17110"/>
                    <a:pt x="308883" y="0"/>
                    <a:pt x="351094" y="0"/>
                  </a:cubicBezTo>
                  <a:close/>
                </a:path>
              </a:pathLst>
            </a:custGeom>
            <a:solidFill>
              <a:srgbClr val="EB1E42"/>
            </a:solidFill>
            <a:ln w="12700" cap="flat" cmpd="sng" algn="ctr">
              <a:noFill/>
              <a:prstDash val="solid"/>
              <a:miter lim="800000"/>
            </a:ln>
            <a:effectLst/>
          </p:spPr>
          <p:txBody>
            <a:bodyPr wrap="square" rtlCol="0" anchor="ctr">
              <a:noAutofit/>
            </a:bodyPr>
            <a:lstStyle/>
            <a:p>
              <a:pPr algn="ctr">
                <a:defRPr/>
              </a:pPr>
              <a:endParaRPr lang="en-US" sz="1350" b="1" dirty="0">
                <a:solidFill>
                  <a:prstClr val="white"/>
                </a:solidFill>
                <a:cs typeface="Arial"/>
                <a:sym typeface="Arial"/>
              </a:endParaRPr>
            </a:p>
          </p:txBody>
        </p:sp>
      </p:grpSp>
      <p:sp>
        <p:nvSpPr>
          <p:cNvPr id="285" name="TextBox 284">
            <a:extLst>
              <a:ext uri="{FF2B5EF4-FFF2-40B4-BE49-F238E27FC236}">
                <a16:creationId xmlns:a16="http://schemas.microsoft.com/office/drawing/2014/main" id="{958AE32B-05D6-4937-87DC-F09F06C949F0}"/>
              </a:ext>
            </a:extLst>
          </p:cNvPr>
          <p:cNvSpPr txBox="1"/>
          <p:nvPr/>
        </p:nvSpPr>
        <p:spPr>
          <a:xfrm>
            <a:off x="7054805" y="786042"/>
            <a:ext cx="2619420" cy="338554"/>
          </a:xfrm>
          <a:prstGeom prst="rect">
            <a:avLst/>
          </a:prstGeom>
          <a:noFill/>
        </p:spPr>
        <p:txBody>
          <a:bodyPr wrap="square" rtlCol="0">
            <a:spAutoFit/>
          </a:bodyPr>
          <a:lstStyle/>
          <a:p>
            <a:pPr algn="ctr">
              <a:buClr>
                <a:srgbClr val="000000"/>
              </a:buClr>
              <a:buFont typeface="Arial"/>
              <a:buNone/>
              <a:defRPr/>
            </a:pPr>
            <a:r>
              <a:rPr lang="en-US" sz="1600" kern="0">
                <a:solidFill>
                  <a:srgbClr val="F9F9F9"/>
                </a:solidFill>
                <a:latin typeface="FS Magistral Bold" panose="020B0804030204080304" pitchFamily="34" charset="0"/>
                <a:cs typeface="Arial"/>
                <a:sym typeface="Arial"/>
              </a:rPr>
              <a:t>Tổng thầu cơ điện</a:t>
            </a:r>
          </a:p>
        </p:txBody>
      </p:sp>
      <p:cxnSp>
        <p:nvCxnSpPr>
          <p:cNvPr id="286" name="Curved Connector 285"/>
          <p:cNvCxnSpPr>
            <a:stCxn id="280" idx="0"/>
            <a:endCxn id="255" idx="3"/>
          </p:cNvCxnSpPr>
          <p:nvPr/>
        </p:nvCxnSpPr>
        <p:spPr>
          <a:xfrm rot="16200000" flipV="1">
            <a:off x="4989406" y="2043140"/>
            <a:ext cx="1399866" cy="661716"/>
          </a:xfrm>
          <a:prstGeom prst="curved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Curved Connector 286"/>
          <p:cNvCxnSpPr>
            <a:stCxn id="280" idx="0"/>
            <a:endCxn id="283" idx="1"/>
          </p:cNvCxnSpPr>
          <p:nvPr/>
        </p:nvCxnSpPr>
        <p:spPr>
          <a:xfrm rot="5400000" flipH="1" flipV="1">
            <a:off x="5722676" y="1969832"/>
            <a:ext cx="1401621" cy="806579"/>
          </a:xfrm>
          <a:prstGeom prst="curved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801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marL="0" marR="0" lvl="0" indent="0" algn="l" defTabSz="1219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C0504D">
                    <a:lumMod val="75000"/>
                  </a:srgbClr>
                </a:solidFill>
                <a:effectLst/>
                <a:uLnTx/>
                <a:uFillTx/>
                <a:latin typeface="FS Magistral Bold" panose="020B0804030204080304" pitchFamily="34" charset="0"/>
                <a:ea typeface="+mn-ea"/>
                <a:cs typeface="+mn-cs"/>
              </a:rPr>
              <a:t>2.3. PHƯƠNG</a:t>
            </a:r>
            <a:r>
              <a:rPr kumimoji="0" lang="en-US" sz="2400" b="1" i="0" u="none" strike="noStrike" kern="1200" cap="none" spc="0" normalizeH="0" noProof="0">
                <a:ln>
                  <a:noFill/>
                </a:ln>
                <a:solidFill>
                  <a:srgbClr val="C0504D">
                    <a:lumMod val="75000"/>
                  </a:srgbClr>
                </a:solidFill>
                <a:effectLst/>
                <a:uLnTx/>
                <a:uFillTx/>
                <a:latin typeface="FS Magistral Bold" panose="020B0804030204080304" pitchFamily="34" charset="0"/>
                <a:ea typeface="+mn-ea"/>
                <a:cs typeface="+mn-cs"/>
              </a:rPr>
              <a:t> PHÁP VÀ CÁCH THỨC TIẾP CẬN </a:t>
            </a:r>
            <a:endParaRPr kumimoji="0" lang="vi-VN" sz="2400" b="1" i="0" u="none" strike="noStrike" kern="1200" cap="none" spc="0" normalizeH="0" baseline="0" noProof="0" dirty="0">
              <a:ln>
                <a:noFill/>
              </a:ln>
              <a:solidFill>
                <a:prstClr val="black">
                  <a:lumMod val="75000"/>
                  <a:lumOff val="25000"/>
                </a:prstClr>
              </a:solidFill>
              <a:effectLst/>
              <a:uLnTx/>
              <a:uFillTx/>
              <a:latin typeface="FS Magistral Bold" panose="020B0804030204080304" pitchFamily="34" charset="0"/>
              <a:ea typeface="+mn-ea"/>
              <a:cs typeface="+mn-cs"/>
            </a:endParaRPr>
          </a:p>
        </p:txBody>
      </p:sp>
      <p:cxnSp>
        <p:nvCxnSpPr>
          <p:cNvPr id="40" name="Straight Connector 39">
            <a:extLst>
              <a:ext uri="{FF2B5EF4-FFF2-40B4-BE49-F238E27FC236}">
                <a16:creationId xmlns:a16="http://schemas.microsoft.com/office/drawing/2014/main" id="{779CA0AF-A129-4916-A356-3BC59F5D20F6}"/>
              </a:ext>
            </a:extLst>
          </p:cNvPr>
          <p:cNvCxnSpPr>
            <a:cxnSpLocks/>
          </p:cNvCxnSpPr>
          <p:nvPr/>
        </p:nvCxnSpPr>
        <p:spPr>
          <a:xfrm>
            <a:off x="613944" y="482073"/>
            <a:ext cx="0" cy="35753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718171" y="551873"/>
            <a:ext cx="5555533" cy="370840"/>
          </a:xfrm>
          <a:prstGeom prst="rect">
            <a:avLst/>
          </a:prstGeom>
          <a:noFill/>
        </p:spPr>
        <p:txBody>
          <a:bodyPr wrap="square" rtlCol="0">
            <a:spAutoFit/>
          </a:bodyPr>
          <a:lstStyle/>
          <a:p>
            <a:r>
              <a:rPr lang="en-US" b="1">
                <a:latin typeface="FS Magistral Bold" panose="020B0804030204080304" pitchFamily="34" charset="0"/>
              </a:rPr>
              <a:t>TIẾP CẬN TRỰC TIẾP</a:t>
            </a:r>
          </a:p>
        </p:txBody>
      </p:sp>
      <p:sp>
        <p:nvSpPr>
          <p:cNvPr id="84" name="Shape">
            <a:extLst>
              <a:ext uri="{FF2B5EF4-FFF2-40B4-BE49-F238E27FC236}">
                <a16:creationId xmlns:a16="http://schemas.microsoft.com/office/drawing/2014/main" id="{DE03D917-2534-A140-A38F-D4C33FFE4E80}"/>
              </a:ext>
            </a:extLst>
          </p:cNvPr>
          <p:cNvSpPr/>
          <p:nvPr/>
        </p:nvSpPr>
        <p:spPr>
          <a:xfrm>
            <a:off x="3178647" y="1492756"/>
            <a:ext cx="2731701" cy="444029"/>
          </a:xfrm>
          <a:custGeom>
            <a:avLst/>
            <a:gdLst/>
            <a:ahLst/>
            <a:cxnLst>
              <a:cxn ang="0">
                <a:pos x="wd2" y="hd2"/>
              </a:cxn>
              <a:cxn ang="5400000">
                <a:pos x="wd2" y="hd2"/>
              </a:cxn>
              <a:cxn ang="10800000">
                <a:pos x="wd2" y="hd2"/>
              </a:cxn>
              <a:cxn ang="16200000">
                <a:pos x="wd2" y="hd2"/>
              </a:cxn>
            </a:cxnLst>
            <a:rect l="0" t="0" r="r" b="b"/>
            <a:pathLst>
              <a:path w="21600" h="21600" extrusionOk="0">
                <a:moveTo>
                  <a:pt x="18764" y="21600"/>
                </a:moveTo>
                <a:lnTo>
                  <a:pt x="2836" y="21600"/>
                </a:lnTo>
                <a:cubicBezTo>
                  <a:pt x="1271" y="21600"/>
                  <a:pt x="0" y="16761"/>
                  <a:pt x="0" y="10800"/>
                </a:cubicBezTo>
                <a:lnTo>
                  <a:pt x="0" y="10800"/>
                </a:lnTo>
                <a:cubicBezTo>
                  <a:pt x="0" y="4839"/>
                  <a:pt x="1271" y="0"/>
                  <a:pt x="2836" y="0"/>
                </a:cubicBezTo>
                <a:lnTo>
                  <a:pt x="18764" y="0"/>
                </a:lnTo>
                <a:cubicBezTo>
                  <a:pt x="20329" y="0"/>
                  <a:pt x="21600" y="4839"/>
                  <a:pt x="21600" y="10800"/>
                </a:cubicBezTo>
                <a:lnTo>
                  <a:pt x="21600" y="10800"/>
                </a:lnTo>
                <a:cubicBezTo>
                  <a:pt x="21600" y="16831"/>
                  <a:pt x="20329" y="21600"/>
                  <a:pt x="18764" y="21600"/>
                </a:cubicBezTo>
                <a:close/>
              </a:path>
            </a:pathLst>
          </a:custGeom>
          <a:solidFill>
            <a:srgbClr val="FFCC4C"/>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A" sz="1400" b="1" i="0" u="none" strike="noStrike" kern="0" cap="none" spc="0" normalizeH="0" baseline="0" noProof="0" dirty="0">
              <a:ln>
                <a:noFill/>
              </a:ln>
              <a:solidFill>
                <a:prstClr val="black"/>
              </a:solidFill>
              <a:effectLst/>
              <a:uLnTx/>
              <a:uFillTx/>
            </a:endParaRPr>
          </a:p>
        </p:txBody>
      </p:sp>
      <p:sp>
        <p:nvSpPr>
          <p:cNvPr id="85" name="Shape">
            <a:extLst>
              <a:ext uri="{FF2B5EF4-FFF2-40B4-BE49-F238E27FC236}">
                <a16:creationId xmlns:a16="http://schemas.microsoft.com/office/drawing/2014/main" id="{B6D386DB-4458-F24D-A200-70E111CFAB7D}"/>
              </a:ext>
            </a:extLst>
          </p:cNvPr>
          <p:cNvSpPr/>
          <p:nvPr/>
        </p:nvSpPr>
        <p:spPr>
          <a:xfrm>
            <a:off x="3220852" y="3013734"/>
            <a:ext cx="2731700" cy="700306"/>
          </a:xfrm>
          <a:custGeom>
            <a:avLst/>
            <a:gdLst/>
            <a:ahLst/>
            <a:cxnLst>
              <a:cxn ang="0">
                <a:pos x="wd2" y="hd2"/>
              </a:cxn>
              <a:cxn ang="5400000">
                <a:pos x="wd2" y="hd2"/>
              </a:cxn>
              <a:cxn ang="10800000">
                <a:pos x="wd2" y="hd2"/>
              </a:cxn>
              <a:cxn ang="16200000">
                <a:pos x="wd2" y="hd2"/>
              </a:cxn>
            </a:cxnLst>
            <a:rect l="0" t="0" r="r" b="b"/>
            <a:pathLst>
              <a:path w="21600" h="21600" extrusionOk="0">
                <a:moveTo>
                  <a:pt x="18764" y="21600"/>
                </a:moveTo>
                <a:lnTo>
                  <a:pt x="2836" y="21600"/>
                </a:lnTo>
                <a:cubicBezTo>
                  <a:pt x="1271" y="21600"/>
                  <a:pt x="0" y="16761"/>
                  <a:pt x="0" y="10800"/>
                </a:cubicBezTo>
                <a:lnTo>
                  <a:pt x="0" y="10800"/>
                </a:lnTo>
                <a:cubicBezTo>
                  <a:pt x="0" y="4839"/>
                  <a:pt x="1271" y="0"/>
                  <a:pt x="2836" y="0"/>
                </a:cubicBezTo>
                <a:lnTo>
                  <a:pt x="18764" y="0"/>
                </a:lnTo>
                <a:cubicBezTo>
                  <a:pt x="20329" y="0"/>
                  <a:pt x="21600" y="4839"/>
                  <a:pt x="21600" y="10800"/>
                </a:cubicBezTo>
                <a:lnTo>
                  <a:pt x="21600" y="10800"/>
                </a:lnTo>
                <a:cubicBezTo>
                  <a:pt x="21600" y="16831"/>
                  <a:pt x="20329" y="21600"/>
                  <a:pt x="18764" y="21600"/>
                </a:cubicBezTo>
                <a:close/>
              </a:path>
            </a:pathLst>
          </a:custGeom>
          <a:solidFill>
            <a:srgbClr val="C13018"/>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A" sz="1400" b="1" i="0" u="none" strike="noStrike" kern="0" cap="none" spc="0" normalizeH="0" baseline="0" noProof="0" dirty="0">
              <a:ln>
                <a:noFill/>
              </a:ln>
              <a:solidFill>
                <a:prstClr val="white"/>
              </a:solidFill>
              <a:effectLst/>
              <a:uLnTx/>
              <a:uFillTx/>
            </a:endParaRPr>
          </a:p>
        </p:txBody>
      </p:sp>
      <p:sp>
        <p:nvSpPr>
          <p:cNvPr id="86" name="Shape">
            <a:extLst>
              <a:ext uri="{FF2B5EF4-FFF2-40B4-BE49-F238E27FC236}">
                <a16:creationId xmlns:a16="http://schemas.microsoft.com/office/drawing/2014/main" id="{CC3323BE-087C-E245-895A-D0AD215C54DD}"/>
              </a:ext>
            </a:extLst>
          </p:cNvPr>
          <p:cNvSpPr/>
          <p:nvPr/>
        </p:nvSpPr>
        <p:spPr>
          <a:xfrm>
            <a:off x="3178648" y="4750898"/>
            <a:ext cx="2731700" cy="444029"/>
          </a:xfrm>
          <a:custGeom>
            <a:avLst/>
            <a:gdLst/>
            <a:ahLst/>
            <a:cxnLst>
              <a:cxn ang="0">
                <a:pos x="wd2" y="hd2"/>
              </a:cxn>
              <a:cxn ang="5400000">
                <a:pos x="wd2" y="hd2"/>
              </a:cxn>
              <a:cxn ang="10800000">
                <a:pos x="wd2" y="hd2"/>
              </a:cxn>
              <a:cxn ang="16200000">
                <a:pos x="wd2" y="hd2"/>
              </a:cxn>
            </a:cxnLst>
            <a:rect l="0" t="0" r="r" b="b"/>
            <a:pathLst>
              <a:path w="21600" h="21600" extrusionOk="0">
                <a:moveTo>
                  <a:pt x="18764" y="21600"/>
                </a:moveTo>
                <a:lnTo>
                  <a:pt x="2836" y="21600"/>
                </a:lnTo>
                <a:cubicBezTo>
                  <a:pt x="1271" y="21600"/>
                  <a:pt x="0" y="16761"/>
                  <a:pt x="0" y="10800"/>
                </a:cubicBezTo>
                <a:lnTo>
                  <a:pt x="0" y="10800"/>
                </a:lnTo>
                <a:cubicBezTo>
                  <a:pt x="0" y="4839"/>
                  <a:pt x="1271" y="0"/>
                  <a:pt x="2836" y="0"/>
                </a:cubicBezTo>
                <a:lnTo>
                  <a:pt x="18764" y="0"/>
                </a:lnTo>
                <a:cubicBezTo>
                  <a:pt x="20329" y="0"/>
                  <a:pt x="21600" y="4839"/>
                  <a:pt x="21600" y="10800"/>
                </a:cubicBezTo>
                <a:lnTo>
                  <a:pt x="21600" y="10800"/>
                </a:lnTo>
                <a:cubicBezTo>
                  <a:pt x="21600" y="16831"/>
                  <a:pt x="20329" y="21600"/>
                  <a:pt x="18764" y="21600"/>
                </a:cubicBezTo>
                <a:close/>
              </a:path>
            </a:pathLst>
          </a:custGeom>
          <a:solidFill>
            <a:srgbClr val="D3D3D3">
              <a:lumMod val="90000"/>
            </a:srgbClr>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A" sz="1400" b="1" i="0" u="none" strike="noStrike" kern="0" cap="none" spc="0" normalizeH="0" baseline="0" noProof="0" dirty="0">
              <a:ln>
                <a:noFill/>
              </a:ln>
              <a:solidFill>
                <a:prstClr val="black"/>
              </a:solidFill>
              <a:effectLst/>
              <a:uLnTx/>
              <a:uFillTx/>
            </a:endParaRPr>
          </a:p>
        </p:txBody>
      </p:sp>
      <p:grpSp>
        <p:nvGrpSpPr>
          <p:cNvPr id="10" name="Group 9"/>
          <p:cNvGrpSpPr/>
          <p:nvPr/>
        </p:nvGrpSpPr>
        <p:grpSpPr>
          <a:xfrm>
            <a:off x="156222" y="2418304"/>
            <a:ext cx="1950549" cy="1902986"/>
            <a:chOff x="93504" y="2026169"/>
            <a:chExt cx="2623816" cy="2623816"/>
          </a:xfrm>
        </p:grpSpPr>
        <p:sp>
          <p:nvSpPr>
            <p:cNvPr id="90" name="Shape">
              <a:extLst>
                <a:ext uri="{FF2B5EF4-FFF2-40B4-BE49-F238E27FC236}">
                  <a16:creationId xmlns:a16="http://schemas.microsoft.com/office/drawing/2014/main" id="{3E790A31-091C-A942-9A9E-85DC86EE0187}"/>
                </a:ext>
              </a:extLst>
            </p:cNvPr>
            <p:cNvSpPr/>
            <p:nvPr/>
          </p:nvSpPr>
          <p:spPr>
            <a:xfrm>
              <a:off x="93504" y="2026169"/>
              <a:ext cx="2623816" cy="262381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42" y="21600"/>
                    <a:pt x="0" y="16758"/>
                    <a:pt x="0" y="10800"/>
                  </a:cubicBezTo>
                  <a:cubicBezTo>
                    <a:pt x="0" y="4842"/>
                    <a:pt x="4842" y="0"/>
                    <a:pt x="10800" y="0"/>
                  </a:cubicBezTo>
                  <a:cubicBezTo>
                    <a:pt x="16758" y="0"/>
                    <a:pt x="21600" y="4842"/>
                    <a:pt x="21600" y="10800"/>
                  </a:cubicBezTo>
                  <a:cubicBezTo>
                    <a:pt x="21600" y="16758"/>
                    <a:pt x="16758" y="21600"/>
                    <a:pt x="10800" y="21600"/>
                  </a:cubicBezTo>
                  <a:close/>
                  <a:moveTo>
                    <a:pt x="10800" y="1412"/>
                  </a:moveTo>
                  <a:cubicBezTo>
                    <a:pt x="5625" y="1412"/>
                    <a:pt x="1424" y="5614"/>
                    <a:pt x="1424" y="10788"/>
                  </a:cubicBezTo>
                  <a:cubicBezTo>
                    <a:pt x="1424" y="15963"/>
                    <a:pt x="5625" y="20164"/>
                    <a:pt x="10800" y="20164"/>
                  </a:cubicBezTo>
                  <a:cubicBezTo>
                    <a:pt x="15975" y="20164"/>
                    <a:pt x="20176" y="15963"/>
                    <a:pt x="20176" y="10788"/>
                  </a:cubicBezTo>
                  <a:cubicBezTo>
                    <a:pt x="20176" y="5614"/>
                    <a:pt x="15975" y="1412"/>
                    <a:pt x="10800" y="1412"/>
                  </a:cubicBezTo>
                  <a:close/>
                </a:path>
              </a:pathLst>
            </a:custGeom>
            <a:solidFill>
              <a:srgbClr val="063951"/>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sp>
          <p:nvSpPr>
            <p:cNvPr id="91" name="Circle">
              <a:extLst>
                <a:ext uri="{FF2B5EF4-FFF2-40B4-BE49-F238E27FC236}">
                  <a16:creationId xmlns:a16="http://schemas.microsoft.com/office/drawing/2014/main" id="{DDC8DF1D-5C40-264A-8734-CFF555E63E50}"/>
                </a:ext>
              </a:extLst>
            </p:cNvPr>
            <p:cNvSpPr/>
            <p:nvPr/>
          </p:nvSpPr>
          <p:spPr>
            <a:xfrm>
              <a:off x="381837" y="2314501"/>
              <a:ext cx="2064795" cy="2064799"/>
            </a:xfrm>
            <a:prstGeom prst="ellipse">
              <a:avLst/>
            </a:prstGeom>
            <a:solidFill>
              <a:srgbClr val="F1F1F2"/>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grpSp>
      <p:sp>
        <p:nvSpPr>
          <p:cNvPr id="92" name="TextBox 91">
            <a:extLst>
              <a:ext uri="{FF2B5EF4-FFF2-40B4-BE49-F238E27FC236}">
                <a16:creationId xmlns:a16="http://schemas.microsoft.com/office/drawing/2014/main" id="{92E2D954-744A-9942-ACA4-97ABAD415A0D}"/>
              </a:ext>
            </a:extLst>
          </p:cNvPr>
          <p:cNvSpPr txBox="1"/>
          <p:nvPr/>
        </p:nvSpPr>
        <p:spPr>
          <a:xfrm>
            <a:off x="409740" y="3083906"/>
            <a:ext cx="1456630" cy="584775"/>
          </a:xfrm>
          <a:prstGeom prst="rect">
            <a:avLst/>
          </a:prstGeom>
          <a:noFill/>
        </p:spPr>
        <p:txBody>
          <a:bodyPr wrap="square" lIns="0" rIns="0" rtlCol="0" anchor="b">
            <a:spAutoFit/>
          </a:bodyPr>
          <a:lstStyle/>
          <a:p>
            <a:pPr lvl="0" algn="ctr"/>
            <a:r>
              <a:rPr lang="en-US" sz="1600" b="1" kern="0" noProof="1">
                <a:solidFill>
                  <a:prstClr val="black"/>
                </a:solidFill>
                <a:latin typeface="Cambria" panose="02040503050406030204" pitchFamily="18" charset="0"/>
                <a:ea typeface="Cambria" panose="02040503050406030204" pitchFamily="18" charset="0"/>
              </a:rPr>
              <a:t>THỰC HIỆN TIẾP XÚC</a:t>
            </a:r>
            <a:endParaRPr kumimoji="0" lang="en-US" sz="1600" b="1" i="0" u="none" strike="noStrike" kern="0" cap="none" spc="0" normalizeH="0" baseline="0" noProof="1">
              <a:ln>
                <a:noFill/>
              </a:ln>
              <a:solidFill>
                <a:prstClr val="black"/>
              </a:solidFill>
              <a:effectLst/>
              <a:uLnTx/>
              <a:uFillTx/>
              <a:latin typeface="Cambria" panose="02040503050406030204" pitchFamily="18" charset="0"/>
              <a:ea typeface="Cambria" panose="02040503050406030204" pitchFamily="18" charset="0"/>
            </a:endParaRPr>
          </a:p>
        </p:txBody>
      </p:sp>
      <p:grpSp>
        <p:nvGrpSpPr>
          <p:cNvPr id="29" name="Group 28"/>
          <p:cNvGrpSpPr/>
          <p:nvPr/>
        </p:nvGrpSpPr>
        <p:grpSpPr>
          <a:xfrm>
            <a:off x="1826379" y="1651338"/>
            <a:ext cx="1607446" cy="1101763"/>
            <a:chOff x="1826379" y="1651338"/>
            <a:chExt cx="1607446" cy="1101763"/>
          </a:xfrm>
        </p:grpSpPr>
        <p:sp>
          <p:nvSpPr>
            <p:cNvPr id="87" name="Shape">
              <a:extLst>
                <a:ext uri="{FF2B5EF4-FFF2-40B4-BE49-F238E27FC236}">
                  <a16:creationId xmlns:a16="http://schemas.microsoft.com/office/drawing/2014/main" id="{A222D2C3-399A-4D4F-8F3B-448B44440E74}"/>
                </a:ext>
              </a:extLst>
            </p:cNvPr>
            <p:cNvSpPr/>
            <p:nvPr/>
          </p:nvSpPr>
          <p:spPr>
            <a:xfrm>
              <a:off x="2169489" y="1651338"/>
              <a:ext cx="1264336" cy="766966"/>
            </a:xfrm>
            <a:custGeom>
              <a:avLst/>
              <a:gdLst/>
              <a:ahLst/>
              <a:cxnLst>
                <a:cxn ang="0">
                  <a:pos x="wd2" y="hd2"/>
                </a:cxn>
                <a:cxn ang="5400000">
                  <a:pos x="wd2" y="hd2"/>
                </a:cxn>
                <a:cxn ang="10800000">
                  <a:pos x="wd2" y="hd2"/>
                </a:cxn>
                <a:cxn ang="16200000">
                  <a:pos x="wd2" y="hd2"/>
                </a:cxn>
              </a:cxnLst>
              <a:rect l="0" t="0" r="r" b="b"/>
              <a:pathLst>
                <a:path w="21600" h="21600" extrusionOk="0">
                  <a:moveTo>
                    <a:pt x="12019" y="2964"/>
                  </a:moveTo>
                  <a:lnTo>
                    <a:pt x="19088" y="2964"/>
                  </a:lnTo>
                  <a:cubicBezTo>
                    <a:pt x="19285" y="3776"/>
                    <a:pt x="19753" y="4304"/>
                    <a:pt x="20295" y="4304"/>
                  </a:cubicBezTo>
                  <a:cubicBezTo>
                    <a:pt x="21034" y="4304"/>
                    <a:pt x="21600" y="3329"/>
                    <a:pt x="21600" y="2152"/>
                  </a:cubicBezTo>
                  <a:cubicBezTo>
                    <a:pt x="21600" y="934"/>
                    <a:pt x="21009" y="0"/>
                    <a:pt x="20295" y="0"/>
                  </a:cubicBezTo>
                  <a:cubicBezTo>
                    <a:pt x="19753" y="0"/>
                    <a:pt x="19260" y="568"/>
                    <a:pt x="19063" y="1340"/>
                  </a:cubicBezTo>
                  <a:lnTo>
                    <a:pt x="11600" y="1340"/>
                  </a:lnTo>
                  <a:lnTo>
                    <a:pt x="0" y="20463"/>
                  </a:lnTo>
                  <a:lnTo>
                    <a:pt x="690" y="21600"/>
                  </a:lnTo>
                  <a:lnTo>
                    <a:pt x="12019" y="2964"/>
                  </a:lnTo>
                  <a:close/>
                </a:path>
              </a:pathLst>
            </a:custGeom>
            <a:solidFill>
              <a:srgbClr val="063951"/>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cxnSp>
          <p:nvCxnSpPr>
            <p:cNvPr id="13" name="Straight Connector 12"/>
            <p:cNvCxnSpPr/>
            <p:nvPr/>
          </p:nvCxnSpPr>
          <p:spPr>
            <a:xfrm flipH="1">
              <a:off x="1826379" y="2377840"/>
              <a:ext cx="375261" cy="375261"/>
            </a:xfrm>
            <a:prstGeom prst="line">
              <a:avLst/>
            </a:prstGeom>
            <a:ln w="57150">
              <a:solidFill>
                <a:srgbClr val="063951"/>
              </a:solidFill>
            </a:ln>
          </p:spPr>
          <p:style>
            <a:lnRef idx="1">
              <a:schemeClr val="accent1"/>
            </a:lnRef>
            <a:fillRef idx="0">
              <a:schemeClr val="accent1"/>
            </a:fillRef>
            <a:effectRef idx="0">
              <a:schemeClr val="accent1"/>
            </a:effectRef>
            <a:fontRef idx="minor">
              <a:schemeClr val="tx1"/>
            </a:fontRef>
          </p:style>
        </p:cxnSp>
      </p:grpSp>
      <p:grpSp>
        <p:nvGrpSpPr>
          <p:cNvPr id="30" name="Group 29"/>
          <p:cNvGrpSpPr/>
          <p:nvPr/>
        </p:nvGrpSpPr>
        <p:grpSpPr>
          <a:xfrm>
            <a:off x="2056385" y="3265993"/>
            <a:ext cx="1378925" cy="152819"/>
            <a:chOff x="2056385" y="3265993"/>
            <a:chExt cx="1378925" cy="152819"/>
          </a:xfrm>
        </p:grpSpPr>
        <p:sp>
          <p:nvSpPr>
            <p:cNvPr id="89" name="Shape">
              <a:extLst>
                <a:ext uri="{FF2B5EF4-FFF2-40B4-BE49-F238E27FC236}">
                  <a16:creationId xmlns:a16="http://schemas.microsoft.com/office/drawing/2014/main" id="{CB246127-49C5-0845-A80E-1C3BA2F9C9B8}"/>
                </a:ext>
              </a:extLst>
            </p:cNvPr>
            <p:cNvSpPr/>
            <p:nvPr/>
          </p:nvSpPr>
          <p:spPr>
            <a:xfrm>
              <a:off x="2630819" y="3265993"/>
              <a:ext cx="804491" cy="152819"/>
            </a:xfrm>
            <a:custGeom>
              <a:avLst/>
              <a:gdLst/>
              <a:ahLst/>
              <a:cxnLst>
                <a:cxn ang="0">
                  <a:pos x="wd2" y="hd2"/>
                </a:cxn>
                <a:cxn ang="5400000">
                  <a:pos x="wd2" y="hd2"/>
                </a:cxn>
                <a:cxn ang="10800000">
                  <a:pos x="wd2" y="hd2"/>
                </a:cxn>
                <a:cxn ang="16200000">
                  <a:pos x="wd2" y="hd2"/>
                </a:cxn>
              </a:cxnLst>
              <a:rect l="0" t="0" r="r" b="b"/>
              <a:pathLst>
                <a:path w="21563" h="21600" extrusionOk="0">
                  <a:moveTo>
                    <a:pt x="19552" y="0"/>
                  </a:moveTo>
                  <a:cubicBezTo>
                    <a:pt x="18702" y="0"/>
                    <a:pt x="17929" y="2853"/>
                    <a:pt x="17620" y="6725"/>
                  </a:cubicBezTo>
                  <a:lnTo>
                    <a:pt x="0" y="6725"/>
                  </a:lnTo>
                  <a:lnTo>
                    <a:pt x="0" y="14875"/>
                  </a:lnTo>
                  <a:lnTo>
                    <a:pt x="17620" y="14875"/>
                  </a:lnTo>
                  <a:cubicBezTo>
                    <a:pt x="17929" y="18951"/>
                    <a:pt x="18663" y="21600"/>
                    <a:pt x="19513" y="21600"/>
                  </a:cubicBezTo>
                  <a:cubicBezTo>
                    <a:pt x="20673" y="21600"/>
                    <a:pt x="21561" y="16710"/>
                    <a:pt x="21561" y="10800"/>
                  </a:cubicBezTo>
                  <a:cubicBezTo>
                    <a:pt x="21600" y="4890"/>
                    <a:pt x="20673" y="0"/>
                    <a:pt x="19552" y="0"/>
                  </a:cubicBezTo>
                  <a:close/>
                </a:path>
              </a:pathLst>
            </a:custGeom>
            <a:solidFill>
              <a:srgbClr val="063951"/>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cxnSp>
          <p:nvCxnSpPr>
            <p:cNvPr id="102" name="Straight Connector 101"/>
            <p:cNvCxnSpPr/>
            <p:nvPr/>
          </p:nvCxnSpPr>
          <p:spPr>
            <a:xfrm flipH="1">
              <a:off x="2056385" y="3342402"/>
              <a:ext cx="677333" cy="0"/>
            </a:xfrm>
            <a:prstGeom prst="line">
              <a:avLst/>
            </a:prstGeom>
            <a:ln w="60325">
              <a:solidFill>
                <a:srgbClr val="063951"/>
              </a:solidFill>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853328" y="3950789"/>
            <a:ext cx="1579223" cy="1076912"/>
            <a:chOff x="1853328" y="3950789"/>
            <a:chExt cx="1579223" cy="1076912"/>
          </a:xfrm>
        </p:grpSpPr>
        <p:sp>
          <p:nvSpPr>
            <p:cNvPr id="88" name="Shape">
              <a:extLst>
                <a:ext uri="{FF2B5EF4-FFF2-40B4-BE49-F238E27FC236}">
                  <a16:creationId xmlns:a16="http://schemas.microsoft.com/office/drawing/2014/main" id="{5F517E53-0DB8-EB46-887F-3F892E558CBB}"/>
                </a:ext>
              </a:extLst>
            </p:cNvPr>
            <p:cNvSpPr/>
            <p:nvPr/>
          </p:nvSpPr>
          <p:spPr>
            <a:xfrm>
              <a:off x="2169489" y="4260735"/>
              <a:ext cx="1263062" cy="766966"/>
            </a:xfrm>
            <a:custGeom>
              <a:avLst/>
              <a:gdLst/>
              <a:ahLst/>
              <a:cxnLst>
                <a:cxn ang="0">
                  <a:pos x="wd2" y="hd2"/>
                </a:cxn>
                <a:cxn ang="5400000">
                  <a:pos x="wd2" y="hd2"/>
                </a:cxn>
                <a:cxn ang="10800000">
                  <a:pos x="wd2" y="hd2"/>
                </a:cxn>
                <a:cxn ang="16200000">
                  <a:pos x="wd2" y="hd2"/>
                </a:cxn>
              </a:cxnLst>
              <a:rect l="0" t="0" r="r" b="b"/>
              <a:pathLst>
                <a:path w="21554" h="21600" extrusionOk="0">
                  <a:moveTo>
                    <a:pt x="20296" y="17337"/>
                  </a:moveTo>
                  <a:cubicBezTo>
                    <a:pt x="19755" y="17337"/>
                    <a:pt x="19263" y="17905"/>
                    <a:pt x="19066" y="18677"/>
                  </a:cubicBezTo>
                  <a:lnTo>
                    <a:pt x="12005" y="18677"/>
                  </a:lnTo>
                  <a:lnTo>
                    <a:pt x="689" y="0"/>
                  </a:lnTo>
                  <a:lnTo>
                    <a:pt x="0" y="1137"/>
                  </a:lnTo>
                  <a:lnTo>
                    <a:pt x="11587" y="20260"/>
                  </a:lnTo>
                  <a:lnTo>
                    <a:pt x="19041" y="20260"/>
                  </a:lnTo>
                  <a:cubicBezTo>
                    <a:pt x="19238" y="21072"/>
                    <a:pt x="19706" y="21600"/>
                    <a:pt x="20247" y="21600"/>
                  </a:cubicBezTo>
                  <a:cubicBezTo>
                    <a:pt x="20985" y="21600"/>
                    <a:pt x="21551" y="20626"/>
                    <a:pt x="21551" y="19448"/>
                  </a:cubicBezTo>
                  <a:cubicBezTo>
                    <a:pt x="21600" y="18311"/>
                    <a:pt x="21010" y="17337"/>
                    <a:pt x="20296" y="17337"/>
                  </a:cubicBezTo>
                  <a:close/>
                </a:path>
              </a:pathLst>
            </a:custGeom>
            <a:solidFill>
              <a:srgbClr val="063951"/>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cxnSp>
          <p:nvCxnSpPr>
            <p:cNvPr id="106" name="Straight Connector 105"/>
            <p:cNvCxnSpPr/>
            <p:nvPr/>
          </p:nvCxnSpPr>
          <p:spPr>
            <a:xfrm>
              <a:off x="1853328" y="3950789"/>
              <a:ext cx="385988" cy="381008"/>
            </a:xfrm>
            <a:prstGeom prst="line">
              <a:avLst/>
            </a:prstGeom>
            <a:ln w="57150">
              <a:solidFill>
                <a:srgbClr val="06395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3505263" y="1521315"/>
            <a:ext cx="2394064" cy="338554"/>
          </a:xfrm>
          <a:prstGeom prst="rect">
            <a:avLst/>
          </a:prstGeom>
          <a:noFill/>
        </p:spPr>
        <p:txBody>
          <a:bodyPr wrap="square" rtlCol="0">
            <a:spAutoFit/>
          </a:bodyPr>
          <a:lstStyle/>
          <a:p>
            <a:r>
              <a:rPr lang="en-US" sz="1600">
                <a:latin typeface="Cambria" panose="02040503050406030204" pitchFamily="18" charset="0"/>
                <a:ea typeface="Cambria" panose="02040503050406030204" pitchFamily="18" charset="0"/>
              </a:rPr>
              <a:t>KH có nhu cầu xây dựng</a:t>
            </a:r>
          </a:p>
        </p:txBody>
      </p:sp>
      <p:sp>
        <p:nvSpPr>
          <p:cNvPr id="111" name="TextBox 110"/>
          <p:cNvSpPr txBox="1"/>
          <p:nvPr/>
        </p:nvSpPr>
        <p:spPr>
          <a:xfrm>
            <a:off x="3441933" y="3035528"/>
            <a:ext cx="2394064" cy="584775"/>
          </a:xfrm>
          <a:prstGeom prst="rect">
            <a:avLst/>
          </a:prstGeom>
          <a:noFill/>
        </p:spPr>
        <p:txBody>
          <a:bodyPr wrap="square" rtlCol="0">
            <a:spAutoFit/>
          </a:bodyPr>
          <a:lstStyle/>
          <a:p>
            <a:r>
              <a:rPr lang="en-US" sz="1600">
                <a:solidFill>
                  <a:schemeClr val="bg1"/>
                </a:solidFill>
                <a:latin typeface="Cambria" panose="02040503050406030204" pitchFamily="18" charset="0"/>
                <a:ea typeface="Cambria" panose="02040503050406030204" pitchFamily="18" charset="0"/>
              </a:rPr>
              <a:t>KH Tổng Thầu XD/Doanh nghiệp SX/Sở ban ngành</a:t>
            </a:r>
          </a:p>
        </p:txBody>
      </p:sp>
      <p:sp>
        <p:nvSpPr>
          <p:cNvPr id="112" name="TextBox 111"/>
          <p:cNvSpPr txBox="1"/>
          <p:nvPr/>
        </p:nvSpPr>
        <p:spPr>
          <a:xfrm>
            <a:off x="3505263" y="4795488"/>
            <a:ext cx="2394064" cy="338554"/>
          </a:xfrm>
          <a:prstGeom prst="rect">
            <a:avLst/>
          </a:prstGeom>
          <a:noFill/>
        </p:spPr>
        <p:txBody>
          <a:bodyPr wrap="square" rtlCol="0">
            <a:spAutoFit/>
          </a:bodyPr>
          <a:lstStyle/>
          <a:p>
            <a:r>
              <a:rPr lang="en-US" sz="1600">
                <a:latin typeface="Cambria" panose="02040503050406030204" pitchFamily="18" charset="0"/>
                <a:ea typeface="Cambria" panose="02040503050406030204" pitchFamily="18" charset="0"/>
              </a:rPr>
              <a:t>CĐT cũ/ Đối tác VCC </a:t>
            </a:r>
          </a:p>
        </p:txBody>
      </p:sp>
      <p:sp>
        <p:nvSpPr>
          <p:cNvPr id="121" name="Rectangle: Rounded Corners 15">
            <a:extLst>
              <a:ext uri="{FF2B5EF4-FFF2-40B4-BE49-F238E27FC236}">
                <a16:creationId xmlns:a16="http://schemas.microsoft.com/office/drawing/2014/main" id="{B9E3BF58-0C41-8F7F-D33C-59AA8CF581B7}"/>
              </a:ext>
            </a:extLst>
          </p:cNvPr>
          <p:cNvSpPr/>
          <p:nvPr/>
        </p:nvSpPr>
        <p:spPr>
          <a:xfrm>
            <a:off x="6620919" y="1371004"/>
            <a:ext cx="5100025" cy="6542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cùng</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các</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TT XD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để</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kiện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toàn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hệ</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sinh</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thái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sản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phẩm</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có</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công</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trình</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xây</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dựng</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có</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dự</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án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Cơ</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điện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cùng</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a:t>
            </a:r>
          </a:p>
        </p:txBody>
      </p:sp>
      <p:sp>
        <p:nvSpPr>
          <p:cNvPr id="122" name="Circle">
            <a:extLst>
              <a:ext uri="{FF2B5EF4-FFF2-40B4-BE49-F238E27FC236}">
                <a16:creationId xmlns:a16="http://schemas.microsoft.com/office/drawing/2014/main" id="{E414C7A9-B230-2D4A-B4EC-C72841390F1D}"/>
              </a:ext>
            </a:extLst>
          </p:cNvPr>
          <p:cNvSpPr/>
          <p:nvPr/>
        </p:nvSpPr>
        <p:spPr>
          <a:xfrm>
            <a:off x="6387375" y="1532010"/>
            <a:ext cx="317164" cy="317164"/>
          </a:xfrm>
          <a:prstGeom prst="ellipse">
            <a:avLst/>
          </a:prstGeom>
          <a:solidFill>
            <a:srgbClr val="FFCC4C"/>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cxnSp>
        <p:nvCxnSpPr>
          <p:cNvPr id="123" name="Straight Connector 122"/>
          <p:cNvCxnSpPr/>
          <p:nvPr/>
        </p:nvCxnSpPr>
        <p:spPr>
          <a:xfrm>
            <a:off x="5899327" y="1690592"/>
            <a:ext cx="646630" cy="0"/>
          </a:xfrm>
          <a:prstGeom prst="line">
            <a:avLst/>
          </a:prstGeom>
          <a:ln w="38100">
            <a:solidFill>
              <a:srgbClr val="063951"/>
            </a:solidFill>
          </a:ln>
        </p:spPr>
        <p:style>
          <a:lnRef idx="1">
            <a:schemeClr val="accent1"/>
          </a:lnRef>
          <a:fillRef idx="0">
            <a:schemeClr val="accent1"/>
          </a:fillRef>
          <a:effectRef idx="0">
            <a:schemeClr val="accent1"/>
          </a:effectRef>
          <a:fontRef idx="minor">
            <a:schemeClr val="tx1"/>
          </a:fontRef>
        </p:style>
      </p:cxnSp>
      <p:sp>
        <p:nvSpPr>
          <p:cNvPr id="124" name="Rectangle: Rounded Corners 18">
            <a:extLst>
              <a:ext uri="{FF2B5EF4-FFF2-40B4-BE49-F238E27FC236}">
                <a16:creationId xmlns:a16="http://schemas.microsoft.com/office/drawing/2014/main" id="{60F274B4-336B-A615-3094-8CE7E13E6649}"/>
              </a:ext>
            </a:extLst>
          </p:cNvPr>
          <p:cNvSpPr/>
          <p:nvPr/>
        </p:nvSpPr>
        <p:spPr>
          <a:xfrm>
            <a:off x="6620918" y="3000775"/>
            <a:ext cx="5100025" cy="65428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Tiếp</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cận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làm</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thầu</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phụ</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hoặc</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liên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doanh</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để</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lấy</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năng</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lực</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triển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khai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công</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trình</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điểm</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trên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đại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bàn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a:t>
            </a:r>
          </a:p>
        </p:txBody>
      </p:sp>
      <p:sp>
        <p:nvSpPr>
          <p:cNvPr id="125" name="Circle">
            <a:extLst>
              <a:ext uri="{FF2B5EF4-FFF2-40B4-BE49-F238E27FC236}">
                <a16:creationId xmlns:a16="http://schemas.microsoft.com/office/drawing/2014/main" id="{C42CEC81-AFE8-EE44-B029-22DC41B26A13}"/>
              </a:ext>
            </a:extLst>
          </p:cNvPr>
          <p:cNvSpPr/>
          <p:nvPr/>
        </p:nvSpPr>
        <p:spPr>
          <a:xfrm>
            <a:off x="6387375" y="3187807"/>
            <a:ext cx="317164" cy="317164"/>
          </a:xfrm>
          <a:prstGeom prst="ellipse">
            <a:avLst/>
          </a:prstGeom>
          <a:solidFill>
            <a:srgbClr val="C13018"/>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cxnSp>
        <p:nvCxnSpPr>
          <p:cNvPr id="126" name="Straight Connector 125"/>
          <p:cNvCxnSpPr/>
          <p:nvPr/>
        </p:nvCxnSpPr>
        <p:spPr>
          <a:xfrm>
            <a:off x="5952552" y="3345510"/>
            <a:ext cx="593405" cy="0"/>
          </a:xfrm>
          <a:prstGeom prst="line">
            <a:avLst/>
          </a:prstGeom>
          <a:ln w="38100">
            <a:solidFill>
              <a:srgbClr val="063951"/>
            </a:solidFill>
          </a:ln>
        </p:spPr>
        <p:style>
          <a:lnRef idx="1">
            <a:schemeClr val="accent1"/>
          </a:lnRef>
          <a:fillRef idx="0">
            <a:schemeClr val="accent1"/>
          </a:fillRef>
          <a:effectRef idx="0">
            <a:schemeClr val="accent1"/>
          </a:effectRef>
          <a:fontRef idx="minor">
            <a:schemeClr val="tx1"/>
          </a:fontRef>
        </p:style>
      </p:cxnSp>
      <p:sp>
        <p:nvSpPr>
          <p:cNvPr id="127" name="Rectangle: Rounded Corners 20">
            <a:extLst>
              <a:ext uri="{FF2B5EF4-FFF2-40B4-BE49-F238E27FC236}">
                <a16:creationId xmlns:a16="http://schemas.microsoft.com/office/drawing/2014/main" id="{B5EFF494-7C3A-A638-D22E-8A8988C88213}"/>
              </a:ext>
            </a:extLst>
          </p:cNvPr>
          <p:cNvSpPr/>
          <p:nvPr/>
        </p:nvSpPr>
        <p:spPr>
          <a:xfrm>
            <a:off x="6620918" y="4520423"/>
            <a:ext cx="5100025" cy="88868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Duy</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trì</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mối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quan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hệ</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với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CĐT</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cũ</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để</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có</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thêm</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các</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dự</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án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tiếp</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theo.</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Đàm</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phán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với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các</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đối</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tác</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để</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sử</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dụng</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chéo</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các</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sản</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phẩm</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của</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nhau</a:t>
            </a:r>
            <a:r>
              <a:rPr kumimoji="0" lang="en-US" sz="1400" b="0" i="0" u="none" strike="noStrike" kern="1200" cap="none" spc="0" normalizeH="0" baseline="0" noProof="0" dirty="0">
                <a:ln>
                  <a:noFill/>
                </a:ln>
                <a:solidFill>
                  <a:prstClr val="black">
                    <a:lumMod val="95000"/>
                    <a:lumOff val="5000"/>
                  </a:prstClr>
                </a:solidFill>
                <a:effectLst/>
                <a:uLnTx/>
                <a:uFillTx/>
                <a:latin typeface="Cambria" panose="02040503050406030204" pitchFamily="18" charset="0"/>
                <a:ea typeface="Cambria" panose="02040503050406030204" pitchFamily="18" charset="0"/>
                <a:cs typeface="+mn-cs"/>
              </a:rPr>
              <a:t>. </a:t>
            </a:r>
          </a:p>
        </p:txBody>
      </p:sp>
      <p:sp>
        <p:nvSpPr>
          <p:cNvPr id="128" name="Circle">
            <a:extLst>
              <a:ext uri="{FF2B5EF4-FFF2-40B4-BE49-F238E27FC236}">
                <a16:creationId xmlns:a16="http://schemas.microsoft.com/office/drawing/2014/main" id="{B48B641D-9E9B-404C-9298-A426DB7B15AC}"/>
              </a:ext>
            </a:extLst>
          </p:cNvPr>
          <p:cNvSpPr/>
          <p:nvPr/>
        </p:nvSpPr>
        <p:spPr>
          <a:xfrm>
            <a:off x="6387375" y="4816878"/>
            <a:ext cx="317164" cy="317164"/>
          </a:xfrm>
          <a:prstGeom prst="ellipse">
            <a:avLst/>
          </a:prstGeom>
          <a:solidFill>
            <a:srgbClr val="D3D3D3">
              <a:lumMod val="90000"/>
            </a:srgbClr>
          </a:solidFill>
          <a:ln w="12700">
            <a:miter lim="400000"/>
          </a:ln>
        </p:spPr>
        <p:txBody>
          <a:bodyPr lIns="38100" tIns="38100" rIns="38100" bIns="38100" anchor="ctr"/>
          <a:lstStyle/>
          <a:p>
            <a:pPr marL="0" marR="0" lvl="0" indent="0" algn="ctr" defTabSz="914400" eaLnBrk="1" fontAlgn="auto" latinLnBrk="0" hangingPunct="1">
              <a:lnSpc>
                <a:spcPct val="100000"/>
              </a:lnSpc>
              <a:spcBef>
                <a:spcPts val="0"/>
              </a:spcBef>
              <a:spcAft>
                <a:spcPts val="0"/>
              </a:spcAft>
              <a:buClrTx/>
              <a:buSzTx/>
              <a:buFontTx/>
              <a:buNone/>
              <a:tabLst/>
              <a:defRPr sz="3000">
                <a:solidFill>
                  <a:srgbClr val="FFFFFF"/>
                </a:solidFill>
              </a:defRPr>
            </a:pPr>
            <a:endParaRPr kumimoji="0" sz="1400" b="1" i="0" u="none" strike="noStrike" kern="0" cap="none" spc="0" normalizeH="0" baseline="0" noProof="0">
              <a:ln>
                <a:noFill/>
              </a:ln>
              <a:solidFill>
                <a:prstClr val="white"/>
              </a:solidFill>
              <a:effectLst/>
              <a:uLnTx/>
              <a:uFillTx/>
            </a:endParaRPr>
          </a:p>
        </p:txBody>
      </p:sp>
      <p:cxnSp>
        <p:nvCxnSpPr>
          <p:cNvPr id="129" name="Straight Connector 128"/>
          <p:cNvCxnSpPr/>
          <p:nvPr/>
        </p:nvCxnSpPr>
        <p:spPr>
          <a:xfrm>
            <a:off x="5899327" y="4976706"/>
            <a:ext cx="646630" cy="0"/>
          </a:xfrm>
          <a:prstGeom prst="line">
            <a:avLst/>
          </a:prstGeom>
          <a:ln w="38100">
            <a:solidFill>
              <a:srgbClr val="06395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6517178" y="1637610"/>
            <a:ext cx="92719" cy="98815"/>
          </a:xfrm>
          <a:prstGeom prst="ellipse">
            <a:avLst/>
          </a:prstGeom>
          <a:solidFill>
            <a:srgbClr val="063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517178" y="3294007"/>
            <a:ext cx="92719" cy="98815"/>
          </a:xfrm>
          <a:prstGeom prst="ellipse">
            <a:avLst/>
          </a:prstGeom>
          <a:solidFill>
            <a:srgbClr val="063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6517178" y="4931710"/>
            <a:ext cx="92719" cy="98815"/>
          </a:xfrm>
          <a:prstGeom prst="ellipse">
            <a:avLst/>
          </a:prstGeom>
          <a:solidFill>
            <a:srgbClr val="0639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1831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3">
            <a:extLst>
              <a:ext uri="{FF2B5EF4-FFF2-40B4-BE49-F238E27FC236}">
                <a16:creationId xmlns:a16="http://schemas.microsoft.com/office/drawing/2014/main" id="{61C53022-CA6C-4A84-833A-195AB8E58E2F}"/>
              </a:ext>
            </a:extLst>
          </p:cNvPr>
          <p:cNvGrpSpPr/>
          <p:nvPr/>
        </p:nvGrpSpPr>
        <p:grpSpPr>
          <a:xfrm>
            <a:off x="173765" y="85504"/>
            <a:ext cx="473431" cy="466369"/>
            <a:chOff x="179512" y="1203598"/>
            <a:chExt cx="465414" cy="437296"/>
          </a:xfrm>
        </p:grpSpPr>
        <p:sp>
          <p:nvSpPr>
            <p:cNvPr id="7" name="矩形 54">
              <a:extLst>
                <a:ext uri="{FF2B5EF4-FFF2-40B4-BE49-F238E27FC236}">
                  <a16:creationId xmlns:a16="http://schemas.microsoft.com/office/drawing/2014/main" id="{9C561468-87A9-4387-98DE-67367E897EC0}"/>
                </a:ext>
              </a:extLst>
            </p:cNvPr>
            <p:cNvSpPr/>
            <p:nvPr/>
          </p:nvSpPr>
          <p:spPr>
            <a:xfrm>
              <a:off x="179512" y="1203598"/>
              <a:ext cx="360040" cy="360040"/>
            </a:xfrm>
            <a:prstGeom prst="rect">
              <a:avLst/>
            </a:prstGeom>
            <a:noFill/>
            <a:ln w="25400" cap="flat" cmpd="sng" algn="ctr">
              <a:solidFill>
                <a:srgbClr val="7F7F7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8" name="矩形 55">
              <a:extLst>
                <a:ext uri="{FF2B5EF4-FFF2-40B4-BE49-F238E27FC236}">
                  <a16:creationId xmlns:a16="http://schemas.microsoft.com/office/drawing/2014/main" id="{F16ED866-9AF2-4547-860D-2C5403D01316}"/>
                </a:ext>
              </a:extLst>
            </p:cNvPr>
            <p:cNvSpPr/>
            <p:nvPr/>
          </p:nvSpPr>
          <p:spPr>
            <a:xfrm>
              <a:off x="354662" y="1350630"/>
              <a:ext cx="290264" cy="290264"/>
            </a:xfrm>
            <a:prstGeom prst="rect">
              <a:avLst/>
            </a:prstGeom>
            <a:solidFill>
              <a:schemeClr val="accent2"/>
            </a:solidFill>
            <a:ln w="25400" cap="flat" cmpd="sng" algn="ctr">
              <a:solidFill>
                <a:sysClr val="window" lastClr="FFFFFF"/>
              </a:solidFill>
              <a:prstDash val="solid"/>
            </a:ln>
            <a:effectLst/>
          </p:spPr>
          <p:txBody>
            <a:bodyPr rtlCol="0" anchor="ctr"/>
            <a:lstStyle/>
            <a:p>
              <a:pPr marL="0" marR="0" lvl="0" indent="0" algn="ctr" defTabSz="121923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grpSp>
      <p:cxnSp>
        <p:nvCxnSpPr>
          <p:cNvPr id="9" name="直接连接符 56">
            <a:extLst>
              <a:ext uri="{FF2B5EF4-FFF2-40B4-BE49-F238E27FC236}">
                <a16:creationId xmlns:a16="http://schemas.microsoft.com/office/drawing/2014/main" id="{D953420B-A512-451D-822C-56AAC5E04636}"/>
              </a:ext>
            </a:extLst>
          </p:cNvPr>
          <p:cNvCxnSpPr>
            <a:cxnSpLocks/>
          </p:cNvCxnSpPr>
          <p:nvPr/>
        </p:nvCxnSpPr>
        <p:spPr>
          <a:xfrm>
            <a:off x="778765" y="529093"/>
            <a:ext cx="11184681" cy="0"/>
          </a:xfrm>
          <a:prstGeom prst="line">
            <a:avLst/>
          </a:prstGeom>
          <a:noFill/>
          <a:ln w="19050" cap="flat" cmpd="sng" algn="ctr">
            <a:solidFill>
              <a:srgbClr val="C00000"/>
            </a:solidFill>
            <a:prstDash val="solid"/>
          </a:ln>
          <a:effectLst/>
        </p:spPr>
      </p:cxnSp>
      <p:sp>
        <p:nvSpPr>
          <p:cNvPr id="12" name="TextBox 11">
            <a:extLst>
              <a:ext uri="{FF2B5EF4-FFF2-40B4-BE49-F238E27FC236}">
                <a16:creationId xmlns:a16="http://schemas.microsoft.com/office/drawing/2014/main" id="{D6C66D1B-EB69-4280-A3CB-6EF57172B2CD}"/>
              </a:ext>
            </a:extLst>
          </p:cNvPr>
          <p:cNvSpPr txBox="1"/>
          <p:nvPr/>
        </p:nvSpPr>
        <p:spPr>
          <a:xfrm>
            <a:off x="718171" y="20408"/>
            <a:ext cx="9831295" cy="461665"/>
          </a:xfrm>
          <a:prstGeom prst="rect">
            <a:avLst/>
          </a:prstGeom>
          <a:noFill/>
        </p:spPr>
        <p:txBody>
          <a:bodyPr wrap="square" rtlCol="0">
            <a:spAutoFit/>
          </a:bodyPr>
          <a:lstStyle/>
          <a:p>
            <a:pPr marL="0" marR="0" lvl="0" indent="0" algn="l" defTabSz="1219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C0504D">
                    <a:lumMod val="75000"/>
                  </a:srgbClr>
                </a:solidFill>
                <a:effectLst/>
                <a:uLnTx/>
                <a:uFillTx/>
                <a:latin typeface="FS Magistral Bold" panose="020B0804030204080304" pitchFamily="34" charset="0"/>
                <a:ea typeface="+mn-ea"/>
                <a:cs typeface="+mn-cs"/>
              </a:rPr>
              <a:t>2.3. PHƯƠNG</a:t>
            </a:r>
            <a:r>
              <a:rPr kumimoji="0" lang="en-US" sz="2400" b="1" i="0" u="none" strike="noStrike" kern="1200" cap="none" spc="0" normalizeH="0" noProof="0">
                <a:ln>
                  <a:noFill/>
                </a:ln>
                <a:solidFill>
                  <a:srgbClr val="C0504D">
                    <a:lumMod val="75000"/>
                  </a:srgbClr>
                </a:solidFill>
                <a:effectLst/>
                <a:uLnTx/>
                <a:uFillTx/>
                <a:latin typeface="FS Magistral Bold" panose="020B0804030204080304" pitchFamily="34" charset="0"/>
                <a:ea typeface="+mn-ea"/>
                <a:cs typeface="+mn-cs"/>
              </a:rPr>
              <a:t> PHÁP VÀ CÁCH THỨC TIẾP CẬN </a:t>
            </a:r>
            <a:endParaRPr kumimoji="0" lang="vi-VN" sz="2400" b="1" i="0" u="none" strike="noStrike" kern="1200" cap="none" spc="0" normalizeH="0" baseline="0" noProof="0" dirty="0">
              <a:ln>
                <a:noFill/>
              </a:ln>
              <a:solidFill>
                <a:prstClr val="black">
                  <a:lumMod val="75000"/>
                  <a:lumOff val="25000"/>
                </a:prstClr>
              </a:solidFill>
              <a:effectLst/>
              <a:uLnTx/>
              <a:uFillTx/>
              <a:latin typeface="FS Magistral Bold" panose="020B0804030204080304" pitchFamily="34" charset="0"/>
              <a:ea typeface="+mn-ea"/>
              <a:cs typeface="+mn-cs"/>
            </a:endParaRPr>
          </a:p>
        </p:txBody>
      </p:sp>
      <p:cxnSp>
        <p:nvCxnSpPr>
          <p:cNvPr id="40" name="Straight Connector 39">
            <a:extLst>
              <a:ext uri="{FF2B5EF4-FFF2-40B4-BE49-F238E27FC236}">
                <a16:creationId xmlns:a16="http://schemas.microsoft.com/office/drawing/2014/main" id="{779CA0AF-A129-4916-A356-3BC59F5D20F6}"/>
              </a:ext>
            </a:extLst>
          </p:cNvPr>
          <p:cNvCxnSpPr>
            <a:cxnSpLocks/>
          </p:cNvCxnSpPr>
          <p:nvPr/>
        </p:nvCxnSpPr>
        <p:spPr>
          <a:xfrm>
            <a:off x="613944" y="482073"/>
            <a:ext cx="0" cy="35753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718171" y="551873"/>
            <a:ext cx="5555533" cy="370840"/>
          </a:xfrm>
          <a:prstGeom prst="rect">
            <a:avLst/>
          </a:prstGeom>
          <a:noFill/>
        </p:spPr>
        <p:txBody>
          <a:bodyPr wrap="square" rtlCol="0">
            <a:spAutoFit/>
          </a:bodyPr>
          <a:lstStyle/>
          <a:p>
            <a:r>
              <a:rPr lang="en-US" b="1">
                <a:latin typeface="FS Magistral Bold" panose="020B0804030204080304" pitchFamily="34" charset="0"/>
              </a:rPr>
              <a:t>TIẾP CẬN KÊNH THẦU</a:t>
            </a:r>
          </a:p>
        </p:txBody>
      </p:sp>
      <p:sp>
        <p:nvSpPr>
          <p:cNvPr id="37" name="Shape">
            <a:extLst>
              <a:ext uri="{FF2B5EF4-FFF2-40B4-BE49-F238E27FC236}">
                <a16:creationId xmlns:a16="http://schemas.microsoft.com/office/drawing/2014/main" id="{A41BD9B4-E1A7-854F-AB20-3A251979FFF1}"/>
              </a:ext>
            </a:extLst>
          </p:cNvPr>
          <p:cNvSpPr/>
          <p:nvPr/>
        </p:nvSpPr>
        <p:spPr>
          <a:xfrm>
            <a:off x="7884200" y="1159020"/>
            <a:ext cx="3285532" cy="2302588"/>
          </a:xfrm>
          <a:custGeom>
            <a:avLst/>
            <a:gdLst/>
            <a:ahLst/>
            <a:cxnLst>
              <a:cxn ang="0">
                <a:pos x="wd2" y="hd2"/>
              </a:cxn>
              <a:cxn ang="5400000">
                <a:pos x="wd2" y="hd2"/>
              </a:cxn>
              <a:cxn ang="10800000">
                <a:pos x="wd2" y="hd2"/>
              </a:cxn>
              <a:cxn ang="16200000">
                <a:pos x="wd2" y="hd2"/>
              </a:cxn>
            </a:cxnLst>
            <a:rect l="0" t="0" r="r" b="b"/>
            <a:pathLst>
              <a:path w="21580" h="21600" extrusionOk="0">
                <a:moveTo>
                  <a:pt x="2747" y="6479"/>
                </a:moveTo>
                <a:lnTo>
                  <a:pt x="18102" y="6479"/>
                </a:lnTo>
                <a:cubicBezTo>
                  <a:pt x="18379" y="6479"/>
                  <a:pt x="18596" y="6638"/>
                  <a:pt x="18596" y="6842"/>
                </a:cubicBezTo>
                <a:lnTo>
                  <a:pt x="18596" y="6842"/>
                </a:lnTo>
                <a:cubicBezTo>
                  <a:pt x="18596" y="7045"/>
                  <a:pt x="18379" y="7205"/>
                  <a:pt x="18102" y="7205"/>
                </a:cubicBezTo>
                <a:lnTo>
                  <a:pt x="2747" y="7205"/>
                </a:lnTo>
                <a:cubicBezTo>
                  <a:pt x="1779" y="7205"/>
                  <a:pt x="988" y="7786"/>
                  <a:pt x="988" y="8498"/>
                </a:cubicBezTo>
                <a:lnTo>
                  <a:pt x="988" y="20394"/>
                </a:lnTo>
                <a:cubicBezTo>
                  <a:pt x="988" y="20656"/>
                  <a:pt x="1285" y="20874"/>
                  <a:pt x="1640" y="20874"/>
                </a:cubicBezTo>
                <a:lnTo>
                  <a:pt x="4565" y="20874"/>
                </a:lnTo>
                <a:cubicBezTo>
                  <a:pt x="8557" y="20874"/>
                  <a:pt x="12371" y="19712"/>
                  <a:pt x="15177" y="17634"/>
                </a:cubicBezTo>
                <a:cubicBezTo>
                  <a:pt x="17984" y="15572"/>
                  <a:pt x="19584" y="12754"/>
                  <a:pt x="19584" y="9834"/>
                </a:cubicBezTo>
                <a:lnTo>
                  <a:pt x="19584" y="7655"/>
                </a:lnTo>
                <a:lnTo>
                  <a:pt x="19584" y="1569"/>
                </a:lnTo>
                <a:cubicBezTo>
                  <a:pt x="19584" y="1351"/>
                  <a:pt x="19347" y="1177"/>
                  <a:pt x="19051" y="1177"/>
                </a:cubicBezTo>
                <a:lnTo>
                  <a:pt x="18655" y="1177"/>
                </a:lnTo>
                <a:cubicBezTo>
                  <a:pt x="18596" y="1177"/>
                  <a:pt x="18557" y="1118"/>
                  <a:pt x="18596" y="1089"/>
                </a:cubicBezTo>
                <a:lnTo>
                  <a:pt x="20078" y="0"/>
                </a:lnTo>
                <a:lnTo>
                  <a:pt x="21560" y="1089"/>
                </a:lnTo>
                <a:cubicBezTo>
                  <a:pt x="21600" y="1118"/>
                  <a:pt x="21580" y="1177"/>
                  <a:pt x="21501" y="1177"/>
                </a:cubicBezTo>
                <a:lnTo>
                  <a:pt x="21106" y="1177"/>
                </a:lnTo>
                <a:cubicBezTo>
                  <a:pt x="20810" y="1177"/>
                  <a:pt x="20572" y="1351"/>
                  <a:pt x="20572" y="1569"/>
                </a:cubicBezTo>
                <a:lnTo>
                  <a:pt x="20572" y="6493"/>
                </a:lnTo>
                <a:lnTo>
                  <a:pt x="20572" y="7655"/>
                </a:lnTo>
                <a:lnTo>
                  <a:pt x="20572" y="20612"/>
                </a:lnTo>
                <a:cubicBezTo>
                  <a:pt x="20572" y="21150"/>
                  <a:pt x="19980" y="21600"/>
                  <a:pt x="19229" y="21600"/>
                </a:cubicBezTo>
                <a:lnTo>
                  <a:pt x="1601" y="21600"/>
                </a:lnTo>
                <a:cubicBezTo>
                  <a:pt x="712" y="21600"/>
                  <a:pt x="0" y="21077"/>
                  <a:pt x="0" y="20423"/>
                </a:cubicBezTo>
                <a:lnTo>
                  <a:pt x="0" y="8498"/>
                </a:lnTo>
                <a:cubicBezTo>
                  <a:pt x="0" y="7379"/>
                  <a:pt x="1225" y="6479"/>
                  <a:pt x="2747" y="6479"/>
                </a:cubicBezTo>
                <a:close/>
              </a:path>
            </a:pathLst>
          </a:custGeom>
          <a:solidFill>
            <a:schemeClr val="accent3">
              <a:lumMod val="40000"/>
              <a:lumOff val="6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8" name="Shape">
            <a:extLst>
              <a:ext uri="{FF2B5EF4-FFF2-40B4-BE49-F238E27FC236}">
                <a16:creationId xmlns:a16="http://schemas.microsoft.com/office/drawing/2014/main" id="{132DDD7C-BE73-A44B-AFF8-BE9D3FC9A822}"/>
              </a:ext>
            </a:extLst>
          </p:cNvPr>
          <p:cNvSpPr/>
          <p:nvPr/>
        </p:nvSpPr>
        <p:spPr>
          <a:xfrm>
            <a:off x="5188437" y="1159020"/>
            <a:ext cx="2687882" cy="2302588"/>
          </a:xfrm>
          <a:custGeom>
            <a:avLst/>
            <a:gdLst/>
            <a:ahLst/>
            <a:cxnLst>
              <a:cxn ang="0">
                <a:pos x="wd2" y="hd2"/>
              </a:cxn>
              <a:cxn ang="5400000">
                <a:pos x="wd2" y="hd2"/>
              </a:cxn>
              <a:cxn ang="10800000">
                <a:pos x="wd2" y="hd2"/>
              </a:cxn>
              <a:cxn ang="16200000">
                <a:pos x="wd2" y="hd2"/>
              </a:cxn>
            </a:cxnLst>
            <a:rect l="0" t="0" r="r" b="b"/>
            <a:pathLst>
              <a:path w="21580" h="21600" extrusionOk="0">
                <a:moveTo>
                  <a:pt x="2747" y="6479"/>
                </a:moveTo>
                <a:lnTo>
                  <a:pt x="18102" y="6479"/>
                </a:lnTo>
                <a:cubicBezTo>
                  <a:pt x="18379" y="6479"/>
                  <a:pt x="18596" y="6638"/>
                  <a:pt x="18596" y="6842"/>
                </a:cubicBezTo>
                <a:lnTo>
                  <a:pt x="18596" y="6842"/>
                </a:lnTo>
                <a:cubicBezTo>
                  <a:pt x="18596" y="7045"/>
                  <a:pt x="18379" y="7205"/>
                  <a:pt x="18102" y="7205"/>
                </a:cubicBezTo>
                <a:lnTo>
                  <a:pt x="2747" y="7205"/>
                </a:lnTo>
                <a:cubicBezTo>
                  <a:pt x="1779" y="7205"/>
                  <a:pt x="988" y="7786"/>
                  <a:pt x="988" y="8498"/>
                </a:cubicBezTo>
                <a:lnTo>
                  <a:pt x="988" y="20394"/>
                </a:lnTo>
                <a:cubicBezTo>
                  <a:pt x="988" y="20656"/>
                  <a:pt x="1285" y="20874"/>
                  <a:pt x="1640" y="20874"/>
                </a:cubicBezTo>
                <a:lnTo>
                  <a:pt x="4565" y="20874"/>
                </a:lnTo>
                <a:cubicBezTo>
                  <a:pt x="8557" y="20874"/>
                  <a:pt x="12371" y="19712"/>
                  <a:pt x="15177" y="17634"/>
                </a:cubicBezTo>
                <a:cubicBezTo>
                  <a:pt x="17984" y="15572"/>
                  <a:pt x="19584" y="12754"/>
                  <a:pt x="19584" y="9834"/>
                </a:cubicBezTo>
                <a:lnTo>
                  <a:pt x="19584" y="7655"/>
                </a:lnTo>
                <a:lnTo>
                  <a:pt x="19584" y="1569"/>
                </a:lnTo>
                <a:cubicBezTo>
                  <a:pt x="19584" y="1351"/>
                  <a:pt x="19347" y="1177"/>
                  <a:pt x="19051" y="1177"/>
                </a:cubicBezTo>
                <a:lnTo>
                  <a:pt x="18655" y="1177"/>
                </a:lnTo>
                <a:cubicBezTo>
                  <a:pt x="18596" y="1177"/>
                  <a:pt x="18557" y="1118"/>
                  <a:pt x="18596" y="1089"/>
                </a:cubicBezTo>
                <a:lnTo>
                  <a:pt x="20078" y="0"/>
                </a:lnTo>
                <a:lnTo>
                  <a:pt x="21560" y="1089"/>
                </a:lnTo>
                <a:cubicBezTo>
                  <a:pt x="21600" y="1118"/>
                  <a:pt x="21580" y="1177"/>
                  <a:pt x="21501" y="1177"/>
                </a:cubicBezTo>
                <a:lnTo>
                  <a:pt x="21106" y="1177"/>
                </a:lnTo>
                <a:cubicBezTo>
                  <a:pt x="20810" y="1177"/>
                  <a:pt x="20572" y="1351"/>
                  <a:pt x="20572" y="1569"/>
                </a:cubicBezTo>
                <a:lnTo>
                  <a:pt x="20572" y="6493"/>
                </a:lnTo>
                <a:lnTo>
                  <a:pt x="20572" y="7655"/>
                </a:lnTo>
                <a:lnTo>
                  <a:pt x="20572" y="20612"/>
                </a:lnTo>
                <a:cubicBezTo>
                  <a:pt x="20572" y="21150"/>
                  <a:pt x="19980" y="21600"/>
                  <a:pt x="19229" y="21600"/>
                </a:cubicBezTo>
                <a:lnTo>
                  <a:pt x="1601" y="21600"/>
                </a:lnTo>
                <a:cubicBezTo>
                  <a:pt x="711" y="21600"/>
                  <a:pt x="0" y="21077"/>
                  <a:pt x="0" y="20423"/>
                </a:cubicBezTo>
                <a:lnTo>
                  <a:pt x="0" y="8498"/>
                </a:lnTo>
                <a:cubicBezTo>
                  <a:pt x="0" y="7379"/>
                  <a:pt x="1225" y="6479"/>
                  <a:pt x="2747" y="6479"/>
                </a:cubicBezTo>
                <a:close/>
              </a:path>
            </a:pathLst>
          </a:custGeom>
          <a:solidFill>
            <a:srgbClr val="A2B969"/>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9" name="Shape">
            <a:extLst>
              <a:ext uri="{FF2B5EF4-FFF2-40B4-BE49-F238E27FC236}">
                <a16:creationId xmlns:a16="http://schemas.microsoft.com/office/drawing/2014/main" id="{AF3B8389-A2F0-8D43-B448-C75FFD0016D3}"/>
              </a:ext>
            </a:extLst>
          </p:cNvPr>
          <p:cNvSpPr/>
          <p:nvPr/>
        </p:nvSpPr>
        <p:spPr>
          <a:xfrm>
            <a:off x="2616029" y="1159020"/>
            <a:ext cx="2564527" cy="2302588"/>
          </a:xfrm>
          <a:custGeom>
            <a:avLst/>
            <a:gdLst/>
            <a:ahLst/>
            <a:cxnLst>
              <a:cxn ang="0">
                <a:pos x="wd2" y="hd2"/>
              </a:cxn>
              <a:cxn ang="5400000">
                <a:pos x="wd2" y="hd2"/>
              </a:cxn>
              <a:cxn ang="10800000">
                <a:pos x="wd2" y="hd2"/>
              </a:cxn>
              <a:cxn ang="16200000">
                <a:pos x="wd2" y="hd2"/>
              </a:cxn>
            </a:cxnLst>
            <a:rect l="0" t="0" r="r" b="b"/>
            <a:pathLst>
              <a:path w="21580" h="21600" extrusionOk="0">
                <a:moveTo>
                  <a:pt x="2747" y="6479"/>
                </a:moveTo>
                <a:lnTo>
                  <a:pt x="18102" y="6479"/>
                </a:lnTo>
                <a:cubicBezTo>
                  <a:pt x="18379" y="6479"/>
                  <a:pt x="18596" y="6638"/>
                  <a:pt x="18596" y="6842"/>
                </a:cubicBezTo>
                <a:lnTo>
                  <a:pt x="18596" y="6842"/>
                </a:lnTo>
                <a:cubicBezTo>
                  <a:pt x="18596" y="7045"/>
                  <a:pt x="18379" y="7205"/>
                  <a:pt x="18102" y="7205"/>
                </a:cubicBezTo>
                <a:lnTo>
                  <a:pt x="2747" y="7205"/>
                </a:lnTo>
                <a:cubicBezTo>
                  <a:pt x="1779" y="7205"/>
                  <a:pt x="988" y="7786"/>
                  <a:pt x="988" y="8498"/>
                </a:cubicBezTo>
                <a:lnTo>
                  <a:pt x="988" y="20394"/>
                </a:lnTo>
                <a:cubicBezTo>
                  <a:pt x="988" y="20656"/>
                  <a:pt x="1285" y="20874"/>
                  <a:pt x="1640" y="20874"/>
                </a:cubicBezTo>
                <a:lnTo>
                  <a:pt x="4565" y="20874"/>
                </a:lnTo>
                <a:cubicBezTo>
                  <a:pt x="8557" y="20874"/>
                  <a:pt x="12371" y="19712"/>
                  <a:pt x="15177" y="17634"/>
                </a:cubicBezTo>
                <a:cubicBezTo>
                  <a:pt x="17984" y="15572"/>
                  <a:pt x="19584" y="12754"/>
                  <a:pt x="19584" y="9834"/>
                </a:cubicBezTo>
                <a:lnTo>
                  <a:pt x="19584" y="7655"/>
                </a:lnTo>
                <a:lnTo>
                  <a:pt x="19584" y="1569"/>
                </a:lnTo>
                <a:cubicBezTo>
                  <a:pt x="19584" y="1351"/>
                  <a:pt x="19347" y="1177"/>
                  <a:pt x="19051" y="1177"/>
                </a:cubicBezTo>
                <a:lnTo>
                  <a:pt x="18655" y="1177"/>
                </a:lnTo>
                <a:cubicBezTo>
                  <a:pt x="18596" y="1177"/>
                  <a:pt x="18557" y="1118"/>
                  <a:pt x="18596" y="1089"/>
                </a:cubicBezTo>
                <a:lnTo>
                  <a:pt x="20078" y="0"/>
                </a:lnTo>
                <a:lnTo>
                  <a:pt x="21560" y="1089"/>
                </a:lnTo>
                <a:cubicBezTo>
                  <a:pt x="21600" y="1118"/>
                  <a:pt x="21580" y="1177"/>
                  <a:pt x="21501" y="1177"/>
                </a:cubicBezTo>
                <a:lnTo>
                  <a:pt x="21106" y="1177"/>
                </a:lnTo>
                <a:cubicBezTo>
                  <a:pt x="20810" y="1177"/>
                  <a:pt x="20572" y="1351"/>
                  <a:pt x="20572" y="1569"/>
                </a:cubicBezTo>
                <a:lnTo>
                  <a:pt x="20572" y="6493"/>
                </a:lnTo>
                <a:lnTo>
                  <a:pt x="20572" y="7655"/>
                </a:lnTo>
                <a:lnTo>
                  <a:pt x="20572" y="20612"/>
                </a:lnTo>
                <a:cubicBezTo>
                  <a:pt x="20572" y="21150"/>
                  <a:pt x="19980" y="21600"/>
                  <a:pt x="19229" y="21600"/>
                </a:cubicBezTo>
                <a:lnTo>
                  <a:pt x="1601" y="21600"/>
                </a:lnTo>
                <a:cubicBezTo>
                  <a:pt x="711" y="21600"/>
                  <a:pt x="0" y="21077"/>
                  <a:pt x="0" y="20423"/>
                </a:cubicBezTo>
                <a:lnTo>
                  <a:pt x="0" y="8498"/>
                </a:lnTo>
                <a:cubicBezTo>
                  <a:pt x="0" y="7379"/>
                  <a:pt x="1245" y="6479"/>
                  <a:pt x="2747" y="6479"/>
                </a:cubicBezTo>
                <a:close/>
              </a:path>
            </a:pathLst>
          </a:custGeom>
          <a:solidFill>
            <a:srgbClr val="A2B969">
              <a:lumMod val="60000"/>
              <a:lumOff val="40000"/>
            </a:srgb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1" name="Shape">
            <a:extLst>
              <a:ext uri="{FF2B5EF4-FFF2-40B4-BE49-F238E27FC236}">
                <a16:creationId xmlns:a16="http://schemas.microsoft.com/office/drawing/2014/main" id="{120697BC-F214-2A47-8C06-06FC16E1E7FD}"/>
              </a:ext>
            </a:extLst>
          </p:cNvPr>
          <p:cNvSpPr/>
          <p:nvPr/>
        </p:nvSpPr>
        <p:spPr>
          <a:xfrm>
            <a:off x="5054769" y="3539938"/>
            <a:ext cx="2646550" cy="2628106"/>
          </a:xfrm>
          <a:custGeom>
            <a:avLst/>
            <a:gdLst/>
            <a:ahLst/>
            <a:cxnLst>
              <a:cxn ang="0">
                <a:pos x="wd2" y="hd2"/>
              </a:cxn>
              <a:cxn ang="5400000">
                <a:pos x="wd2" y="hd2"/>
              </a:cxn>
              <a:cxn ang="10800000">
                <a:pos x="wd2" y="hd2"/>
              </a:cxn>
              <a:cxn ang="16200000">
                <a:pos x="wd2" y="hd2"/>
              </a:cxn>
            </a:cxnLst>
            <a:rect l="0" t="0" r="r" b="b"/>
            <a:pathLst>
              <a:path w="21580" h="21600" extrusionOk="0">
                <a:moveTo>
                  <a:pt x="18833" y="15121"/>
                </a:moveTo>
                <a:lnTo>
                  <a:pt x="3478" y="15121"/>
                </a:lnTo>
                <a:cubicBezTo>
                  <a:pt x="3201" y="15121"/>
                  <a:pt x="2984" y="14962"/>
                  <a:pt x="2984" y="14758"/>
                </a:cubicBezTo>
                <a:lnTo>
                  <a:pt x="2984" y="14758"/>
                </a:lnTo>
                <a:cubicBezTo>
                  <a:pt x="2984" y="14555"/>
                  <a:pt x="3201" y="14395"/>
                  <a:pt x="3478" y="14395"/>
                </a:cubicBezTo>
                <a:lnTo>
                  <a:pt x="18833" y="14395"/>
                </a:lnTo>
                <a:cubicBezTo>
                  <a:pt x="19801" y="14395"/>
                  <a:pt x="20592" y="13814"/>
                  <a:pt x="20592" y="13102"/>
                </a:cubicBezTo>
                <a:lnTo>
                  <a:pt x="20592" y="1206"/>
                </a:lnTo>
                <a:cubicBezTo>
                  <a:pt x="20592" y="944"/>
                  <a:pt x="20295" y="726"/>
                  <a:pt x="19940" y="726"/>
                </a:cubicBezTo>
                <a:lnTo>
                  <a:pt x="17015" y="726"/>
                </a:lnTo>
                <a:cubicBezTo>
                  <a:pt x="13023" y="726"/>
                  <a:pt x="9209" y="1888"/>
                  <a:pt x="6403" y="3966"/>
                </a:cubicBezTo>
                <a:cubicBezTo>
                  <a:pt x="3596" y="6028"/>
                  <a:pt x="1996" y="8846"/>
                  <a:pt x="1996" y="11766"/>
                </a:cubicBezTo>
                <a:lnTo>
                  <a:pt x="1996" y="13945"/>
                </a:lnTo>
                <a:lnTo>
                  <a:pt x="1996" y="20031"/>
                </a:lnTo>
                <a:cubicBezTo>
                  <a:pt x="1996" y="20249"/>
                  <a:pt x="2233" y="20423"/>
                  <a:pt x="2529" y="20423"/>
                </a:cubicBezTo>
                <a:lnTo>
                  <a:pt x="2925" y="20423"/>
                </a:lnTo>
                <a:cubicBezTo>
                  <a:pt x="2984" y="20423"/>
                  <a:pt x="3023" y="20482"/>
                  <a:pt x="2984" y="20511"/>
                </a:cubicBezTo>
                <a:lnTo>
                  <a:pt x="1502" y="21600"/>
                </a:lnTo>
                <a:lnTo>
                  <a:pt x="20" y="20511"/>
                </a:lnTo>
                <a:cubicBezTo>
                  <a:pt x="-20" y="20482"/>
                  <a:pt x="0" y="20423"/>
                  <a:pt x="79" y="20423"/>
                </a:cubicBezTo>
                <a:lnTo>
                  <a:pt x="474" y="20423"/>
                </a:lnTo>
                <a:cubicBezTo>
                  <a:pt x="770" y="20423"/>
                  <a:pt x="1008" y="20249"/>
                  <a:pt x="1008" y="20031"/>
                </a:cubicBezTo>
                <a:lnTo>
                  <a:pt x="1008" y="15107"/>
                </a:lnTo>
                <a:lnTo>
                  <a:pt x="1008" y="13945"/>
                </a:lnTo>
                <a:lnTo>
                  <a:pt x="1008" y="988"/>
                </a:lnTo>
                <a:cubicBezTo>
                  <a:pt x="1008" y="450"/>
                  <a:pt x="1600" y="0"/>
                  <a:pt x="2351" y="0"/>
                </a:cubicBezTo>
                <a:lnTo>
                  <a:pt x="19979" y="0"/>
                </a:lnTo>
                <a:cubicBezTo>
                  <a:pt x="20869" y="0"/>
                  <a:pt x="21580" y="523"/>
                  <a:pt x="21580" y="1177"/>
                </a:cubicBezTo>
                <a:lnTo>
                  <a:pt x="21580" y="13102"/>
                </a:lnTo>
                <a:cubicBezTo>
                  <a:pt x="21560" y="14221"/>
                  <a:pt x="20335" y="15121"/>
                  <a:pt x="18833" y="15121"/>
                </a:cubicBezTo>
                <a:close/>
              </a:path>
            </a:pathLst>
          </a:custGeom>
          <a:solidFill>
            <a:srgbClr val="C13018"/>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2" name="Shape">
            <a:extLst>
              <a:ext uri="{FF2B5EF4-FFF2-40B4-BE49-F238E27FC236}">
                <a16:creationId xmlns:a16="http://schemas.microsoft.com/office/drawing/2014/main" id="{EC624F31-360C-7E48-9F97-1AAA0F18FBBD}"/>
              </a:ext>
            </a:extLst>
          </p:cNvPr>
          <p:cNvSpPr/>
          <p:nvPr/>
        </p:nvSpPr>
        <p:spPr>
          <a:xfrm>
            <a:off x="7750532" y="3539938"/>
            <a:ext cx="3286196" cy="2628106"/>
          </a:xfrm>
          <a:custGeom>
            <a:avLst/>
            <a:gdLst/>
            <a:ahLst/>
            <a:cxnLst>
              <a:cxn ang="0">
                <a:pos x="wd2" y="hd2"/>
              </a:cxn>
              <a:cxn ang="5400000">
                <a:pos x="wd2" y="hd2"/>
              </a:cxn>
              <a:cxn ang="10800000">
                <a:pos x="wd2" y="hd2"/>
              </a:cxn>
              <a:cxn ang="16200000">
                <a:pos x="wd2" y="hd2"/>
              </a:cxn>
            </a:cxnLst>
            <a:rect l="0" t="0" r="r" b="b"/>
            <a:pathLst>
              <a:path w="21580" h="21600" extrusionOk="0">
                <a:moveTo>
                  <a:pt x="18833" y="15121"/>
                </a:moveTo>
                <a:lnTo>
                  <a:pt x="3478" y="15121"/>
                </a:lnTo>
                <a:cubicBezTo>
                  <a:pt x="3201" y="15121"/>
                  <a:pt x="2984" y="14962"/>
                  <a:pt x="2984" y="14758"/>
                </a:cubicBezTo>
                <a:lnTo>
                  <a:pt x="2984" y="14758"/>
                </a:lnTo>
                <a:cubicBezTo>
                  <a:pt x="2984" y="14555"/>
                  <a:pt x="3201" y="14395"/>
                  <a:pt x="3478" y="14395"/>
                </a:cubicBezTo>
                <a:lnTo>
                  <a:pt x="18833" y="14395"/>
                </a:lnTo>
                <a:cubicBezTo>
                  <a:pt x="19801" y="14395"/>
                  <a:pt x="20592" y="13814"/>
                  <a:pt x="20592" y="13102"/>
                </a:cubicBezTo>
                <a:lnTo>
                  <a:pt x="20592" y="1206"/>
                </a:lnTo>
                <a:cubicBezTo>
                  <a:pt x="20592" y="944"/>
                  <a:pt x="20295" y="726"/>
                  <a:pt x="19940" y="726"/>
                </a:cubicBezTo>
                <a:lnTo>
                  <a:pt x="17015" y="726"/>
                </a:lnTo>
                <a:cubicBezTo>
                  <a:pt x="13023" y="726"/>
                  <a:pt x="9209" y="1888"/>
                  <a:pt x="6403" y="3966"/>
                </a:cubicBezTo>
                <a:cubicBezTo>
                  <a:pt x="3596" y="6028"/>
                  <a:pt x="1996" y="8846"/>
                  <a:pt x="1996" y="11766"/>
                </a:cubicBezTo>
                <a:lnTo>
                  <a:pt x="1996" y="13945"/>
                </a:lnTo>
                <a:lnTo>
                  <a:pt x="1996" y="20031"/>
                </a:lnTo>
                <a:cubicBezTo>
                  <a:pt x="1996" y="20249"/>
                  <a:pt x="2233" y="20423"/>
                  <a:pt x="2529" y="20423"/>
                </a:cubicBezTo>
                <a:lnTo>
                  <a:pt x="2925" y="20423"/>
                </a:lnTo>
                <a:cubicBezTo>
                  <a:pt x="2984" y="20423"/>
                  <a:pt x="3023" y="20482"/>
                  <a:pt x="2984" y="20511"/>
                </a:cubicBezTo>
                <a:lnTo>
                  <a:pt x="1502" y="21600"/>
                </a:lnTo>
                <a:lnTo>
                  <a:pt x="20" y="20511"/>
                </a:lnTo>
                <a:cubicBezTo>
                  <a:pt x="-20" y="20482"/>
                  <a:pt x="0" y="20423"/>
                  <a:pt x="79" y="20423"/>
                </a:cubicBezTo>
                <a:lnTo>
                  <a:pt x="474" y="20423"/>
                </a:lnTo>
                <a:cubicBezTo>
                  <a:pt x="770" y="20423"/>
                  <a:pt x="1008" y="20249"/>
                  <a:pt x="1008" y="20031"/>
                </a:cubicBezTo>
                <a:lnTo>
                  <a:pt x="1008" y="15107"/>
                </a:lnTo>
                <a:lnTo>
                  <a:pt x="1008" y="13945"/>
                </a:lnTo>
                <a:lnTo>
                  <a:pt x="1008" y="988"/>
                </a:lnTo>
                <a:cubicBezTo>
                  <a:pt x="1008" y="450"/>
                  <a:pt x="1600" y="0"/>
                  <a:pt x="2351" y="0"/>
                </a:cubicBezTo>
                <a:lnTo>
                  <a:pt x="19979" y="0"/>
                </a:lnTo>
                <a:cubicBezTo>
                  <a:pt x="20868" y="0"/>
                  <a:pt x="21580" y="523"/>
                  <a:pt x="21580" y="1177"/>
                </a:cubicBezTo>
                <a:lnTo>
                  <a:pt x="21580" y="13102"/>
                </a:lnTo>
                <a:cubicBezTo>
                  <a:pt x="21580" y="14221"/>
                  <a:pt x="20355" y="15121"/>
                  <a:pt x="18833" y="15121"/>
                </a:cubicBezTo>
                <a:close/>
              </a:path>
            </a:pathLst>
          </a:custGeom>
          <a:solidFill>
            <a:schemeClr val="accent2">
              <a:lumMod val="60000"/>
              <a:lumOff val="4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3" name="Shape">
            <a:extLst>
              <a:ext uri="{FF2B5EF4-FFF2-40B4-BE49-F238E27FC236}">
                <a16:creationId xmlns:a16="http://schemas.microsoft.com/office/drawing/2014/main" id="{41692202-3E64-8641-AFBA-4775CF1333B2}"/>
              </a:ext>
            </a:extLst>
          </p:cNvPr>
          <p:cNvSpPr/>
          <p:nvPr/>
        </p:nvSpPr>
        <p:spPr>
          <a:xfrm>
            <a:off x="2482359" y="3539937"/>
            <a:ext cx="2554145" cy="2628107"/>
          </a:xfrm>
          <a:custGeom>
            <a:avLst/>
            <a:gdLst/>
            <a:ahLst/>
            <a:cxnLst>
              <a:cxn ang="0">
                <a:pos x="wd2" y="hd2"/>
              </a:cxn>
              <a:cxn ang="5400000">
                <a:pos x="wd2" y="hd2"/>
              </a:cxn>
              <a:cxn ang="10800000">
                <a:pos x="wd2" y="hd2"/>
              </a:cxn>
              <a:cxn ang="16200000">
                <a:pos x="wd2" y="hd2"/>
              </a:cxn>
            </a:cxnLst>
            <a:rect l="0" t="0" r="r" b="b"/>
            <a:pathLst>
              <a:path w="21580" h="21600" extrusionOk="0">
                <a:moveTo>
                  <a:pt x="18833" y="15121"/>
                </a:moveTo>
                <a:lnTo>
                  <a:pt x="3478" y="15121"/>
                </a:lnTo>
                <a:cubicBezTo>
                  <a:pt x="3201" y="15121"/>
                  <a:pt x="2984" y="14962"/>
                  <a:pt x="2984" y="14758"/>
                </a:cubicBezTo>
                <a:lnTo>
                  <a:pt x="2984" y="14758"/>
                </a:lnTo>
                <a:cubicBezTo>
                  <a:pt x="2984" y="14555"/>
                  <a:pt x="3201" y="14395"/>
                  <a:pt x="3478" y="14395"/>
                </a:cubicBezTo>
                <a:lnTo>
                  <a:pt x="18833" y="14395"/>
                </a:lnTo>
                <a:cubicBezTo>
                  <a:pt x="19801" y="14395"/>
                  <a:pt x="20592" y="13814"/>
                  <a:pt x="20592" y="13102"/>
                </a:cubicBezTo>
                <a:lnTo>
                  <a:pt x="20592" y="1206"/>
                </a:lnTo>
                <a:cubicBezTo>
                  <a:pt x="20592" y="944"/>
                  <a:pt x="20295" y="726"/>
                  <a:pt x="19940" y="726"/>
                </a:cubicBezTo>
                <a:lnTo>
                  <a:pt x="17015" y="726"/>
                </a:lnTo>
                <a:cubicBezTo>
                  <a:pt x="13023" y="726"/>
                  <a:pt x="9209" y="1888"/>
                  <a:pt x="6403" y="3966"/>
                </a:cubicBezTo>
                <a:cubicBezTo>
                  <a:pt x="3596" y="6028"/>
                  <a:pt x="1996" y="8846"/>
                  <a:pt x="1996" y="11766"/>
                </a:cubicBezTo>
                <a:lnTo>
                  <a:pt x="1996" y="13945"/>
                </a:lnTo>
                <a:lnTo>
                  <a:pt x="1996" y="20031"/>
                </a:lnTo>
                <a:cubicBezTo>
                  <a:pt x="1996" y="20249"/>
                  <a:pt x="2233" y="20423"/>
                  <a:pt x="2529" y="20423"/>
                </a:cubicBezTo>
                <a:lnTo>
                  <a:pt x="2925" y="20423"/>
                </a:lnTo>
                <a:cubicBezTo>
                  <a:pt x="2984" y="20423"/>
                  <a:pt x="3023" y="20482"/>
                  <a:pt x="2984" y="20511"/>
                </a:cubicBezTo>
                <a:lnTo>
                  <a:pt x="1502" y="21600"/>
                </a:lnTo>
                <a:lnTo>
                  <a:pt x="20" y="20511"/>
                </a:lnTo>
                <a:cubicBezTo>
                  <a:pt x="-20" y="20482"/>
                  <a:pt x="0" y="20423"/>
                  <a:pt x="79" y="20423"/>
                </a:cubicBezTo>
                <a:lnTo>
                  <a:pt x="474" y="20423"/>
                </a:lnTo>
                <a:cubicBezTo>
                  <a:pt x="770" y="20423"/>
                  <a:pt x="1008" y="20249"/>
                  <a:pt x="1008" y="20031"/>
                </a:cubicBezTo>
                <a:lnTo>
                  <a:pt x="1008" y="15107"/>
                </a:lnTo>
                <a:lnTo>
                  <a:pt x="1008" y="13945"/>
                </a:lnTo>
                <a:lnTo>
                  <a:pt x="1008" y="988"/>
                </a:lnTo>
                <a:cubicBezTo>
                  <a:pt x="1008" y="450"/>
                  <a:pt x="1600" y="0"/>
                  <a:pt x="2351" y="0"/>
                </a:cubicBezTo>
                <a:lnTo>
                  <a:pt x="19979" y="0"/>
                </a:lnTo>
                <a:cubicBezTo>
                  <a:pt x="20869" y="0"/>
                  <a:pt x="21580" y="523"/>
                  <a:pt x="21580" y="1177"/>
                </a:cubicBezTo>
                <a:lnTo>
                  <a:pt x="21580" y="13102"/>
                </a:lnTo>
                <a:cubicBezTo>
                  <a:pt x="21580" y="14221"/>
                  <a:pt x="20355" y="15121"/>
                  <a:pt x="18833" y="15121"/>
                </a:cubicBezTo>
                <a:close/>
              </a:path>
            </a:pathLst>
          </a:custGeom>
          <a:solidFill>
            <a:srgbClr val="C13018">
              <a:lumMod val="60000"/>
              <a:lumOff val="40000"/>
            </a:srgb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30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E8BF4095-8541-60E7-00EB-6FD7F4F63F01}"/>
              </a:ext>
            </a:extLst>
          </p:cNvPr>
          <p:cNvSpPr txBox="1"/>
          <p:nvPr/>
        </p:nvSpPr>
        <p:spPr>
          <a:xfrm>
            <a:off x="351932" y="2399562"/>
            <a:ext cx="2130427" cy="461665"/>
          </a:xfrm>
          <a:prstGeom prst="rect">
            <a:avLst/>
          </a:prstGeom>
          <a:noFill/>
        </p:spPr>
        <p:txBody>
          <a:bodyPr wrap="square" lIns="0" rIns="0" rtlCol="0" anchor="t">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PHƯƠNG</a:t>
            </a:r>
            <a:r>
              <a:rPr kumimoji="0" lang="en-US" sz="2400" b="1" i="0" u="none" strike="noStrike" kern="0" cap="none" spc="0" normalizeH="0" noProof="1">
                <a:ln>
                  <a:noFill/>
                </a:ln>
                <a:solidFill>
                  <a:prstClr val="black"/>
                </a:solidFill>
                <a:effectLst/>
                <a:uLnTx/>
                <a:uFillTx/>
              </a:rPr>
              <a:t> PHÁP</a:t>
            </a:r>
            <a:endParaRPr kumimoji="0" lang="en-US" sz="2400" b="1" i="0" u="none" strike="noStrike" kern="0" cap="none" spc="0" normalizeH="0" baseline="0" noProof="1">
              <a:ln>
                <a:noFill/>
              </a:ln>
              <a:solidFill>
                <a:prstClr val="black"/>
              </a:solidFill>
              <a:effectLst/>
              <a:uLnTx/>
              <a:uFillTx/>
            </a:endParaRPr>
          </a:p>
        </p:txBody>
      </p:sp>
      <p:sp>
        <p:nvSpPr>
          <p:cNvPr id="35" name="TextBox 34">
            <a:extLst>
              <a:ext uri="{FF2B5EF4-FFF2-40B4-BE49-F238E27FC236}">
                <a16:creationId xmlns:a16="http://schemas.microsoft.com/office/drawing/2014/main" id="{C09BC63B-FB07-460F-947C-4268CDD3A2C8}"/>
              </a:ext>
            </a:extLst>
          </p:cNvPr>
          <p:cNvSpPr txBox="1"/>
          <p:nvPr/>
        </p:nvSpPr>
        <p:spPr>
          <a:xfrm>
            <a:off x="643450" y="4329741"/>
            <a:ext cx="1789696" cy="461665"/>
          </a:xfrm>
          <a:prstGeom prst="rect">
            <a:avLst/>
          </a:prstGeom>
          <a:noFill/>
        </p:spPr>
        <p:txBody>
          <a:bodyPr wrap="square" lIns="0" rIns="0" rtlCol="0" anchor="t">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1">
                <a:ln>
                  <a:noFill/>
                </a:ln>
                <a:solidFill>
                  <a:prstClr val="black"/>
                </a:solidFill>
                <a:effectLst/>
                <a:uLnTx/>
                <a:uFillTx/>
              </a:rPr>
              <a:t>TỒN</a:t>
            </a:r>
            <a:r>
              <a:rPr kumimoji="0" lang="en-US" sz="2400" b="1" i="0" u="none" strike="noStrike" kern="0" cap="none" spc="0" normalizeH="0" noProof="1">
                <a:ln>
                  <a:noFill/>
                </a:ln>
                <a:solidFill>
                  <a:prstClr val="black"/>
                </a:solidFill>
                <a:effectLst/>
                <a:uLnTx/>
                <a:uFillTx/>
              </a:rPr>
              <a:t> TẠI</a:t>
            </a:r>
            <a:endParaRPr kumimoji="0" lang="en-US" sz="2400" b="1" i="0" u="none" strike="noStrike" kern="0" cap="none" spc="0" normalizeH="0" baseline="0" noProof="1">
              <a:ln>
                <a:noFill/>
              </a:ln>
              <a:solidFill>
                <a:prstClr val="black"/>
              </a:solidFill>
              <a:effectLst/>
              <a:uLnTx/>
              <a:uFillTx/>
            </a:endParaRPr>
          </a:p>
        </p:txBody>
      </p:sp>
      <p:pic>
        <p:nvPicPr>
          <p:cNvPr id="36" name="Graphic 28" descr="Bar graph with downward trend with solid fill">
            <a:extLst>
              <a:ext uri="{FF2B5EF4-FFF2-40B4-BE49-F238E27FC236}">
                <a16:creationId xmlns:a16="http://schemas.microsoft.com/office/drawing/2014/main" id="{4647BFC3-01DF-A343-BC02-B5CA8D5D93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6878" y="3640680"/>
            <a:ext cx="355401" cy="355401"/>
          </a:xfrm>
          <a:prstGeom prst="rect">
            <a:avLst/>
          </a:prstGeom>
        </p:spPr>
      </p:pic>
      <p:pic>
        <p:nvPicPr>
          <p:cNvPr id="45" name="Graphic 31" descr="Customer review with solid fill">
            <a:extLst>
              <a:ext uri="{FF2B5EF4-FFF2-40B4-BE49-F238E27FC236}">
                <a16:creationId xmlns:a16="http://schemas.microsoft.com/office/drawing/2014/main" id="{20A0CACB-40BE-9746-9440-59388635B1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36357" y="3644693"/>
            <a:ext cx="355401" cy="355401"/>
          </a:xfrm>
          <a:prstGeom prst="rect">
            <a:avLst/>
          </a:prstGeom>
        </p:spPr>
      </p:pic>
      <p:pic>
        <p:nvPicPr>
          <p:cNvPr id="46" name="Graphic 27" descr="Bar graph with downward trend with solid fill">
            <a:extLst>
              <a:ext uri="{FF2B5EF4-FFF2-40B4-BE49-F238E27FC236}">
                <a16:creationId xmlns:a16="http://schemas.microsoft.com/office/drawing/2014/main" id="{7BB14A64-1A17-F541-B8E7-7735C4E864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70809" y="3640680"/>
            <a:ext cx="355401" cy="355401"/>
          </a:xfrm>
          <a:prstGeom prst="rect">
            <a:avLst/>
          </a:prstGeom>
        </p:spPr>
      </p:pic>
      <p:pic>
        <p:nvPicPr>
          <p:cNvPr id="47" name="Graphic 29" descr="Board Of Directors with solid fill">
            <a:extLst>
              <a:ext uri="{FF2B5EF4-FFF2-40B4-BE49-F238E27FC236}">
                <a16:creationId xmlns:a16="http://schemas.microsoft.com/office/drawing/2014/main" id="{9F98C787-2AA8-6E40-96BD-418F354275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74664" y="3022882"/>
            <a:ext cx="355401" cy="355401"/>
          </a:xfrm>
          <a:prstGeom prst="rect">
            <a:avLst/>
          </a:prstGeom>
        </p:spPr>
      </p:pic>
      <p:pic>
        <p:nvPicPr>
          <p:cNvPr id="48" name="Graphic 30" descr="Briefcase with solid fill">
            <a:extLst>
              <a:ext uri="{FF2B5EF4-FFF2-40B4-BE49-F238E27FC236}">
                <a16:creationId xmlns:a16="http://schemas.microsoft.com/office/drawing/2014/main" id="{4FB276D2-FC21-034F-A8CB-92E8F177F45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57306" y="3022882"/>
            <a:ext cx="355401" cy="355401"/>
          </a:xfrm>
          <a:prstGeom prst="rect">
            <a:avLst/>
          </a:prstGeom>
        </p:spPr>
      </p:pic>
      <p:pic>
        <p:nvPicPr>
          <p:cNvPr id="49" name="Graphic 34" descr="Target Audience with solid fill">
            <a:extLst>
              <a:ext uri="{FF2B5EF4-FFF2-40B4-BE49-F238E27FC236}">
                <a16:creationId xmlns:a16="http://schemas.microsoft.com/office/drawing/2014/main" id="{D6C18ADC-C2AB-AA42-AAC0-40C8574325F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95620" y="3022882"/>
            <a:ext cx="355401" cy="355401"/>
          </a:xfrm>
          <a:prstGeom prst="rect">
            <a:avLst/>
          </a:prstGeom>
        </p:spPr>
      </p:pic>
      <p:sp>
        <p:nvSpPr>
          <p:cNvPr id="50" name="TextBox 11">
            <a:extLst>
              <a:ext uri="{FF2B5EF4-FFF2-40B4-BE49-F238E27FC236}">
                <a16:creationId xmlns:a16="http://schemas.microsoft.com/office/drawing/2014/main" id="{FAA15C49-8F65-3541-847A-180211756A9F}"/>
              </a:ext>
            </a:extLst>
          </p:cNvPr>
          <p:cNvSpPr txBox="1"/>
          <p:nvPr/>
        </p:nvSpPr>
        <p:spPr>
          <a:xfrm>
            <a:off x="3091758" y="3998975"/>
            <a:ext cx="1758201" cy="116955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r>
              <a:rPr lang="vi-VN" sz="1400" noProof="1">
                <a:solidFill>
                  <a:schemeClr val="tx1">
                    <a:lumMod val="75000"/>
                    <a:lumOff val="25000"/>
                  </a:schemeClr>
                </a:solidFill>
                <a:latin typeface="Cambria" panose="02040503050406030204" pitchFamily="18" charset="0"/>
                <a:ea typeface="Cambria" panose="02040503050406030204" pitchFamily="18" charset="0"/>
              </a:rPr>
              <a:t>Chưa có công cụ tìm kiếm tự động các gói thầu </a:t>
            </a:r>
          </a:p>
          <a:p>
            <a:pPr lvl="0" algn="just"/>
            <a:r>
              <a:rPr lang="vi-VN" sz="1400" kern="0" noProof="1">
                <a:solidFill>
                  <a:srgbClr val="FF0000"/>
                </a:solidFill>
              </a:rPr>
              <a:t>► </a:t>
            </a:r>
            <a:r>
              <a:rPr lang="vi-VN" sz="1400" b="1" noProof="1">
                <a:solidFill>
                  <a:srgbClr val="FF0000"/>
                </a:solidFill>
                <a:latin typeface="Cambria" panose="02040503050406030204" pitchFamily="18" charset="0"/>
                <a:ea typeface="Cambria" panose="02040503050406030204" pitchFamily="18" charset="0"/>
              </a:rPr>
              <a:t>Số lượng gói thầu tham gia thấp</a:t>
            </a:r>
            <a:endParaRPr kumimoji="0" lang="en-US" sz="1400" b="1" i="0" u="none" strike="noStrike" kern="1200" cap="none" spc="0" normalizeH="0" baseline="0" noProof="1">
              <a:ln>
                <a:noFill/>
              </a:ln>
              <a:solidFill>
                <a:srgbClr val="FF0000"/>
              </a:solidFill>
              <a:effectLst/>
              <a:uLnTx/>
              <a:uFillTx/>
              <a:latin typeface="Cambria" panose="02040503050406030204" pitchFamily="18" charset="0"/>
              <a:ea typeface="Cambria" panose="02040503050406030204" pitchFamily="18" charset="0"/>
            </a:endParaRPr>
          </a:p>
        </p:txBody>
      </p:sp>
      <p:sp>
        <p:nvSpPr>
          <p:cNvPr id="51" name="TextBox 11">
            <a:extLst>
              <a:ext uri="{FF2B5EF4-FFF2-40B4-BE49-F238E27FC236}">
                <a16:creationId xmlns:a16="http://schemas.microsoft.com/office/drawing/2014/main" id="{FAA15C49-8F65-3541-847A-180211756A9F}"/>
              </a:ext>
            </a:extLst>
          </p:cNvPr>
          <p:cNvSpPr txBox="1"/>
          <p:nvPr/>
        </p:nvSpPr>
        <p:spPr>
          <a:xfrm>
            <a:off x="5697419" y="3966175"/>
            <a:ext cx="1832342" cy="1384995"/>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r>
              <a:rPr lang="vi-VN" sz="1400" noProof="1">
                <a:solidFill>
                  <a:schemeClr val="tx1">
                    <a:lumMod val="75000"/>
                    <a:lumOff val="25000"/>
                  </a:schemeClr>
                </a:solidFill>
                <a:latin typeface="Cambria" panose="02040503050406030204" pitchFamily="18" charset="0"/>
                <a:ea typeface="Cambria" panose="02040503050406030204" pitchFamily="18" charset="0"/>
              </a:rPr>
              <a:t>Các gói thầu hiện tại tham gia đang là gói thầu hàng hóa</a:t>
            </a:r>
            <a:r>
              <a:rPr lang="en-US" sz="1400" noProof="1">
                <a:solidFill>
                  <a:schemeClr val="tx1">
                    <a:lumMod val="75000"/>
                    <a:lumOff val="25000"/>
                  </a:schemeClr>
                </a:solidFill>
                <a:latin typeface="Cambria" panose="02040503050406030204" pitchFamily="18" charset="0"/>
                <a:ea typeface="Cambria" panose="02040503050406030204" pitchFamily="18" charset="0"/>
              </a:rPr>
              <a:t>, giá trị thấp, tính cạnh tranh cao, chưa tận dụng được thế mạnh của VCC</a:t>
            </a:r>
            <a:endParaRPr lang="vi-VN" sz="1400" noProof="1">
              <a:solidFill>
                <a:schemeClr val="tx1">
                  <a:lumMod val="75000"/>
                  <a:lumOff val="25000"/>
                </a:schemeClr>
              </a:solidFill>
              <a:latin typeface="Cambria" panose="02040503050406030204" pitchFamily="18" charset="0"/>
              <a:ea typeface="Cambria" panose="02040503050406030204" pitchFamily="18" charset="0"/>
            </a:endParaRPr>
          </a:p>
        </p:txBody>
      </p:sp>
      <p:sp>
        <p:nvSpPr>
          <p:cNvPr id="52" name="TextBox 11">
            <a:extLst>
              <a:ext uri="{FF2B5EF4-FFF2-40B4-BE49-F238E27FC236}">
                <a16:creationId xmlns:a16="http://schemas.microsoft.com/office/drawing/2014/main" id="{FAA15C49-8F65-3541-847A-180211756A9F}"/>
              </a:ext>
            </a:extLst>
          </p:cNvPr>
          <p:cNvSpPr txBox="1"/>
          <p:nvPr/>
        </p:nvSpPr>
        <p:spPr>
          <a:xfrm>
            <a:off x="8989557" y="3780637"/>
            <a:ext cx="1886852" cy="116955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a:buFont typeface="Wingdings" panose="05000000000000000000" pitchFamily="2" charset="2"/>
              <a:buChar char="Ø"/>
            </a:pPr>
            <a:r>
              <a:rPr lang="en-US" sz="1400" noProof="1">
                <a:solidFill>
                  <a:schemeClr val="tx1">
                    <a:lumMod val="75000"/>
                    <a:lumOff val="25000"/>
                  </a:schemeClr>
                </a:solidFill>
                <a:latin typeface="Cambria" panose="02040503050406030204" pitchFamily="18" charset="0"/>
                <a:ea typeface="Cambria" panose="02040503050406030204" pitchFamily="18" charset="0"/>
              </a:rPr>
              <a:t>Chưa biết cách triển khai các gói thầu cần liên danh và các gói cần xây dựng hồ sơ mời thầu</a:t>
            </a:r>
          </a:p>
        </p:txBody>
      </p:sp>
      <p:sp>
        <p:nvSpPr>
          <p:cNvPr id="53" name="TextBox 11">
            <a:extLst>
              <a:ext uri="{FF2B5EF4-FFF2-40B4-BE49-F238E27FC236}">
                <a16:creationId xmlns:a16="http://schemas.microsoft.com/office/drawing/2014/main" id="{FAA15C49-8F65-3541-847A-180211756A9F}"/>
              </a:ext>
            </a:extLst>
          </p:cNvPr>
          <p:cNvSpPr txBox="1"/>
          <p:nvPr/>
        </p:nvSpPr>
        <p:spPr>
          <a:xfrm>
            <a:off x="8348509" y="4802250"/>
            <a:ext cx="2307129" cy="523220"/>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a:buFont typeface="Wingdings" panose="05000000000000000000" pitchFamily="2" charset="2"/>
              <a:buChar char="Ø"/>
            </a:pPr>
            <a:r>
              <a:rPr kumimoji="0" lang="en-US" sz="1400" i="0" u="none" strike="noStrike" kern="1200" cap="none" spc="0" normalizeH="0" baseline="0" noProof="1">
                <a:ln>
                  <a:noFill/>
                </a:ln>
                <a:solidFill>
                  <a:schemeClr val="tx1">
                    <a:lumMod val="75000"/>
                    <a:lumOff val="25000"/>
                  </a:schemeClr>
                </a:solidFill>
                <a:effectLst/>
                <a:uLnTx/>
                <a:uFillTx/>
                <a:latin typeface="Cambria" panose="02040503050406030204" pitchFamily="18" charset="0"/>
                <a:ea typeface="Cambria" panose="02040503050406030204" pitchFamily="18" charset="0"/>
              </a:rPr>
              <a:t>Chưa</a:t>
            </a:r>
            <a:r>
              <a:rPr kumimoji="0" lang="en-US" sz="1400" i="0" u="none" strike="noStrike" kern="1200" cap="none" spc="0" normalizeH="0" noProof="1">
                <a:ln>
                  <a:noFill/>
                </a:ln>
                <a:solidFill>
                  <a:schemeClr val="tx1">
                    <a:lumMod val="75000"/>
                    <a:lumOff val="25000"/>
                  </a:schemeClr>
                </a:solidFill>
                <a:effectLst/>
                <a:uLnTx/>
                <a:uFillTx/>
                <a:latin typeface="Cambria" panose="02040503050406030204" pitchFamily="18" charset="0"/>
                <a:ea typeface="Cambria" panose="02040503050406030204" pitchFamily="18" charset="0"/>
              </a:rPr>
              <a:t> quy hoạch đủ nhà CC dẫn đến giá vốn cao</a:t>
            </a:r>
            <a:endParaRPr kumimoji="0" lang="en-US" sz="1400" i="0" u="none" strike="noStrike" kern="1200" cap="none" spc="0" normalizeH="0" baseline="0" noProof="1">
              <a:ln>
                <a:noFill/>
              </a:ln>
              <a:solidFill>
                <a:srgbClr val="FF0000"/>
              </a:solidFill>
              <a:effectLst/>
              <a:uLnTx/>
              <a:uFillTx/>
              <a:latin typeface="Cambria" panose="02040503050406030204" pitchFamily="18" charset="0"/>
              <a:ea typeface="Cambria" panose="02040503050406030204" pitchFamily="18" charset="0"/>
            </a:endParaRPr>
          </a:p>
        </p:txBody>
      </p:sp>
      <p:sp>
        <p:nvSpPr>
          <p:cNvPr id="54" name="TextBox 22">
            <a:extLst>
              <a:ext uri="{FF2B5EF4-FFF2-40B4-BE49-F238E27FC236}">
                <a16:creationId xmlns:a16="http://schemas.microsoft.com/office/drawing/2014/main" id="{959561F8-C0CD-DA4F-B01E-A82DDFAD76E8}"/>
              </a:ext>
            </a:extLst>
          </p:cNvPr>
          <p:cNvSpPr txBox="1"/>
          <p:nvPr/>
        </p:nvSpPr>
        <p:spPr>
          <a:xfrm>
            <a:off x="3091758" y="5534735"/>
            <a:ext cx="1516545" cy="369332"/>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b="1" noProof="1">
                <a:solidFill>
                  <a:prstClr val="black"/>
                </a:solidFill>
                <a:latin typeface="Calibri" panose="020F0502020204030204"/>
              </a:rPr>
              <a:t>Tìm kiếm thầu</a:t>
            </a:r>
            <a:endParaRPr kumimoji="0" lang="en-US" sz="1800" b="1" i="0" u="none" strike="noStrike" kern="1200" cap="none" spc="0" normalizeH="0" baseline="0" noProof="1">
              <a:ln>
                <a:noFill/>
              </a:ln>
              <a:solidFill>
                <a:prstClr val="black"/>
              </a:solidFill>
              <a:effectLst/>
              <a:uLnTx/>
              <a:uFillTx/>
              <a:latin typeface="Calibri" panose="020F0502020204030204"/>
              <a:ea typeface="+mn-ea"/>
              <a:cs typeface="+mn-cs"/>
            </a:endParaRPr>
          </a:p>
        </p:txBody>
      </p:sp>
      <p:sp>
        <p:nvSpPr>
          <p:cNvPr id="55" name="TextBox 22">
            <a:extLst>
              <a:ext uri="{FF2B5EF4-FFF2-40B4-BE49-F238E27FC236}">
                <a16:creationId xmlns:a16="http://schemas.microsoft.com/office/drawing/2014/main" id="{959561F8-C0CD-DA4F-B01E-A82DDFAD76E8}"/>
              </a:ext>
            </a:extLst>
          </p:cNvPr>
          <p:cNvSpPr txBox="1"/>
          <p:nvPr/>
        </p:nvSpPr>
        <p:spPr>
          <a:xfrm>
            <a:off x="5664166" y="5534735"/>
            <a:ext cx="1516545" cy="369332"/>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b="1" noProof="1">
                <a:solidFill>
                  <a:prstClr val="black"/>
                </a:solidFill>
                <a:latin typeface="Calibri" panose="020F0502020204030204"/>
              </a:rPr>
              <a:t>Tham gia thầu</a:t>
            </a:r>
            <a:endParaRPr kumimoji="0" lang="en-US" sz="1800" b="1" i="0" u="none" strike="noStrike" kern="1200" cap="none" spc="0" normalizeH="0" baseline="0" noProof="1">
              <a:ln>
                <a:noFill/>
              </a:ln>
              <a:solidFill>
                <a:prstClr val="black"/>
              </a:solidFill>
              <a:effectLst/>
              <a:uLnTx/>
              <a:uFillTx/>
              <a:latin typeface="Calibri" panose="020F0502020204030204"/>
              <a:ea typeface="+mn-ea"/>
              <a:cs typeface="+mn-cs"/>
            </a:endParaRPr>
          </a:p>
        </p:txBody>
      </p:sp>
      <p:sp>
        <p:nvSpPr>
          <p:cNvPr id="64" name="TextBox 22">
            <a:extLst>
              <a:ext uri="{FF2B5EF4-FFF2-40B4-BE49-F238E27FC236}">
                <a16:creationId xmlns:a16="http://schemas.microsoft.com/office/drawing/2014/main" id="{959561F8-C0CD-DA4F-B01E-A82DDFAD76E8}"/>
              </a:ext>
            </a:extLst>
          </p:cNvPr>
          <p:cNvSpPr txBox="1"/>
          <p:nvPr/>
        </p:nvSpPr>
        <p:spPr>
          <a:xfrm>
            <a:off x="8363500" y="5534736"/>
            <a:ext cx="1516545" cy="369332"/>
          </a:xfrm>
          <a:prstGeom prst="rect">
            <a:avLst/>
          </a:prstGeom>
          <a:noFill/>
        </p:spPr>
        <p:txBody>
          <a:bodyPr wrap="square" lIns="0" rIns="0"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b="1" noProof="1">
                <a:solidFill>
                  <a:prstClr val="black"/>
                </a:solidFill>
                <a:latin typeface="Calibri" panose="020F0502020204030204"/>
              </a:rPr>
              <a:t>Tỷ lệ trúng thầu</a:t>
            </a:r>
            <a:endParaRPr kumimoji="0" lang="en-US" sz="1800" b="1" i="0" u="none" strike="noStrike" kern="1200" cap="none" spc="0" normalizeH="0" baseline="0" noProof="1">
              <a:ln>
                <a:noFill/>
              </a:ln>
              <a:solidFill>
                <a:prstClr val="black"/>
              </a:solidFill>
              <a:effectLst/>
              <a:uLnTx/>
              <a:uFillTx/>
              <a:latin typeface="Calibri" panose="020F0502020204030204"/>
              <a:ea typeface="+mn-ea"/>
              <a:cs typeface="+mn-cs"/>
            </a:endParaRPr>
          </a:p>
        </p:txBody>
      </p:sp>
      <p:sp>
        <p:nvSpPr>
          <p:cNvPr id="65" name="TextBox 11">
            <a:extLst>
              <a:ext uri="{FF2B5EF4-FFF2-40B4-BE49-F238E27FC236}">
                <a16:creationId xmlns:a16="http://schemas.microsoft.com/office/drawing/2014/main" id="{FAA15C49-8F65-3541-847A-180211756A9F}"/>
              </a:ext>
            </a:extLst>
          </p:cNvPr>
          <p:cNvSpPr txBox="1"/>
          <p:nvPr/>
        </p:nvSpPr>
        <p:spPr>
          <a:xfrm>
            <a:off x="2779581" y="2068775"/>
            <a:ext cx="1777725" cy="954107"/>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r>
              <a:rPr lang="vi-VN" sz="1400" noProof="1">
                <a:solidFill>
                  <a:schemeClr val="tx1">
                    <a:lumMod val="75000"/>
                    <a:lumOff val="25000"/>
                  </a:schemeClr>
                </a:solidFill>
                <a:latin typeface="Cambria" panose="02040503050406030204" pitchFamily="18" charset="0"/>
                <a:ea typeface="Cambria" panose="02040503050406030204" pitchFamily="18" charset="0"/>
              </a:rPr>
              <a:t>Hoàn thiện </a:t>
            </a:r>
            <a:r>
              <a:rPr lang="vi-VN" sz="1400" b="1" noProof="1">
                <a:solidFill>
                  <a:schemeClr val="tx2"/>
                </a:solidFill>
                <a:latin typeface="Cambria" panose="02040503050406030204" pitchFamily="18" charset="0"/>
                <a:ea typeface="Cambria" panose="02040503050406030204" pitchFamily="18" charset="0"/>
              </a:rPr>
              <a:t>công cụ RPA</a:t>
            </a:r>
            <a:r>
              <a:rPr lang="vi-VN" sz="1400" noProof="1">
                <a:solidFill>
                  <a:schemeClr val="tx1">
                    <a:lumMod val="75000"/>
                    <a:lumOff val="25000"/>
                  </a:schemeClr>
                </a:solidFill>
                <a:latin typeface="Cambria" panose="02040503050406030204" pitchFamily="18" charset="0"/>
                <a:ea typeface="Cambria" panose="02040503050406030204" pitchFamily="18" charset="0"/>
              </a:rPr>
              <a:t> tìm kiếm gói thầu và giao việc tham gia gói thầu tự động</a:t>
            </a:r>
            <a:endParaRPr kumimoji="0" lang="en-US" sz="1400" b="1" i="0" u="none" strike="noStrike" kern="1200" cap="none" spc="0" normalizeH="0" baseline="0" noProof="1">
              <a:ln>
                <a:noFill/>
              </a:ln>
              <a:solidFill>
                <a:srgbClr val="FF0000"/>
              </a:solidFill>
              <a:effectLst/>
              <a:uLnTx/>
              <a:uFillTx/>
              <a:latin typeface="Cambria" panose="02040503050406030204" pitchFamily="18" charset="0"/>
              <a:ea typeface="Cambria" panose="02040503050406030204" pitchFamily="18" charset="0"/>
            </a:endParaRPr>
          </a:p>
        </p:txBody>
      </p:sp>
      <p:sp>
        <p:nvSpPr>
          <p:cNvPr id="69" name="TextBox 11">
            <a:extLst>
              <a:ext uri="{FF2B5EF4-FFF2-40B4-BE49-F238E27FC236}">
                <a16:creationId xmlns:a16="http://schemas.microsoft.com/office/drawing/2014/main" id="{FAA15C49-8F65-3541-847A-180211756A9F}"/>
              </a:ext>
            </a:extLst>
          </p:cNvPr>
          <p:cNvSpPr txBox="1"/>
          <p:nvPr/>
        </p:nvSpPr>
        <p:spPr>
          <a:xfrm>
            <a:off x="5392602" y="2271591"/>
            <a:ext cx="1970884" cy="738664"/>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r>
              <a:rPr lang="vi-VN" sz="1400" noProof="1">
                <a:solidFill>
                  <a:schemeClr val="tx1">
                    <a:lumMod val="75000"/>
                    <a:lumOff val="25000"/>
                  </a:schemeClr>
                </a:solidFill>
                <a:latin typeface="Cambria" panose="02040503050406030204" pitchFamily="18" charset="0"/>
                <a:ea typeface="Cambria" panose="02040503050406030204" pitchFamily="18" charset="0"/>
              </a:rPr>
              <a:t>Mở rộng tìm kiếm thêm các </a:t>
            </a:r>
            <a:r>
              <a:rPr lang="vi-VN" sz="1400" b="1" noProof="1">
                <a:solidFill>
                  <a:schemeClr val="tx2"/>
                </a:solidFill>
                <a:latin typeface="Cambria" panose="02040503050406030204" pitchFamily="18" charset="0"/>
                <a:ea typeface="Cambria" panose="02040503050406030204" pitchFamily="18" charset="0"/>
              </a:rPr>
              <a:t>gói thầu xây lắp</a:t>
            </a:r>
            <a:r>
              <a:rPr lang="en-US" sz="1400" b="1" noProof="1">
                <a:solidFill>
                  <a:schemeClr val="tx2"/>
                </a:solidFill>
                <a:latin typeface="Cambria" panose="02040503050406030204" pitchFamily="18" charset="0"/>
                <a:ea typeface="Cambria" panose="02040503050406030204" pitchFamily="18" charset="0"/>
              </a:rPr>
              <a:t> mảng cơ điện</a:t>
            </a:r>
            <a:r>
              <a:rPr lang="vi-VN" sz="1400" noProof="1">
                <a:solidFill>
                  <a:schemeClr val="tx1">
                    <a:lumMod val="75000"/>
                    <a:lumOff val="25000"/>
                  </a:schemeClr>
                </a:solidFill>
                <a:latin typeface="Cambria" panose="02040503050406030204" pitchFamily="18" charset="0"/>
                <a:ea typeface="Cambria" panose="02040503050406030204" pitchFamily="18" charset="0"/>
              </a:rPr>
              <a:t>.</a:t>
            </a:r>
            <a:endParaRPr kumimoji="0" lang="en-US" sz="1400" b="1" i="0" u="none" strike="noStrike" kern="1200" cap="none" spc="0" normalizeH="0" baseline="0" noProof="1">
              <a:ln>
                <a:noFill/>
              </a:ln>
              <a:solidFill>
                <a:srgbClr val="FF0000"/>
              </a:solidFill>
              <a:effectLst/>
              <a:uLnTx/>
              <a:uFillTx/>
              <a:latin typeface="Cambria" panose="02040503050406030204" pitchFamily="18" charset="0"/>
              <a:ea typeface="Cambria" panose="02040503050406030204" pitchFamily="18" charset="0"/>
            </a:endParaRPr>
          </a:p>
        </p:txBody>
      </p:sp>
      <p:sp>
        <p:nvSpPr>
          <p:cNvPr id="70" name="TextBox 11">
            <a:extLst>
              <a:ext uri="{FF2B5EF4-FFF2-40B4-BE49-F238E27FC236}">
                <a16:creationId xmlns:a16="http://schemas.microsoft.com/office/drawing/2014/main" id="{FAA15C49-8F65-3541-847A-180211756A9F}"/>
              </a:ext>
            </a:extLst>
          </p:cNvPr>
          <p:cNvSpPr txBox="1"/>
          <p:nvPr/>
        </p:nvSpPr>
        <p:spPr>
          <a:xfrm>
            <a:off x="8100694" y="1927300"/>
            <a:ext cx="2650327" cy="1384995"/>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r>
              <a:rPr lang="vi-VN" sz="1400" b="1" noProof="1">
                <a:solidFill>
                  <a:schemeClr val="tx2"/>
                </a:solidFill>
                <a:latin typeface="Cambria" panose="02040503050406030204" pitchFamily="18" charset="0"/>
                <a:ea typeface="Cambria" panose="02040503050406030204" pitchFamily="18" charset="0"/>
              </a:rPr>
              <a:t>Quy hoạch các đối tác</a:t>
            </a:r>
            <a:r>
              <a:rPr lang="en-US" sz="1400" b="1" noProof="1">
                <a:solidFill>
                  <a:schemeClr val="tx2"/>
                </a:solidFill>
                <a:latin typeface="Cambria" panose="02040503050406030204" pitchFamily="18" charset="0"/>
                <a:ea typeface="Cambria" panose="02040503050406030204" pitchFamily="18" charset="0"/>
              </a:rPr>
              <a:t>: </a:t>
            </a:r>
            <a:r>
              <a:rPr lang="vi-VN" sz="1400" noProof="1">
                <a:solidFill>
                  <a:schemeClr val="tx1">
                    <a:lumMod val="75000"/>
                    <a:lumOff val="25000"/>
                  </a:schemeClr>
                </a:solidFill>
                <a:latin typeface="Cambria" panose="02040503050406030204" pitchFamily="18" charset="0"/>
                <a:ea typeface="Cambria" panose="02040503050406030204" pitchFamily="18" charset="0"/>
              </a:rPr>
              <a:t>Tư vấn thầu</a:t>
            </a:r>
            <a:r>
              <a:rPr lang="en-US" sz="1400" noProof="1">
                <a:solidFill>
                  <a:schemeClr val="tx1">
                    <a:lumMod val="75000"/>
                    <a:lumOff val="25000"/>
                  </a:schemeClr>
                </a:solidFill>
                <a:latin typeface="Cambria" panose="02040503050406030204" pitchFamily="18" charset="0"/>
                <a:ea typeface="Cambria" panose="02040503050406030204" pitchFamily="18" charset="0"/>
              </a:rPr>
              <a:t>, </a:t>
            </a:r>
            <a:r>
              <a:rPr lang="vi-VN" sz="1400" noProof="1">
                <a:solidFill>
                  <a:schemeClr val="tx1">
                    <a:lumMod val="75000"/>
                    <a:lumOff val="25000"/>
                  </a:schemeClr>
                </a:solidFill>
                <a:latin typeface="Cambria" panose="02040503050406030204" pitchFamily="18" charset="0"/>
                <a:ea typeface="Cambria" panose="02040503050406030204" pitchFamily="18" charset="0"/>
              </a:rPr>
              <a:t>Thẩm định giá</a:t>
            </a:r>
            <a:r>
              <a:rPr lang="en-US" sz="1400" noProof="1">
                <a:solidFill>
                  <a:schemeClr val="tx1">
                    <a:lumMod val="75000"/>
                    <a:lumOff val="25000"/>
                  </a:schemeClr>
                </a:solidFill>
                <a:latin typeface="Cambria" panose="02040503050406030204" pitchFamily="18" charset="0"/>
                <a:ea typeface="Cambria" panose="02040503050406030204" pitchFamily="18" charset="0"/>
              </a:rPr>
              <a:t>, </a:t>
            </a:r>
            <a:r>
              <a:rPr lang="vi-VN" sz="1400" noProof="1">
                <a:solidFill>
                  <a:schemeClr val="tx1">
                    <a:lumMod val="75000"/>
                    <a:lumOff val="25000"/>
                  </a:schemeClr>
                </a:solidFill>
                <a:latin typeface="Cambria" panose="02040503050406030204" pitchFamily="18" charset="0"/>
                <a:ea typeface="Cambria" panose="02040503050406030204" pitchFamily="18" charset="0"/>
              </a:rPr>
              <a:t>Nhà cung cấp</a:t>
            </a:r>
            <a:r>
              <a:rPr lang="en-US" sz="1400" noProof="1">
                <a:solidFill>
                  <a:schemeClr val="tx1">
                    <a:lumMod val="75000"/>
                    <a:lumOff val="25000"/>
                  </a:schemeClr>
                </a:solidFill>
                <a:latin typeface="Cambria" panose="02040503050406030204" pitchFamily="18" charset="0"/>
                <a:ea typeface="Cambria" panose="02040503050406030204" pitchFamily="18" charset="0"/>
              </a:rPr>
              <a:t>, </a:t>
            </a:r>
            <a:r>
              <a:rPr lang="vi-VN" sz="1400" noProof="1">
                <a:solidFill>
                  <a:schemeClr val="tx1">
                    <a:lumMod val="75000"/>
                    <a:lumOff val="25000"/>
                  </a:schemeClr>
                </a:solidFill>
                <a:latin typeface="Cambria" panose="02040503050406030204" pitchFamily="18" charset="0"/>
                <a:ea typeface="Cambria" panose="02040503050406030204" pitchFamily="18" charset="0"/>
              </a:rPr>
              <a:t>Đơn vị liên doanh</a:t>
            </a:r>
          </a:p>
          <a:p>
            <a:pPr lvl="0" algn="just"/>
            <a:r>
              <a:rPr lang="vi-VN" sz="1400" noProof="1">
                <a:solidFill>
                  <a:schemeClr val="tx1">
                    <a:lumMod val="75000"/>
                    <a:lumOff val="25000"/>
                  </a:schemeClr>
                </a:solidFill>
                <a:latin typeface="Cambria" panose="02040503050406030204" pitchFamily="18" charset="0"/>
                <a:ea typeface="Cambria" panose="02040503050406030204" pitchFamily="18" charset="0"/>
              </a:rPr>
              <a:t>Và thực hiện </a:t>
            </a:r>
            <a:r>
              <a:rPr lang="vi-VN" sz="1400" b="1" noProof="1">
                <a:solidFill>
                  <a:schemeClr val="tx2"/>
                </a:solidFill>
                <a:latin typeface="Cambria" panose="02040503050406030204" pitchFamily="18" charset="0"/>
                <a:ea typeface="Cambria" panose="02040503050406030204" pitchFamily="18" charset="0"/>
              </a:rPr>
              <a:t>thẩm định thay thế theo quý</a:t>
            </a:r>
            <a:r>
              <a:rPr lang="vi-VN" sz="1400" noProof="1">
                <a:solidFill>
                  <a:schemeClr val="tx1">
                    <a:lumMod val="75000"/>
                    <a:lumOff val="25000"/>
                  </a:schemeClr>
                </a:solidFill>
                <a:latin typeface="Cambria" panose="02040503050406030204" pitchFamily="18" charset="0"/>
                <a:ea typeface="Cambria" panose="02040503050406030204" pitchFamily="18" charset="0"/>
              </a:rPr>
              <a:t>, dựa trên kết quả hỗ trợ trong công tác tham gia thầu.</a:t>
            </a:r>
            <a:endParaRPr kumimoji="0" lang="en-US" sz="1400" b="1" i="0" u="none" strike="noStrike" kern="1200" cap="none" spc="0" normalizeH="0" baseline="0" noProof="1">
              <a:ln>
                <a:noFill/>
              </a:ln>
              <a:solidFill>
                <a:srgbClr val="FF0000"/>
              </a:solidFill>
              <a:effectLst/>
              <a:uLnTx/>
              <a:uFillTx/>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87328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descr="桌子上放着笔记本电脑&#10;&#10;描述已自动生成"/>
          <p:cNvPicPr>
            <a:picLocks noGrp="1" noChangeAspect="1"/>
          </p:cNvPicPr>
          <p:nvPr>
            <p:ph type="pic" sz="quarter" idx="10"/>
          </p:nvPr>
        </p:nvPicPr>
        <p:blipFill>
          <a:blip r:embed="rId2"/>
          <a:stretch>
            <a:fillRect/>
          </a:stretch>
        </p:blipFill>
        <p:spPr/>
      </p:pic>
      <p:sp>
        <p:nvSpPr>
          <p:cNvPr id="26" name="Rectangle 25"/>
          <p:cNvSpPr/>
          <p:nvPr/>
        </p:nvSpPr>
        <p:spPr>
          <a:xfrm>
            <a:off x="0" y="0"/>
            <a:ext cx="12192000" cy="6858000"/>
          </a:xfrm>
          <a:prstGeom prst="rect">
            <a:avLst/>
          </a:prstGeom>
          <a:gradFill>
            <a:gsLst>
              <a:gs pos="0">
                <a:schemeClr val="bg1">
                  <a:alpha val="88000"/>
                </a:schemeClr>
              </a:gs>
              <a:gs pos="100000">
                <a:schemeClr val="bg1">
                  <a:alpha val="88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grpSp>
        <p:nvGrpSpPr>
          <p:cNvPr id="24" name="Group 23"/>
          <p:cNvGrpSpPr/>
          <p:nvPr/>
        </p:nvGrpSpPr>
        <p:grpSpPr>
          <a:xfrm>
            <a:off x="3371026" y="2613660"/>
            <a:ext cx="5449948" cy="1630680"/>
            <a:chOff x="782404" y="2526632"/>
            <a:chExt cx="3714369" cy="1630680"/>
          </a:xfrm>
        </p:grpSpPr>
        <p:grpSp>
          <p:nvGrpSpPr>
            <p:cNvPr id="20" name="Group 19"/>
            <p:cNvGrpSpPr/>
            <p:nvPr/>
          </p:nvGrpSpPr>
          <p:grpSpPr>
            <a:xfrm>
              <a:off x="782404" y="2526632"/>
              <a:ext cx="3714369" cy="0"/>
              <a:chOff x="782404" y="2374232"/>
              <a:chExt cx="3714369" cy="0"/>
            </a:xfrm>
          </p:grpSpPr>
          <p:cxnSp>
            <p:nvCxnSpPr>
              <p:cNvPr id="18" name="Straight Connector 17"/>
              <p:cNvCxnSpPr/>
              <p:nvPr/>
            </p:nvCxnSpPr>
            <p:spPr>
              <a:xfrm>
                <a:off x="782404" y="2374232"/>
                <a:ext cx="3714369"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82404" y="2374232"/>
                <a:ext cx="104992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782404" y="4157312"/>
              <a:ext cx="3714369" cy="0"/>
              <a:chOff x="782404" y="2374232"/>
              <a:chExt cx="3714369" cy="0"/>
            </a:xfrm>
          </p:grpSpPr>
          <p:cxnSp>
            <p:nvCxnSpPr>
              <p:cNvPr id="22" name="Straight Connector 21"/>
              <p:cNvCxnSpPr/>
              <p:nvPr/>
            </p:nvCxnSpPr>
            <p:spPr>
              <a:xfrm>
                <a:off x="782404" y="2374232"/>
                <a:ext cx="3714369"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82404" y="2374232"/>
                <a:ext cx="104992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grpSp>
      <p:grpSp>
        <p:nvGrpSpPr>
          <p:cNvPr id="32" name="Group 31"/>
          <p:cNvGrpSpPr/>
          <p:nvPr/>
        </p:nvGrpSpPr>
        <p:grpSpPr>
          <a:xfrm>
            <a:off x="1" y="4705350"/>
            <a:ext cx="2152650" cy="2152650"/>
            <a:chOff x="0" y="4114805"/>
            <a:chExt cx="2743195" cy="2743195"/>
          </a:xfrm>
          <a:gradFill>
            <a:gsLst>
              <a:gs pos="0">
                <a:srgbClr val="D9717D"/>
              </a:gs>
              <a:gs pos="100000">
                <a:srgbClr val="E32E37"/>
              </a:gs>
            </a:gsLst>
            <a:lin scaled="1"/>
          </a:gradFill>
        </p:grpSpPr>
        <p:sp>
          <p:nvSpPr>
            <p:cNvPr id="30" name="Graphic 3"/>
            <p:cNvSpPr/>
            <p:nvPr/>
          </p:nvSpPr>
          <p:spPr>
            <a:xfrm flipH="1" flipV="1">
              <a:off x="0" y="4114805"/>
              <a:ext cx="2743195" cy="274319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6350" cap="flat">
              <a:noFill/>
              <a:prstDash val="solid"/>
              <a:miter/>
            </a:ln>
          </p:spPr>
          <p:txBody>
            <a:bodyPr rtlCol="0" anchor="ctr"/>
            <a:lstStyle/>
            <a:p>
              <a:endParaRPr lang="en-US">
                <a:cs typeface="+mn-ea"/>
                <a:sym typeface="+mn-lt"/>
              </a:endParaRPr>
            </a:p>
          </p:txBody>
        </p:sp>
        <p:sp>
          <p:nvSpPr>
            <p:cNvPr id="31" name="Graphic 3"/>
            <p:cNvSpPr/>
            <p:nvPr/>
          </p:nvSpPr>
          <p:spPr>
            <a:xfrm flipH="1" flipV="1">
              <a:off x="0" y="4320545"/>
              <a:ext cx="2537455" cy="253745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19050" cap="flat">
              <a:solidFill>
                <a:schemeClr val="bg1"/>
              </a:solidFill>
              <a:prstDash val="solid"/>
              <a:miter/>
            </a:ln>
          </p:spPr>
          <p:txBody>
            <a:bodyPr rtlCol="0" anchor="ctr"/>
            <a:lstStyle/>
            <a:p>
              <a:endParaRPr lang="en-US">
                <a:cs typeface="+mn-ea"/>
                <a:sym typeface="+mn-lt"/>
              </a:endParaRPr>
            </a:p>
          </p:txBody>
        </p:sp>
      </p:grpSp>
      <p:grpSp>
        <p:nvGrpSpPr>
          <p:cNvPr id="33" name="Group 32"/>
          <p:cNvGrpSpPr/>
          <p:nvPr/>
        </p:nvGrpSpPr>
        <p:grpSpPr>
          <a:xfrm flipH="1" flipV="1">
            <a:off x="10039350" y="0"/>
            <a:ext cx="2152650" cy="2152650"/>
            <a:chOff x="0" y="4114805"/>
            <a:chExt cx="2743195" cy="2743195"/>
          </a:xfrm>
          <a:gradFill>
            <a:gsLst>
              <a:gs pos="0">
                <a:srgbClr val="D9717D"/>
              </a:gs>
              <a:gs pos="100000">
                <a:srgbClr val="E32E37"/>
              </a:gs>
            </a:gsLst>
            <a:lin scaled="1"/>
          </a:gradFill>
        </p:grpSpPr>
        <p:sp>
          <p:nvSpPr>
            <p:cNvPr id="34" name="Graphic 3"/>
            <p:cNvSpPr/>
            <p:nvPr/>
          </p:nvSpPr>
          <p:spPr>
            <a:xfrm flipH="1" flipV="1">
              <a:off x="0" y="4114805"/>
              <a:ext cx="2743195" cy="274319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6350" cap="flat">
              <a:noFill/>
              <a:prstDash val="solid"/>
              <a:miter/>
            </a:ln>
          </p:spPr>
          <p:txBody>
            <a:bodyPr rtlCol="0" anchor="ctr"/>
            <a:lstStyle/>
            <a:p>
              <a:endParaRPr lang="en-US">
                <a:cs typeface="+mn-ea"/>
                <a:sym typeface="+mn-lt"/>
              </a:endParaRPr>
            </a:p>
          </p:txBody>
        </p:sp>
        <p:sp>
          <p:nvSpPr>
            <p:cNvPr id="35" name="Graphic 3"/>
            <p:cNvSpPr/>
            <p:nvPr/>
          </p:nvSpPr>
          <p:spPr>
            <a:xfrm flipH="1" flipV="1">
              <a:off x="0" y="4320545"/>
              <a:ext cx="2537455" cy="2537455"/>
            </a:xfrm>
            <a:custGeom>
              <a:avLst/>
              <a:gdLst>
                <a:gd name="connsiteX0" fmla="*/ 2887409 w 6858000"/>
                <a:gd name="connsiteY0" fmla="*/ 6858000 h 6858000"/>
                <a:gd name="connsiteX1" fmla="*/ 6858000 w 6858000"/>
                <a:gd name="connsiteY1" fmla="*/ 6858000 h 6858000"/>
                <a:gd name="connsiteX2" fmla="*/ 6858000 w 6858000"/>
                <a:gd name="connsiteY2" fmla="*/ 0 h 6858000"/>
                <a:gd name="connsiteX3" fmla="*/ 0 w 6858000"/>
                <a:gd name="connsiteY3" fmla="*/ 0 h 6858000"/>
                <a:gd name="connsiteX4" fmla="*/ 0 w 6858000"/>
                <a:gd name="connsiteY4" fmla="*/ 3970591 h 6858000"/>
                <a:gd name="connsiteX5" fmla="*/ 2887409 w 6858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6858000">
                  <a:moveTo>
                    <a:pt x="2887409" y="6858000"/>
                  </a:moveTo>
                  <a:lnTo>
                    <a:pt x="6858000" y="6858000"/>
                  </a:lnTo>
                  <a:lnTo>
                    <a:pt x="6858000" y="0"/>
                  </a:lnTo>
                  <a:lnTo>
                    <a:pt x="0" y="0"/>
                  </a:lnTo>
                  <a:lnTo>
                    <a:pt x="0" y="3970591"/>
                  </a:lnTo>
                  <a:cubicBezTo>
                    <a:pt x="0" y="5565267"/>
                    <a:pt x="1292733" y="6858000"/>
                    <a:pt x="2887409" y="6858000"/>
                  </a:cubicBezTo>
                  <a:close/>
                </a:path>
              </a:pathLst>
            </a:custGeom>
            <a:grpFill/>
            <a:ln w="19050" cap="flat">
              <a:solidFill>
                <a:schemeClr val="bg1"/>
              </a:solidFill>
              <a:prstDash val="solid"/>
              <a:miter/>
            </a:ln>
          </p:spPr>
          <p:txBody>
            <a:bodyPr rtlCol="0" anchor="ctr"/>
            <a:lstStyle/>
            <a:p>
              <a:endParaRPr lang="en-US">
                <a:cs typeface="+mn-ea"/>
                <a:sym typeface="+mn-lt"/>
              </a:endParaRPr>
            </a:p>
          </p:txBody>
        </p:sp>
      </p:grpSp>
      <p:sp>
        <p:nvSpPr>
          <p:cNvPr id="25" name="TextBox 24"/>
          <p:cNvSpPr txBox="1"/>
          <p:nvPr/>
        </p:nvSpPr>
        <p:spPr>
          <a:xfrm>
            <a:off x="3808002" y="2790543"/>
            <a:ext cx="4575996" cy="1323439"/>
          </a:xfrm>
          <a:prstGeom prst="rect">
            <a:avLst/>
          </a:prstGeom>
          <a:noFill/>
        </p:spPr>
        <p:txBody>
          <a:bodyPr wrap="none" rtlCol="0" anchor="ctr">
            <a:spAutoFit/>
          </a:bodyPr>
          <a:lstStyle>
            <a:defPPr>
              <a:defRPr lang="en-US"/>
            </a:defPPr>
            <a:lvl1pPr algn="ctr">
              <a:defRPr sz="3600" b="1">
                <a:latin typeface="+mj-lt"/>
              </a:defRPr>
            </a:lvl1pPr>
          </a:lstStyle>
          <a:p>
            <a:r>
              <a:rPr lang="en-US" sz="8000">
                <a:latin typeface="+mn-lt"/>
                <a:cs typeface="+mn-ea"/>
                <a:sym typeface="+mn-lt"/>
              </a:rPr>
              <a:t>Thank You</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MzgwYjcyMjA0NmRiMTE3MGYxNTBkZjA1NjY0NmZiYzkifQ=="/>
</p:tagLst>
</file>

<file path=ppt/theme/theme1.xml><?xml version="1.0" encoding="utf-8"?>
<a:theme xmlns:a="http://schemas.openxmlformats.org/drawingml/2006/main" name="www.freeppt7.com">
  <a:themeElements>
    <a:clrScheme name="GENERAL">
      <a:dk1>
        <a:srgbClr val="000000"/>
      </a:dk1>
      <a:lt1>
        <a:srgbClr val="FFFFFF"/>
      </a:lt1>
      <a:dk2>
        <a:srgbClr val="000000"/>
      </a:dk2>
      <a:lt2>
        <a:srgbClr val="FFFFFF"/>
      </a:lt2>
      <a:accent1>
        <a:srgbClr val="F49E14"/>
      </a:accent1>
      <a:accent2>
        <a:srgbClr val="FF7427"/>
      </a:accent2>
      <a:accent3>
        <a:srgbClr val="F15131"/>
      </a:accent3>
      <a:accent4>
        <a:srgbClr val="CB2D0D"/>
      </a:accent4>
      <a:accent5>
        <a:srgbClr val="F42D3A"/>
      </a:accent5>
      <a:accent6>
        <a:srgbClr val="CD0A17"/>
      </a:accent6>
      <a:hlink>
        <a:srgbClr val="5B9BD5"/>
      </a:hlink>
      <a:folHlink>
        <a:srgbClr val="70AD47"/>
      </a:folHlink>
    </a:clrScheme>
    <a:fontScheme name="lxfsokgr">
      <a:majorFont>
        <a:latin typeface="Calibri"/>
        <a:ea typeface="微软雅黑"/>
        <a:cs typeface="Arial"/>
      </a:majorFont>
      <a:minorFont>
        <a:latin typeface="Calibri"/>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ww.jp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1022</TotalTime>
  <Words>4011</Words>
  <Application>Microsoft Office PowerPoint</Application>
  <PresentationFormat>Widescreen</PresentationFormat>
  <Paragraphs>976</Paragraphs>
  <Slides>20</Slides>
  <Notes>17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20</vt:i4>
      </vt:variant>
    </vt:vector>
  </HeadingPairs>
  <TitlesOfParts>
    <vt:vector size="31" baseType="lpstr">
      <vt:lpstr>微软雅黑</vt:lpstr>
      <vt:lpstr>Arial</vt:lpstr>
      <vt:lpstr>Arial Black</vt:lpstr>
      <vt:lpstr>Calibri</vt:lpstr>
      <vt:lpstr>Cambria</vt:lpstr>
      <vt:lpstr>FS Magistral Bold</vt:lpstr>
      <vt:lpstr>Segoe UI Black</vt:lpstr>
      <vt:lpstr>Wingdings</vt:lpstr>
      <vt:lpstr>www.freeppt7.com</vt:lpstr>
      <vt:lpstr>www.jpppt.com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欧美商务</dc:title>
  <dc:creator>第一PPT</dc:creator>
  <cp:keywords>www.1ppt.com</cp:keywords>
  <dc:description>www.1ppt.com</dc:description>
  <cp:lastModifiedBy>Nhungnt27</cp:lastModifiedBy>
  <cp:revision>124</cp:revision>
  <dcterms:created xsi:type="dcterms:W3CDTF">2024-04-15T01:13:19Z</dcterms:created>
  <dcterms:modified xsi:type="dcterms:W3CDTF">2025-08-19T03:04:05Z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836984ABBC134B7EA386A9990CC8B63E</vt:lpwstr>
  </property>
  <property fmtid="{D5CDD505-2E9C-101B-9397-08002B2CF9AE}" pid="3" name="KSOProductBuildVer">
    <vt:lpwstr>2052-12.1.0.16729</vt:lpwstr>
  </property>
</Properties>
</file>